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readout. Protocol opened 22 Jul 2015; approved results completed 23 Jan 2017. LIMS accession WST-15-004255. The qualified method detected a packaging-dependent impurity trend. Wexanthel adopted the higher-barrier blister.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E-004 / WX4_PULLS_AND_SUITABILITY_RESULTS_Rev03.xlsx, approved 23 Jan 2017. Assay is percent label claim; total impurities are area percent. Condition and pull interval remain part of each result identity. Individual impurities and water results are retained in the full sequence sheets.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accession links receipt, batch card, preparation and analytical sequence. This readout does not introduce new lot codes or replace approved sequence sheets.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Saira Mahmood, QC Method Validation Lead: qualification review. Read each result against its stated acceptance criterion. Assay and related-substances validation supports the reported sample preparation and separation; extensions require a separately agreed 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qualified method detected a packaging-dependent impurity trend. The plot is a view of the approved stability table; the table supplies condition, interval and compliance status. Do not extrapolate beyond 18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Readout source: WX4_PULLS_AND_SUITABILITY_RESULTS_Rev03.xlsx. Distinguish an observed formulation or packaging effect from an analytical deviation. The qualified method detected a packaging-dependent impurity trend.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packaging decision follows the impurity trend detected by the qualified method. Do not recast that trend as a generic analytical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 A. Penrose | Head of Analytical Services | 26 Jan 2017. Final client readout for Wexanthel Medicines. Later shelf-life conclusions require additional approved pulls.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3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1. WX-4 tablets: stability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Times New Roman"/>
              </a:rPr>
              <a:t>Wexanthel Medicines | WA/2015/137 | 26 Jan 2017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735434"/>
                </a:solidFill>
                <a:latin typeface="Arial"/>
              </a:rPr>
              <a:t>2. Approved numerical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3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Condition</a:t>
                      </a:r>
                    </a:p>
                  </a:txBody>
                  <a:tcPr>
                    <a:solidFill>
                      <a:srgbClr val="735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Timepoint (months)</a:t>
                      </a:r>
                    </a:p>
                  </a:txBody>
                  <a:tcPr>
                    <a:solidFill>
                      <a:srgbClr val="735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Assay (% LC)</a:t>
                      </a:r>
                    </a:p>
                  </a:txBody>
                  <a:tcPr>
                    <a:solidFill>
                      <a:srgbClr val="735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Total impurities (%)</a:t>
                      </a:r>
                    </a:p>
                  </a:txBody>
                  <a:tcPr>
                    <a:solidFill>
                      <a:srgbClr val="735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Result</a:t>
                      </a:r>
                    </a:p>
                  </a:txBody>
                  <a:tcPr>
                    <a:solidFill>
                      <a:srgbClr val="7354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100.4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100.1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100.3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100.7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100.2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100.5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100.1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99.9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100.5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100.4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99.9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99.1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99.9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99.0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40 °C/75%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100.6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40 °C/75%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100.7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Complies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Westravelle Analytical Ltd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735434"/>
                </a:solidFill>
                <a:latin typeface="Arial"/>
              </a:rPr>
              <a:t>3. Protocol identity and sample custody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Client: Wexanthel Medicines</a:t>
            </a:r>
          </a:p>
          <a:p>
            <a:pPr/>
            <a:r>
              <a:rPr sz="1800">
                <a:latin typeface="Times New Roman"/>
              </a:rPr>
              <a:t>Protocol: WA/2015/137 | LIMS: WST-15-004255</a:t>
            </a:r>
          </a:p>
          <a:p>
            <a:pPr/>
            <a:r>
              <a:rPr sz="1800">
                <a:latin typeface="Times New Roman"/>
              </a:rPr>
              <a:t>Opened 22 Jul 2015; completed 23 Jan 2017</a:t>
            </a:r>
          </a:p>
          <a:p>
            <a:pPr/>
            <a:r>
              <a:rPr sz="1800">
                <a:latin typeface="Times New Roman"/>
              </a:rPr>
              <a:t>Dr L. Wu: stability lot and sample-custody reconciliation.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Storage condition and pull interval are carried with the stability lot on the batch card.</a:t>
            </a:r>
          </a:p>
          <a:p>
            <a:pPr/>
            <a:r>
              <a:rPr sz="1800">
                <a:latin typeface="Times New Roman"/>
              </a:rPr>
              <a:t>Sequence sheets retain the pack or presentation identity; results must not be pooled across storage conditions.</a:t>
            </a:r>
          </a:p>
          <a:p>
            <a:pPr/>
            <a:r>
              <a:rPr sz="1800">
                <a:latin typeface="Times New Roman"/>
              </a:rPr>
              <a:t>Tested interval: through 18 months.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3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Westravelle Analytical Ltd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735434"/>
                </a:solidFill>
                <a:latin typeface="Arial"/>
              </a:rPr>
              <a:t>4. HPLC method qualification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3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Parameter</a:t>
                      </a:r>
                    </a:p>
                  </a:txBody>
                  <a:tcPr>
                    <a:solidFill>
                      <a:srgbClr val="735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Result</a:t>
                      </a:r>
                    </a:p>
                  </a:txBody>
                  <a:tcPr>
                    <a:solidFill>
                      <a:srgbClr val="735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Acceptance</a:t>
                      </a:r>
                    </a:p>
                  </a:txBody>
                  <a:tcPr>
                    <a:solidFill>
                      <a:srgbClr val="7354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Linearity (r²)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0.9997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≥0.999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Range (% nominal)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50-150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80-120 minimum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Accuracy 80% (% recovery)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98.0-102.0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Accuracy 100% (% recovery)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98.0-102.0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Accuracy 120% (% recovery)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98.0-102.0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Repeatability (%RSD, n=6)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≤2.0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Intermediate precision (%RSD)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≤2.0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LOQ (% of nominal)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≤0.05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Westravelle Analytical Ltd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735434"/>
                </a:solidFill>
                <a:latin typeface="Arial"/>
              </a:rPr>
              <a:t>5. Impurity trend by storage interval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3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Westravelle Analytical Ltd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735434"/>
                </a:solidFill>
                <a:latin typeface="Arial"/>
              </a:rPr>
              <a:t>6. System suitability and deviation disposition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Saira Mahmood: analytical method and system suitability review.</a:t>
            </a:r>
          </a:p>
          <a:p>
            <a:pPr/>
            <a:r>
              <a:rPr sz="1800">
                <a:latin typeface="Times New Roman"/>
              </a:rPr>
              <a:t>Dr L. Wu: reconciliation of preparation, storage and sequence identity.</a:t>
            </a:r>
          </a:p>
          <a:p>
            <a:pPr/>
            <a:r>
              <a:rPr sz="1800">
                <a:latin typeface="Times New Roman"/>
              </a:rPr>
              <a:t>Dr A. Penrose: approved interpretation and client release.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Approved sequence sheets are the authority for suitability acceptance and any repeat sequence.</a:t>
            </a:r>
          </a:p>
          <a:p>
            <a:pPr/>
            <a:r>
              <a:rPr sz="1800">
                <a:latin typeface="Times New Roman"/>
              </a:rPr>
              <a:t>Deviation notes remain linked to the affected batch card; this deck does not replace their disposition.</a:t>
            </a:r>
          </a:p>
          <a:p>
            <a:pPr/>
            <a:r>
              <a:rPr sz="1800">
                <a:latin typeface="Times New Roman"/>
              </a:rPr>
              <a:t>No additional chamber excursion, reinjection or acceptance limit is inferred from the trend plot.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3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Westravelle Analytical Ltd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735434"/>
                </a:solidFill>
                <a:latin typeface="Arial"/>
              </a:rPr>
              <a:t>7. Interpretation for transfer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The qualified method detected a packaging-dependent impurity trend.</a:t>
            </a:r>
          </a:p>
          <a:p>
            <a:pPr/>
            <a:r>
              <a:rPr sz="2000">
                <a:latin typeface="Times New Roman"/>
              </a:rPr>
              <a:t>Wexanthel adopted the higher-barrier blister.</a:t>
            </a:r>
          </a:p>
          <a:p>
            <a:pPr/>
            <a:r>
              <a:rPr sz="2000">
                <a:latin typeface="Times New Roman"/>
              </a:rPr>
              <a:t>Carry the higher-barrier blister into transfer; keep the packaging comparison attached to the stability lot history.</a:t>
            </a:r>
          </a:p>
          <a:p>
            <a:pPr/>
            <a:r>
              <a:rPr sz="2000">
                <a:latin typeface="Times New Roman"/>
              </a:rPr>
              <a:t>Conclusion applies to tested storage conditions and the reported 18-month interval.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3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Westravelle Analytical Ltd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735434"/>
                </a:solidFill>
                <a:latin typeface="Arial"/>
              </a:rPr>
              <a:t>8. Release gate and client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Wexanthel adopted the higher-barrier blister.</a:t>
            </a:r>
          </a:p>
          <a:p>
            <a:pPr/>
            <a:r>
              <a:rPr sz="2000">
                <a:latin typeface="Times New Roman"/>
              </a:rPr>
              <a:t>Release basis: WX4_PULLS_AND_SUITABILITY_RESULTS_Rev03.xlsx; approved 23 Jan 2017.</a:t>
            </a:r>
          </a:p>
          <a:p>
            <a:pPr/>
            <a:r>
              <a:rPr sz="2000">
                <a:latin typeface="Times New Roman"/>
              </a:rPr>
              <a:t>Carry the higher-barrier blister into transfer; keep the packaging comparison attached to the stability lot history.</a:t>
            </a:r>
          </a:p>
          <a:p>
            <a:pPr/>
            <a:r>
              <a:rPr sz="2000">
                <a:latin typeface="Times New Roman"/>
              </a:rPr>
              <a:t>Archive the approved readout with the sequence sheets, batch cards and linked deviation notes.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3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Westravelle Analytical Ltd | Confidential  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Westravelle Analytical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WX-4 tablets: stability review</dc:title>
  <dc:subject>Wexanthel Medicines | {{PRJ0088:project_id}} | QA-approved client readout</dc:subject>
  <dc:creator>Alice Penrose</dc:creator>
  <cp:keywords>Westravelle; WX-4 tablets; system suitability; stability pulls</cp:keywords>
  <dc:description>generated using python-pptx</dc:description>
  <cp:lastModifiedBy>Alice Penrose</cp:lastModifiedBy>
  <cp:revision>2</cp:revision>
  <dcterms:created xsi:type="dcterms:W3CDTF">2017-01-26T10:24:00Z</dcterms:created>
  <dcterms:modified xsi:type="dcterms:W3CDTF">2017-01-26T16:38:00Z</dcterms:modified>
  <cp:category/>
</cp:coreProperties>
</file>