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Final readout. Protocol opened 22 Jul 2024; approved results completed 22 Jul 2025. LIMS accession WST-24-006564. The uncoated comparator showed a humidity-driven impurity increase. Aldrevessa selected the coated tablet.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E-010 / AT22_PULLS_AND_SUITABILITY_RESULTS_Rev03.xlsx, approved 22 Jul 2025. Assay is percent label claim; total impurities are area percent. Condition and pull interval remain part of each result identity. Individual impurities and water results are retained in the full sequence sheets.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accession links receipt, batch card, preparation and analytical sequence. This readout does not introduce new lot codes or replace approved sequence sheets.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Saira Mahmood, QC Method Validation Lead: qualification review. Read each result against its stated acceptance criterion. Assay and related-substances validation supports the reported sample preparation and separation; extensions require a separately agreed protocol.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uncoated comparator showed a humidity-driven impurity increase. The plot is a view of the approved stability table; the table supplies condition, interval and compliance status. Do not extrapolate beyond 12 months.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Readout source: AT22_PULLS_AND_SUITABILITY_RESULTS_Rev03.xlsx. Distinguish an observed formulation or packaging effect from an analytical deviation. The uncoated comparator showed a humidity-driven impurity increase.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Keep coating status with the comparator identity. The humidity-driven impurity increase explains the formulation decision; pooled tablet results would obscure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Dr A. Penrose | Head of Analytical Services | 25 Jul 2025. Final client readout for Aldrevessa Therapeutics. Later shelf-life conclusions require additional approved pulls.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Rectangle 3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83C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31520" y="2057400"/>
            <a:ext cx="10728655" cy="1463040"/>
          </a:xfrm>
        </p:spPr>
        <p:txBody>
          <a:bodyPr/>
          <a:lstStyle/>
          <a:p>
            <a:r>
              <a:rPr sz="4000" b="1">
                <a:solidFill>
                  <a:srgbClr val="FFFFFF"/>
                </a:solidFill>
                <a:latin typeface="Arial"/>
              </a:rPr>
              <a:t>1. AT-22 tablets: stability review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31520" y="3611880"/>
            <a:ext cx="10728655" cy="1097280"/>
          </a:xfrm>
        </p:spPr>
        <p:txBody>
          <a:bodyPr/>
          <a:lstStyle/>
          <a:p>
            <a:r>
              <a:rPr sz="2000">
                <a:solidFill>
                  <a:srgbClr val="EBEBEB"/>
                </a:solidFill>
                <a:latin typeface="Arial"/>
              </a:rPr>
              <a:t>Aldrevessa Therapeutics | WA/2024/211 | 25 Jul 2025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1480" y="137160"/>
            <a:ext cx="11368735" cy="822960"/>
          </a:xfrm>
        </p:spPr>
        <p:txBody>
          <a:bodyPr/>
          <a:lstStyle/>
          <a:p>
            <a:pPr algn="l"/>
            <a:r>
              <a:rPr sz="2600" b="1">
                <a:solidFill>
                  <a:srgbClr val="183C4C"/>
                </a:solidFill>
                <a:latin typeface="Arial"/>
              </a:rPr>
              <a:t>2. Approved numerical evidence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" y="1097280"/>
            <a:ext cx="11460175" cy="38100"/>
          </a:xfrm>
          <a:prstGeom prst="rect">
            <a:avLst/>
          </a:prstGeom>
          <a:solidFill>
            <a:srgbClr val="F2F0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280160"/>
          <a:ext cx="11277295" cy="4663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55459"/>
                <a:gridCol w="2255459"/>
                <a:gridCol w="2255459"/>
                <a:gridCol w="2255459"/>
                <a:gridCol w="2255459"/>
              </a:tblGrid>
              <a:tr h="27432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Condition</a:t>
                      </a:r>
                    </a:p>
                  </a:txBody>
                  <a:tcPr>
                    <a:solidFill>
                      <a:srgbClr val="183C4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Timepoint (months)</a:t>
                      </a:r>
                    </a:p>
                  </a:txBody>
                  <a:tcPr>
                    <a:solidFill>
                      <a:srgbClr val="183C4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Assay (% LC)</a:t>
                      </a:r>
                    </a:p>
                  </a:txBody>
                  <a:tcPr>
                    <a:solidFill>
                      <a:srgbClr val="183C4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Total impurities (%)</a:t>
                      </a:r>
                    </a:p>
                  </a:txBody>
                  <a:tcPr>
                    <a:solidFill>
                      <a:srgbClr val="183C4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Result</a:t>
                      </a:r>
                    </a:p>
                  </a:txBody>
                  <a:tcPr>
                    <a:solidFill>
                      <a:srgbClr val="183C4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00">
                          <a:latin typeface="Arial"/>
                        </a:rPr>
                        <a:t>25 °C/60% RH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Arial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Arial"/>
                        </a:rPr>
                        <a:t>99.7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Arial"/>
                        </a:rPr>
                        <a:t>0.17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Arial"/>
                        </a:rPr>
                        <a:t>Complies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00">
                          <a:latin typeface="Arial"/>
                        </a:rPr>
                        <a:t>25 °C/60% RH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Arial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Arial"/>
                        </a:rPr>
                        <a:t>100.1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Arial"/>
                        </a:rPr>
                        <a:t>0.14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Arial"/>
                        </a:rPr>
                        <a:t>Complies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00">
                          <a:latin typeface="Arial"/>
                        </a:rPr>
                        <a:t>25 °C/60% RH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Arial"/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Arial"/>
                        </a:rPr>
                        <a:t>99.7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Arial"/>
                        </a:rPr>
                        <a:t>0.22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Arial"/>
                        </a:rPr>
                        <a:t>Complies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00">
                          <a:latin typeface="Arial"/>
                        </a:rPr>
                        <a:t>25 °C/60% RH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Arial"/>
                        </a:rPr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Arial"/>
                        </a:rPr>
                        <a:t>99.8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Arial"/>
                        </a:rPr>
                        <a:t>0.22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Arial"/>
                        </a:rPr>
                        <a:t>Complies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00">
                          <a:latin typeface="Arial"/>
                        </a:rPr>
                        <a:t>25 °C/60% RH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Arial"/>
                        </a:rPr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Arial"/>
                        </a:rPr>
                        <a:t>99.1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Arial"/>
                        </a:rPr>
                        <a:t>0.31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Arial"/>
                        </a:rPr>
                        <a:t>Complies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00">
                          <a:latin typeface="Arial"/>
                        </a:rPr>
                        <a:t>25 °C/60% RH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Arial"/>
                        </a:rPr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Arial"/>
                        </a:rPr>
                        <a:t>99.7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Arial"/>
                        </a:rPr>
                        <a:t>0.32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Arial"/>
                        </a:rPr>
                        <a:t>Complies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00">
                          <a:latin typeface="Arial"/>
                        </a:rPr>
                        <a:t>30 °C/65% RH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Arial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Arial"/>
                        </a:rPr>
                        <a:t>99.7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Arial"/>
                        </a:rPr>
                        <a:t>0.17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Arial"/>
                        </a:rPr>
                        <a:t>Complies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00">
                          <a:latin typeface="Arial"/>
                        </a:rPr>
                        <a:t>30 °C/65% RH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Arial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Arial"/>
                        </a:rPr>
                        <a:t>100.5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Arial"/>
                        </a:rPr>
                        <a:t>0.22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Arial"/>
                        </a:rPr>
                        <a:t>Complies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00">
                          <a:latin typeface="Arial"/>
                        </a:rPr>
                        <a:t>30 °C/65% RH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Arial"/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Arial"/>
                        </a:rPr>
                        <a:t>99.5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Arial"/>
                        </a:rPr>
                        <a:t>0.24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Arial"/>
                        </a:rPr>
                        <a:t>Complies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00">
                          <a:latin typeface="Arial"/>
                        </a:rPr>
                        <a:t>30 °C/65% RH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Arial"/>
                        </a:rPr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Arial"/>
                        </a:rPr>
                        <a:t>99.4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Arial"/>
                        </a:rPr>
                        <a:t>0.31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Arial"/>
                        </a:rPr>
                        <a:t>Complies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00">
                          <a:latin typeface="Arial"/>
                        </a:rPr>
                        <a:t>30 °C/65% RH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Arial"/>
                        </a:rPr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Arial"/>
                        </a:rPr>
                        <a:t>98.8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Arial"/>
                        </a:rPr>
                        <a:t>0.35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Arial"/>
                        </a:rPr>
                        <a:t>Complies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00">
                          <a:latin typeface="Arial"/>
                        </a:rPr>
                        <a:t>30 °C/65% RH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Arial"/>
                        </a:rPr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Arial"/>
                        </a:rPr>
                        <a:t>98.9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Arial"/>
                        </a:rPr>
                        <a:t>0.44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Arial"/>
                        </a:rPr>
                        <a:t>Complies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00">
                          <a:latin typeface="Arial"/>
                        </a:rPr>
                        <a:t>40 °C/75% RH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Arial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Arial"/>
                        </a:rPr>
                        <a:t>99.7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Arial"/>
                        </a:rPr>
                        <a:t>0.17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Arial"/>
                        </a:rPr>
                        <a:t>Complies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00">
                          <a:latin typeface="Arial"/>
                        </a:rPr>
                        <a:t>40 °C/75% RH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Arial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Arial"/>
                        </a:rPr>
                        <a:t>99.4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Arial"/>
                        </a:rPr>
                        <a:t>0.22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Arial"/>
                        </a:rPr>
                        <a:t>Complies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00">
                          <a:latin typeface="Arial"/>
                        </a:rPr>
                        <a:t>40 °C/75% RH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Arial"/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Arial"/>
                        </a:rPr>
                        <a:t>99.4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Arial"/>
                        </a:rPr>
                        <a:t>0.42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Arial"/>
                        </a:rPr>
                        <a:t>Complies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00">
                          <a:latin typeface="Arial"/>
                        </a:rPr>
                        <a:t>40 °C/75% RH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Arial"/>
                        </a:rPr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Arial"/>
                        </a:rPr>
                        <a:t>97.8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Arial"/>
                        </a:rPr>
                        <a:t>0.67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Arial"/>
                        </a:rPr>
                        <a:t>Complies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365760" y="6446520"/>
            <a:ext cx="1146017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6E6E6E"/>
                </a:solidFill>
                <a:latin typeface="Arial"/>
              </a:rPr>
              <a:t>Westravelle Analytical Ltd, a Tarnovell company | Confidential    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1480" y="137160"/>
            <a:ext cx="11368735" cy="822960"/>
          </a:xfrm>
        </p:spPr>
        <p:txBody>
          <a:bodyPr/>
          <a:lstStyle/>
          <a:p>
            <a:pPr algn="l"/>
            <a:r>
              <a:rPr sz="2600" b="1">
                <a:solidFill>
                  <a:srgbClr val="183C4C"/>
                </a:solidFill>
                <a:latin typeface="Arial"/>
              </a:rPr>
              <a:t>3. Protocol identity and sample custody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>
          <a:xfrm>
            <a:off x="457200" y="1280160"/>
            <a:ext cx="5547207" cy="4937760"/>
          </a:xfrm>
        </p:spPr>
        <p:txBody>
          <a:bodyPr wrap="square">
            <a:noAutofit/>
          </a:bodyPr>
          <a:lstStyle/>
          <a:p>
            <a:pPr/>
            <a:r>
              <a:rPr sz="1800">
                <a:latin typeface="Arial"/>
              </a:rPr>
              <a:t>Client: Aldrevessa Therapeutics</a:t>
            </a:r>
          </a:p>
          <a:p>
            <a:pPr/>
            <a:r>
              <a:rPr sz="1800">
                <a:latin typeface="Arial"/>
              </a:rPr>
              <a:t>Protocol: WA/2024/211 | LIMS: WST-24-006564</a:t>
            </a:r>
          </a:p>
          <a:p>
            <a:pPr/>
            <a:r>
              <a:rPr sz="1800">
                <a:latin typeface="Arial"/>
              </a:rPr>
              <a:t>Opened 22 Jul 2024; completed 22 Jul 2025</a:t>
            </a:r>
          </a:p>
          <a:p>
            <a:pPr/>
            <a:r>
              <a:rPr sz="1800">
                <a:latin typeface="Arial"/>
              </a:rPr>
              <a:t>Dr L. Wu: stability lot and sample-custody reconciliation.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>
          <a:xfrm>
            <a:off x="6187287" y="1280160"/>
            <a:ext cx="5547207" cy="4937760"/>
          </a:xfrm>
        </p:spPr>
        <p:txBody>
          <a:bodyPr wrap="square">
            <a:noAutofit/>
          </a:bodyPr>
          <a:lstStyle/>
          <a:p>
            <a:pPr/>
            <a:r>
              <a:rPr sz="1800">
                <a:latin typeface="Arial"/>
              </a:rPr>
              <a:t>Storage condition and pull interval are carried with the stability lot on the batch card.</a:t>
            </a:r>
          </a:p>
          <a:p>
            <a:pPr/>
            <a:r>
              <a:rPr sz="1800">
                <a:latin typeface="Arial"/>
              </a:rPr>
              <a:t>Sequence sheets retain the pack or presentation identity; results must not be pooled across storage conditions.</a:t>
            </a:r>
          </a:p>
          <a:p>
            <a:pPr/>
            <a:r>
              <a:rPr sz="1800">
                <a:latin typeface="Arial"/>
              </a:rPr>
              <a:t>Tested interval: through 12 months.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097280"/>
            <a:ext cx="11460175" cy="38100"/>
          </a:xfrm>
          <a:prstGeom prst="rect">
            <a:avLst/>
          </a:prstGeom>
          <a:solidFill>
            <a:srgbClr val="F2F0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6446520"/>
            <a:ext cx="1146017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6E6E6E"/>
                </a:solidFill>
                <a:latin typeface="Arial"/>
              </a:rPr>
              <a:t>Westravelle Analytical Ltd, a Tarnovell company | Confidential    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1480" y="137160"/>
            <a:ext cx="11368735" cy="822960"/>
          </a:xfrm>
        </p:spPr>
        <p:txBody>
          <a:bodyPr/>
          <a:lstStyle/>
          <a:p>
            <a:pPr algn="l"/>
            <a:r>
              <a:rPr sz="2600" b="1">
                <a:solidFill>
                  <a:srgbClr val="183C4C"/>
                </a:solidFill>
                <a:latin typeface="Arial"/>
              </a:rPr>
              <a:t>4. HPLC method qualification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" y="1097280"/>
            <a:ext cx="11460175" cy="38100"/>
          </a:xfrm>
          <a:prstGeom prst="rect">
            <a:avLst/>
          </a:prstGeom>
          <a:solidFill>
            <a:srgbClr val="F2F0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280160"/>
          <a:ext cx="11277295" cy="2468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59098"/>
                <a:gridCol w="3759098"/>
                <a:gridCol w="3759099"/>
              </a:tblGrid>
              <a:tr h="27432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</a:rPr>
                        <a:t>Parameter</a:t>
                      </a:r>
                    </a:p>
                  </a:txBody>
                  <a:tcPr>
                    <a:solidFill>
                      <a:srgbClr val="183C4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</a:rPr>
                        <a:t>Result</a:t>
                      </a:r>
                    </a:p>
                  </a:txBody>
                  <a:tcPr>
                    <a:solidFill>
                      <a:srgbClr val="183C4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</a:rPr>
                        <a:t>Acceptance</a:t>
                      </a:r>
                    </a:p>
                  </a:txBody>
                  <a:tcPr>
                    <a:solidFill>
                      <a:srgbClr val="183C4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200">
                          <a:latin typeface="Arial"/>
                        </a:rPr>
                        <a:t>Linearity (r²)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Arial"/>
                        </a:rPr>
                        <a:t>0.9991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Arial"/>
                        </a:rPr>
                        <a:t>≥0.999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200">
                          <a:latin typeface="Arial"/>
                        </a:rPr>
                        <a:t>Range (% nominal)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Arial"/>
                        </a:rPr>
                        <a:t>50-150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Arial"/>
                        </a:rPr>
                        <a:t>80-120 minimum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200">
                          <a:latin typeface="Arial"/>
                        </a:rPr>
                        <a:t>Accuracy 80% (% recovery)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Arial"/>
                        </a:rPr>
                        <a:t>99.4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Arial"/>
                        </a:rPr>
                        <a:t>98.0-102.0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200">
                          <a:latin typeface="Arial"/>
                        </a:rPr>
                        <a:t>Accuracy 100% (% recovery)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Arial"/>
                        </a:rPr>
                        <a:t>99.4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Arial"/>
                        </a:rPr>
                        <a:t>98.0-102.0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200">
                          <a:latin typeface="Arial"/>
                        </a:rPr>
                        <a:t>Accuracy 120% (% recovery)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Arial"/>
                        </a:rPr>
                        <a:t>99.6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Arial"/>
                        </a:rPr>
                        <a:t>98.0-102.0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200">
                          <a:latin typeface="Arial"/>
                        </a:rPr>
                        <a:t>Repeatability (%RSD, n=6)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Arial"/>
                        </a:rPr>
                        <a:t>0.41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Arial"/>
                        </a:rPr>
                        <a:t>≤2.0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200">
                          <a:latin typeface="Arial"/>
                        </a:rPr>
                        <a:t>Intermediate precision (%RSD)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Arial"/>
                        </a:rPr>
                        <a:t>0.72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Arial"/>
                        </a:rPr>
                        <a:t>≤2.0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200">
                          <a:latin typeface="Arial"/>
                        </a:rPr>
                        <a:t>LOQ (% of nominal)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Arial"/>
                        </a:rPr>
                        <a:t>0.05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Arial"/>
                        </a:rPr>
                        <a:t>≤0.05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365760" y="6446520"/>
            <a:ext cx="1146017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6E6E6E"/>
                </a:solidFill>
                <a:latin typeface="Arial"/>
              </a:rPr>
              <a:t>Westravelle Analytical Ltd, a Tarnovell company | Confidential    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1480" y="137160"/>
            <a:ext cx="11368735" cy="822960"/>
          </a:xfrm>
        </p:spPr>
        <p:txBody>
          <a:bodyPr/>
          <a:lstStyle/>
          <a:p>
            <a:pPr algn="l"/>
            <a:r>
              <a:rPr sz="2600" b="1">
                <a:solidFill>
                  <a:srgbClr val="183C4C"/>
                </a:solidFill>
                <a:latin typeface="Arial"/>
              </a:rPr>
              <a:t>5. Impurity trend by storage interval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" y="1097280"/>
            <a:ext cx="11460175" cy="38100"/>
          </a:xfrm>
          <a:prstGeom prst="rect">
            <a:avLst/>
          </a:prstGeom>
          <a:solidFill>
            <a:srgbClr val="F2F0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60732" y="1280160"/>
            <a:ext cx="8470231" cy="50292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65760" y="6446520"/>
            <a:ext cx="1146017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6E6E6E"/>
                </a:solidFill>
                <a:latin typeface="Arial"/>
              </a:rPr>
              <a:t>Westravelle Analytical Ltd, a Tarnovell company | Confidential    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1480" y="137160"/>
            <a:ext cx="11368735" cy="822960"/>
          </a:xfrm>
        </p:spPr>
        <p:txBody>
          <a:bodyPr/>
          <a:lstStyle/>
          <a:p>
            <a:pPr algn="l"/>
            <a:r>
              <a:rPr sz="2600" b="1">
                <a:solidFill>
                  <a:srgbClr val="183C4C"/>
                </a:solidFill>
                <a:latin typeface="Arial"/>
              </a:rPr>
              <a:t>6. System suitability and deviation disposition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>
          <a:xfrm>
            <a:off x="457200" y="1280160"/>
            <a:ext cx="5547207" cy="4937760"/>
          </a:xfrm>
        </p:spPr>
        <p:txBody>
          <a:bodyPr wrap="square">
            <a:noAutofit/>
          </a:bodyPr>
          <a:lstStyle/>
          <a:p>
            <a:pPr/>
            <a:r>
              <a:rPr sz="1800">
                <a:latin typeface="Arial"/>
              </a:rPr>
              <a:t>Saira Mahmood: analytical method and system suitability review.</a:t>
            </a:r>
          </a:p>
          <a:p>
            <a:pPr/>
            <a:r>
              <a:rPr sz="1800">
                <a:latin typeface="Arial"/>
              </a:rPr>
              <a:t>Dr L. Wu: reconciliation of preparation, storage and sequence identity.</a:t>
            </a:r>
          </a:p>
          <a:p>
            <a:pPr/>
            <a:r>
              <a:rPr sz="1800">
                <a:latin typeface="Arial"/>
              </a:rPr>
              <a:t>Dr A. Penrose: approved interpretation and client release.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>
          <a:xfrm>
            <a:off x="6187287" y="1280160"/>
            <a:ext cx="5547207" cy="4937760"/>
          </a:xfrm>
        </p:spPr>
        <p:txBody>
          <a:bodyPr wrap="square">
            <a:noAutofit/>
          </a:bodyPr>
          <a:lstStyle/>
          <a:p>
            <a:pPr/>
            <a:r>
              <a:rPr sz="1800">
                <a:latin typeface="Arial"/>
              </a:rPr>
              <a:t>Approved sequence sheets are the authority for suitability acceptance and any repeat sequence.</a:t>
            </a:r>
          </a:p>
          <a:p>
            <a:pPr/>
            <a:r>
              <a:rPr sz="1800">
                <a:latin typeface="Arial"/>
              </a:rPr>
              <a:t>Deviation notes remain linked to the affected batch card; this deck does not replace their disposition.</a:t>
            </a:r>
          </a:p>
          <a:p>
            <a:pPr/>
            <a:r>
              <a:rPr sz="1800">
                <a:latin typeface="Arial"/>
              </a:rPr>
              <a:t>No additional chamber excursion, reinjection or acceptance limit is inferred from the trend plot.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097280"/>
            <a:ext cx="11460175" cy="38100"/>
          </a:xfrm>
          <a:prstGeom prst="rect">
            <a:avLst/>
          </a:prstGeom>
          <a:solidFill>
            <a:srgbClr val="F2F0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6446520"/>
            <a:ext cx="1146017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6E6E6E"/>
                </a:solidFill>
                <a:latin typeface="Arial"/>
              </a:rPr>
              <a:t>Westravelle Analytical Ltd, a Tarnovell company | Confidential    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1480" y="137160"/>
            <a:ext cx="11368735" cy="822960"/>
          </a:xfrm>
        </p:spPr>
        <p:txBody>
          <a:bodyPr/>
          <a:lstStyle/>
          <a:p>
            <a:pPr algn="l"/>
            <a:r>
              <a:rPr sz="2600" b="1">
                <a:solidFill>
                  <a:srgbClr val="183C4C"/>
                </a:solidFill>
                <a:latin typeface="Arial"/>
              </a:rPr>
              <a:t>7. Interpretation for transfer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80160"/>
            <a:ext cx="11277295" cy="4937760"/>
          </a:xfrm>
        </p:spPr>
        <p:txBody>
          <a:bodyPr wrap="square">
            <a:noAutofit/>
          </a:bodyPr>
          <a:lstStyle/>
          <a:p>
            <a:pPr/>
            <a:r>
              <a:rPr sz="2000">
                <a:latin typeface="Arial"/>
              </a:rPr>
              <a:t>The uncoated comparator showed a humidity-driven impurity increase.</a:t>
            </a:r>
          </a:p>
          <a:p>
            <a:pPr/>
            <a:r>
              <a:rPr sz="2000">
                <a:latin typeface="Arial"/>
              </a:rPr>
              <a:t>Aldrevessa selected the coated tablet.</a:t>
            </a:r>
          </a:p>
          <a:p>
            <a:pPr/>
            <a:r>
              <a:rPr sz="2000">
                <a:latin typeface="Arial"/>
              </a:rPr>
              <a:t>Carry the coated tablet into transfer; retain the uncoated comparator results as the formulation decision record.</a:t>
            </a:r>
          </a:p>
          <a:p>
            <a:pPr/>
            <a:r>
              <a:rPr sz="2000">
                <a:latin typeface="Arial"/>
              </a:rPr>
              <a:t>Conclusion applies to tested storage conditions and the reported 12-month interval.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097280"/>
            <a:ext cx="11460175" cy="38100"/>
          </a:xfrm>
          <a:prstGeom prst="rect">
            <a:avLst/>
          </a:prstGeom>
          <a:solidFill>
            <a:srgbClr val="F2F0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6E6E6E"/>
                </a:solidFill>
                <a:latin typeface="Arial"/>
              </a:rPr>
              <a:t>Westravelle Analytical Ltd, a Tarnovell company | Confidential    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1480" y="137160"/>
            <a:ext cx="11368735" cy="822960"/>
          </a:xfrm>
        </p:spPr>
        <p:txBody>
          <a:bodyPr/>
          <a:lstStyle/>
          <a:p>
            <a:pPr algn="l"/>
            <a:r>
              <a:rPr sz="2600" b="1">
                <a:solidFill>
                  <a:srgbClr val="183C4C"/>
                </a:solidFill>
                <a:latin typeface="Arial"/>
              </a:rPr>
              <a:t>8. Release gate and client decision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80160"/>
            <a:ext cx="11277295" cy="4937760"/>
          </a:xfrm>
        </p:spPr>
        <p:txBody>
          <a:bodyPr wrap="square">
            <a:noAutofit/>
          </a:bodyPr>
          <a:lstStyle/>
          <a:p>
            <a:pPr/>
            <a:r>
              <a:rPr sz="2000">
                <a:latin typeface="Arial"/>
              </a:rPr>
              <a:t>Aldrevessa selected the coated tablet.</a:t>
            </a:r>
          </a:p>
          <a:p>
            <a:pPr/>
            <a:r>
              <a:rPr sz="2000">
                <a:latin typeface="Arial"/>
              </a:rPr>
              <a:t>Release basis: AT22_PULLS_AND_SUITABILITY_RESULTS_Rev03.xlsx; approved 22 Jul 2025.</a:t>
            </a:r>
          </a:p>
          <a:p>
            <a:pPr/>
            <a:r>
              <a:rPr sz="2000">
                <a:latin typeface="Arial"/>
              </a:rPr>
              <a:t>Carry the coated tablet into transfer; retain the uncoated comparator results as the formulation decision record.</a:t>
            </a:r>
          </a:p>
          <a:p>
            <a:pPr/>
            <a:r>
              <a:rPr sz="2000">
                <a:latin typeface="Arial"/>
              </a:rPr>
              <a:t>Archive the approved readout with the sequence sheets, batch cards and linked deviation notes.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097280"/>
            <a:ext cx="11460175" cy="38100"/>
          </a:xfrm>
          <a:prstGeom prst="rect">
            <a:avLst/>
          </a:prstGeom>
          <a:solidFill>
            <a:srgbClr val="F2F0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6E6E6E"/>
                </a:solidFill>
                <a:latin typeface="Arial"/>
              </a:rPr>
              <a:t>Westravelle Analytical Ltd, a Tarnovell company | Confidential    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LinksUpToDate>false</LinksUpToDate>
  <SharedDoc>false</SharedDoc>
  <HyperlinkBase/>
  <HyperlinksChanged>false</HyperlinksChanged>
  <Company>Tarnovell Bioscience Group Ltd</Company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AT-22 tablets: stability review</dc:title>
  <dc:subject>Aldrevessa Therapeutics | {{PRJ0097:project_id}} | QA-approved client readout</dc:subject>
  <dc:creator>Alice Penrose</dc:creator>
  <cp:keywords>Westravelle; AT-22 tablets; system suitability; stability pulls</cp:keywords>
  <dc:description>generated using python-pptx</dc:description>
  <cp:lastModifiedBy>Alice Penrose</cp:lastModifiedBy>
  <cp:revision>11</cp:revision>
  <dcterms:created xsi:type="dcterms:W3CDTF">2025-07-25T10:24:00Z</dcterms:created>
  <dcterms:modified xsi:type="dcterms:W3CDTF">2025-07-25T16:38:00Z</dcterms:modified>
  <cp:category/>
</cp:coreProperties>
</file>