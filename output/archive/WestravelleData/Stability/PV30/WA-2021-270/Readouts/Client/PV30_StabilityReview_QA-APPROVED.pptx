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Final readout. Protocol opened 30 Sep 2021; approved results completed 30 Sep 2022. LIMS accession WST-21-008374. An impurity reference resolved a late-eluting peak. Parvessune retained the capsule formulation for transfer.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E-007 / PV30_PULLS_AND_SUITABILITY_RESULTS_Rev03.xlsx, approved 30 Sep 2022. Assay is percent label claim; total impurities are area percent. Condition and pull interval remain part of each result identity. Individual impurities and water results are retained in the full sequence sheets.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accession links receipt, batch card, preparation and analytical sequence. This readout does not introduce new lot codes or replace approved sequence sheets.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Saira Mahmood, QC Method Validation Lead: qualification review. Read each result against its stated acceptance criterion. Assay and related-substances validation supports the reported sample preparation and separation; extensions require a separately agreed protocol.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 impurity reference resolved a late-eluting peak. The plot is a view of the approved stability table; the table supplies condition, interval and compliance status. Do not extrapolate beyond 12 months.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Readout source: PV30_PULLS_AND_SUITABILITY_RESULTS_Rev03.xlsx. Distinguish an observed formulation or packaging effect from an analytical deviation. An impurity reference resolved a late-eluting peak.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impurity reference settled the late-eluting peak interpretation. Retention alone is not a general identity claim for unrelated peaks.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Dr A. Penrose | Head of Analytical Services | 03 Oct 2022. Final client readout for Parvessune Pharmaceuticals. Later shelf-life conclusions require additional approved pulls.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Rectangle 3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83C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731520" y="2057400"/>
            <a:ext cx="10728655" cy="1463040"/>
          </a:xfrm>
        </p:spPr>
        <p:txBody>
          <a:bodyPr/>
          <a:lstStyle/>
          <a:p>
            <a:r>
              <a:rPr sz="4000" b="1">
                <a:solidFill>
                  <a:srgbClr val="FFFFFF"/>
                </a:solidFill>
                <a:latin typeface="Arial"/>
              </a:rPr>
              <a:t>1. PV-30 capsules: stability review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731520" y="3611880"/>
            <a:ext cx="10728655" cy="1097280"/>
          </a:xfrm>
        </p:spPr>
        <p:txBody>
          <a:bodyPr/>
          <a:lstStyle/>
          <a:p>
            <a:r>
              <a:rPr sz="2000">
                <a:solidFill>
                  <a:srgbClr val="EBEBEB"/>
                </a:solidFill>
                <a:latin typeface="Arial"/>
              </a:rPr>
              <a:t>Parvessune Pharmaceuticals | WA/2021/270 | 03 Oct 2022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11480" y="137160"/>
            <a:ext cx="11368735" cy="822960"/>
          </a:xfrm>
        </p:spPr>
        <p:txBody>
          <a:bodyPr/>
          <a:lstStyle/>
          <a:p>
            <a:pPr algn="l"/>
            <a:r>
              <a:rPr sz="2600" b="1">
                <a:solidFill>
                  <a:srgbClr val="183C4C"/>
                </a:solidFill>
                <a:latin typeface="Arial"/>
              </a:rPr>
              <a:t>2. Approved numerical evidence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1097280"/>
            <a:ext cx="11460175" cy="38100"/>
          </a:xfrm>
          <a:prstGeom prst="rect">
            <a:avLst/>
          </a:prstGeom>
          <a:solidFill>
            <a:srgbClr val="F2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280160"/>
          <a:ext cx="11277295" cy="4663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55459"/>
                <a:gridCol w="2255459"/>
                <a:gridCol w="2255459"/>
                <a:gridCol w="2255459"/>
                <a:gridCol w="2255459"/>
              </a:tblGrid>
              <a:tr h="27432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Condition</a:t>
                      </a:r>
                    </a:p>
                  </a:txBody>
                  <a:tcPr>
                    <a:solidFill>
                      <a:srgbClr val="183C4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Timepoint (months)</a:t>
                      </a:r>
                    </a:p>
                  </a:txBody>
                  <a:tcPr>
                    <a:solidFill>
                      <a:srgbClr val="183C4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Assay (% LC)</a:t>
                      </a:r>
                    </a:p>
                  </a:txBody>
                  <a:tcPr>
                    <a:solidFill>
                      <a:srgbClr val="183C4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Total impurities (%)</a:t>
                      </a:r>
                    </a:p>
                  </a:txBody>
                  <a:tcPr>
                    <a:solidFill>
                      <a:srgbClr val="183C4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Result</a:t>
                      </a:r>
                    </a:p>
                  </a:txBody>
                  <a:tcPr>
                    <a:solidFill>
                      <a:srgbClr val="183C4C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1000">
                          <a:latin typeface="Arial"/>
                        </a:rPr>
                        <a:t>25 °C/60% RH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Arial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Arial"/>
                        </a:rPr>
                        <a:t>100.2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Arial"/>
                        </a:rPr>
                        <a:t>0.17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Arial"/>
                        </a:rPr>
                        <a:t>Complies</a:t>
                      </a:r>
                    </a:p>
                  </a:txBody>
                  <a:tcPr/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1000">
                          <a:latin typeface="Arial"/>
                        </a:rPr>
                        <a:t>25 °C/60% RH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Arial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Arial"/>
                        </a:rPr>
                        <a:t>99.8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Arial"/>
                        </a:rPr>
                        <a:t>0.23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Arial"/>
                        </a:rPr>
                        <a:t>Complies</a:t>
                      </a:r>
                    </a:p>
                  </a:txBody>
                  <a:tcPr/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1000">
                          <a:latin typeface="Arial"/>
                        </a:rPr>
                        <a:t>25 °C/60% RH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Arial"/>
                        </a:rP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Arial"/>
                        </a:rPr>
                        <a:t>100.1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Arial"/>
                        </a:rPr>
                        <a:t>0.23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Arial"/>
                        </a:rPr>
                        <a:t>Complies</a:t>
                      </a:r>
                    </a:p>
                  </a:txBody>
                  <a:tcPr/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1000">
                          <a:latin typeface="Arial"/>
                        </a:rPr>
                        <a:t>25 °C/60% RH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Arial"/>
                        </a:rPr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Arial"/>
                        </a:rPr>
                        <a:t>99.7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Arial"/>
                        </a:rPr>
                        <a:t>0.25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Arial"/>
                        </a:rPr>
                        <a:t>Complies</a:t>
                      </a:r>
                    </a:p>
                  </a:txBody>
                  <a:tcPr/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1000">
                          <a:latin typeface="Arial"/>
                        </a:rPr>
                        <a:t>25 °C/60% RH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Arial"/>
                        </a:rPr>
                        <a:t>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Arial"/>
                        </a:rPr>
                        <a:t>100.6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Arial"/>
                        </a:rPr>
                        <a:t>0.27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Arial"/>
                        </a:rPr>
                        <a:t>Complies</a:t>
                      </a:r>
                    </a:p>
                  </a:txBody>
                  <a:tcPr/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1000">
                          <a:latin typeface="Arial"/>
                        </a:rPr>
                        <a:t>25 °C/60% RH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Arial"/>
                        </a:rPr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Arial"/>
                        </a:rPr>
                        <a:t>100.0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Arial"/>
                        </a:rPr>
                        <a:t>0.28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Arial"/>
                        </a:rPr>
                        <a:t>Complies</a:t>
                      </a:r>
                    </a:p>
                  </a:txBody>
                  <a:tcPr/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1000">
                          <a:latin typeface="Arial"/>
                        </a:rPr>
                        <a:t>30 °C/65% RH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Arial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Arial"/>
                        </a:rPr>
                        <a:t>100.2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Arial"/>
                        </a:rPr>
                        <a:t>0.21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Arial"/>
                        </a:rPr>
                        <a:t>Complies</a:t>
                      </a:r>
                    </a:p>
                  </a:txBody>
                  <a:tcPr/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1000">
                          <a:latin typeface="Arial"/>
                        </a:rPr>
                        <a:t>30 °C/65% RH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Arial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Arial"/>
                        </a:rPr>
                        <a:t>100.2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Arial"/>
                        </a:rPr>
                        <a:t>0.15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Arial"/>
                        </a:rPr>
                        <a:t>Complies</a:t>
                      </a:r>
                    </a:p>
                  </a:txBody>
                  <a:tcPr/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1000">
                          <a:latin typeface="Arial"/>
                        </a:rPr>
                        <a:t>30 °C/65% RH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Arial"/>
                        </a:rP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Arial"/>
                        </a:rPr>
                        <a:t>100.1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Arial"/>
                        </a:rPr>
                        <a:t>0.23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Arial"/>
                        </a:rPr>
                        <a:t>Complies</a:t>
                      </a:r>
                    </a:p>
                  </a:txBody>
                  <a:tcPr/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1000">
                          <a:latin typeface="Arial"/>
                        </a:rPr>
                        <a:t>30 °C/65% RH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Arial"/>
                        </a:rPr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Arial"/>
                        </a:rPr>
                        <a:t>99.7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Arial"/>
                        </a:rPr>
                        <a:t>0.32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Arial"/>
                        </a:rPr>
                        <a:t>Complies</a:t>
                      </a:r>
                    </a:p>
                  </a:txBody>
                  <a:tcPr/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1000">
                          <a:latin typeface="Arial"/>
                        </a:rPr>
                        <a:t>30 °C/65% RH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Arial"/>
                        </a:rPr>
                        <a:t>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Arial"/>
                        </a:rPr>
                        <a:t>99.4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Arial"/>
                        </a:rPr>
                        <a:t>0.38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Arial"/>
                        </a:rPr>
                        <a:t>Complies</a:t>
                      </a:r>
                    </a:p>
                  </a:txBody>
                  <a:tcPr/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1000">
                          <a:latin typeface="Arial"/>
                        </a:rPr>
                        <a:t>30 °C/65% RH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Arial"/>
                        </a:rPr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Arial"/>
                        </a:rPr>
                        <a:t>99.2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Arial"/>
                        </a:rPr>
                        <a:t>0.46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Arial"/>
                        </a:rPr>
                        <a:t>Complies</a:t>
                      </a:r>
                    </a:p>
                  </a:txBody>
                  <a:tcPr/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1000">
                          <a:latin typeface="Arial"/>
                        </a:rPr>
                        <a:t>40 °C/75% RH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Arial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Arial"/>
                        </a:rPr>
                        <a:t>99.8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Arial"/>
                        </a:rPr>
                        <a:t>0.18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Arial"/>
                        </a:rPr>
                        <a:t>Complies</a:t>
                      </a:r>
                    </a:p>
                  </a:txBody>
                  <a:tcPr/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1000">
                          <a:latin typeface="Arial"/>
                        </a:rPr>
                        <a:t>40 °C/75% RH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Arial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Arial"/>
                        </a:rPr>
                        <a:t>99.6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Arial"/>
                        </a:rPr>
                        <a:t>0.23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Arial"/>
                        </a:rPr>
                        <a:t>Complies</a:t>
                      </a:r>
                    </a:p>
                  </a:txBody>
                  <a:tcPr/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1000">
                          <a:latin typeface="Arial"/>
                        </a:rPr>
                        <a:t>40 °C/75% RH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Arial"/>
                        </a:rP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Arial"/>
                        </a:rPr>
                        <a:t>99.3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Arial"/>
                        </a:rPr>
                        <a:t>0.42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Arial"/>
                        </a:rPr>
                        <a:t>Complies</a:t>
                      </a:r>
                    </a:p>
                  </a:txBody>
                  <a:tcPr/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1000">
                          <a:latin typeface="Arial"/>
                        </a:rPr>
                        <a:t>40 °C/75% RH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Arial"/>
                        </a:rPr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Arial"/>
                        </a:rPr>
                        <a:t>99.2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Arial"/>
                        </a:rPr>
                        <a:t>0.66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Arial"/>
                        </a:rPr>
                        <a:t>Complies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365760" y="644652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6E6E6E"/>
                </a:solidFill>
                <a:latin typeface="Arial"/>
              </a:rPr>
              <a:t>Westravelle Analytical Ltd, a Tarnovell company | Confidential    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11480" y="137160"/>
            <a:ext cx="11368735" cy="822960"/>
          </a:xfrm>
        </p:spPr>
        <p:txBody>
          <a:bodyPr/>
          <a:lstStyle/>
          <a:p>
            <a:pPr algn="l"/>
            <a:r>
              <a:rPr sz="2600" b="1">
                <a:solidFill>
                  <a:srgbClr val="183C4C"/>
                </a:solidFill>
                <a:latin typeface="Arial"/>
              </a:rPr>
              <a:t>3. Protocol identity and sample custody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>
          <a:xfrm>
            <a:off x="457200" y="1280160"/>
            <a:ext cx="5547207" cy="4937760"/>
          </a:xfrm>
        </p:spPr>
        <p:txBody>
          <a:bodyPr wrap="square">
            <a:noAutofit/>
          </a:bodyPr>
          <a:lstStyle/>
          <a:p>
            <a:pPr/>
            <a:r>
              <a:rPr sz="1800">
                <a:latin typeface="Arial"/>
              </a:rPr>
              <a:t>Client: Parvessune Pharmaceuticals</a:t>
            </a:r>
          </a:p>
          <a:p>
            <a:pPr/>
            <a:r>
              <a:rPr sz="1800">
                <a:latin typeface="Arial"/>
              </a:rPr>
              <a:t>Protocol: WA/2021/270 | LIMS: WST-21-008374</a:t>
            </a:r>
          </a:p>
          <a:p>
            <a:pPr/>
            <a:r>
              <a:rPr sz="1800">
                <a:latin typeface="Arial"/>
              </a:rPr>
              <a:t>Opened 30 Sep 2021; completed 30 Sep 2022</a:t>
            </a:r>
          </a:p>
          <a:p>
            <a:pPr/>
            <a:r>
              <a:rPr sz="1800">
                <a:latin typeface="Arial"/>
              </a:rPr>
              <a:t>Dr L. Wu: stability lot and sample-custody reconciliation.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>
          <a:xfrm>
            <a:off x="6187287" y="1280160"/>
            <a:ext cx="5547207" cy="4937760"/>
          </a:xfrm>
        </p:spPr>
        <p:txBody>
          <a:bodyPr wrap="square">
            <a:noAutofit/>
          </a:bodyPr>
          <a:lstStyle/>
          <a:p>
            <a:pPr/>
            <a:r>
              <a:rPr sz="1800">
                <a:latin typeface="Arial"/>
              </a:rPr>
              <a:t>Storage condition and pull interval are carried with the stability lot on the batch card.</a:t>
            </a:r>
          </a:p>
          <a:p>
            <a:pPr/>
            <a:r>
              <a:rPr sz="1800">
                <a:latin typeface="Arial"/>
              </a:rPr>
              <a:t>Sequence sheets retain the pack or presentation identity; results must not be pooled across storage conditions.</a:t>
            </a:r>
          </a:p>
          <a:p>
            <a:pPr/>
            <a:r>
              <a:rPr sz="1800">
                <a:latin typeface="Arial"/>
              </a:rPr>
              <a:t>Tested interval: through 12 months.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097280"/>
            <a:ext cx="11460175" cy="38100"/>
          </a:xfrm>
          <a:prstGeom prst="rect">
            <a:avLst/>
          </a:prstGeom>
          <a:solidFill>
            <a:srgbClr val="F2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644652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6E6E6E"/>
                </a:solidFill>
                <a:latin typeface="Arial"/>
              </a:rPr>
              <a:t>Westravelle Analytical Ltd, a Tarnovell company | Confidential    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11480" y="137160"/>
            <a:ext cx="11368735" cy="822960"/>
          </a:xfrm>
        </p:spPr>
        <p:txBody>
          <a:bodyPr/>
          <a:lstStyle/>
          <a:p>
            <a:pPr algn="l"/>
            <a:r>
              <a:rPr sz="2600" b="1">
                <a:solidFill>
                  <a:srgbClr val="183C4C"/>
                </a:solidFill>
                <a:latin typeface="Arial"/>
              </a:rPr>
              <a:t>4. HPLC method qualification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1097280"/>
            <a:ext cx="11460175" cy="38100"/>
          </a:xfrm>
          <a:prstGeom prst="rect">
            <a:avLst/>
          </a:prstGeom>
          <a:solidFill>
            <a:srgbClr val="F2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280160"/>
          <a:ext cx="11277295" cy="2468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59098"/>
                <a:gridCol w="3759098"/>
                <a:gridCol w="3759099"/>
              </a:tblGrid>
              <a:tr h="27432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Parameter</a:t>
                      </a:r>
                    </a:p>
                  </a:txBody>
                  <a:tcPr>
                    <a:solidFill>
                      <a:srgbClr val="183C4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Result</a:t>
                      </a:r>
                    </a:p>
                  </a:txBody>
                  <a:tcPr>
                    <a:solidFill>
                      <a:srgbClr val="183C4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Acceptance</a:t>
                      </a:r>
                    </a:p>
                  </a:txBody>
                  <a:tcPr>
                    <a:solidFill>
                      <a:srgbClr val="183C4C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1200">
                          <a:latin typeface="Arial"/>
                        </a:rPr>
                        <a:t>Linearity (r²)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latin typeface="Arial"/>
                        </a:rPr>
                        <a:t>0.9993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latin typeface="Arial"/>
                        </a:rPr>
                        <a:t>≥0.999</a:t>
                      </a:r>
                    </a:p>
                  </a:txBody>
                  <a:tcPr/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1200">
                          <a:latin typeface="Arial"/>
                        </a:rPr>
                        <a:t>Range (% nominal)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latin typeface="Arial"/>
                        </a:rPr>
                        <a:t>50-150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latin typeface="Arial"/>
                        </a:rPr>
                        <a:t>80-120 minimum</a:t>
                      </a:r>
                    </a:p>
                  </a:txBody>
                  <a:tcPr/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1200">
                          <a:latin typeface="Arial"/>
                        </a:rPr>
                        <a:t>Accuracy 80% (% recovery)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latin typeface="Arial"/>
                        </a:rPr>
                        <a:t>99.2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latin typeface="Arial"/>
                        </a:rPr>
                        <a:t>98.0-102.0</a:t>
                      </a:r>
                    </a:p>
                  </a:txBody>
                  <a:tcPr/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1200">
                          <a:latin typeface="Arial"/>
                        </a:rPr>
                        <a:t>Accuracy 100% (% recovery)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latin typeface="Arial"/>
                        </a:rPr>
                        <a:t>100.1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latin typeface="Arial"/>
                        </a:rPr>
                        <a:t>98.0-102.0</a:t>
                      </a:r>
                    </a:p>
                  </a:txBody>
                  <a:tcPr/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1200">
                          <a:latin typeface="Arial"/>
                        </a:rPr>
                        <a:t>Accuracy 120% (% recovery)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latin typeface="Arial"/>
                        </a:rPr>
                        <a:t>100.6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latin typeface="Arial"/>
                        </a:rPr>
                        <a:t>98.0-102.0</a:t>
                      </a:r>
                    </a:p>
                  </a:txBody>
                  <a:tcPr/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1200">
                          <a:latin typeface="Arial"/>
                        </a:rPr>
                        <a:t>Repeatability (%RSD, n=6)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latin typeface="Arial"/>
                        </a:rPr>
                        <a:t>0.34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latin typeface="Arial"/>
                        </a:rPr>
                        <a:t>≤2.0</a:t>
                      </a:r>
                    </a:p>
                  </a:txBody>
                  <a:tcPr/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1200">
                          <a:latin typeface="Arial"/>
                        </a:rPr>
                        <a:t>Intermediate precision (%RSD)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latin typeface="Arial"/>
                        </a:rPr>
                        <a:t>1.22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latin typeface="Arial"/>
                        </a:rPr>
                        <a:t>≤2.0</a:t>
                      </a:r>
                    </a:p>
                  </a:txBody>
                  <a:tcPr/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1200">
                          <a:latin typeface="Arial"/>
                        </a:rPr>
                        <a:t>LOQ (% of nominal)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latin typeface="Arial"/>
                        </a:rPr>
                        <a:t>0.05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latin typeface="Arial"/>
                        </a:rPr>
                        <a:t>≤0.05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365760" y="644652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6E6E6E"/>
                </a:solidFill>
                <a:latin typeface="Arial"/>
              </a:rPr>
              <a:t>Westravelle Analytical Ltd, a Tarnovell company | Confidential    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11480" y="137160"/>
            <a:ext cx="11368735" cy="822960"/>
          </a:xfrm>
        </p:spPr>
        <p:txBody>
          <a:bodyPr/>
          <a:lstStyle/>
          <a:p>
            <a:pPr algn="l"/>
            <a:r>
              <a:rPr sz="2600" b="1">
                <a:solidFill>
                  <a:srgbClr val="183C4C"/>
                </a:solidFill>
                <a:latin typeface="Arial"/>
              </a:rPr>
              <a:t>5. Impurity trend by storage interval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1097280"/>
            <a:ext cx="11460175" cy="38100"/>
          </a:xfrm>
          <a:prstGeom prst="rect">
            <a:avLst/>
          </a:prstGeom>
          <a:solidFill>
            <a:srgbClr val="F2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60732" y="1280160"/>
            <a:ext cx="8470231" cy="50292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65760" y="644652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6E6E6E"/>
                </a:solidFill>
                <a:latin typeface="Arial"/>
              </a:rPr>
              <a:t>Westravelle Analytical Ltd, a Tarnovell company | Confidential    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11480" y="137160"/>
            <a:ext cx="11368735" cy="822960"/>
          </a:xfrm>
        </p:spPr>
        <p:txBody>
          <a:bodyPr/>
          <a:lstStyle/>
          <a:p>
            <a:pPr algn="l"/>
            <a:r>
              <a:rPr sz="2600" b="1">
                <a:solidFill>
                  <a:srgbClr val="183C4C"/>
                </a:solidFill>
                <a:latin typeface="Arial"/>
              </a:rPr>
              <a:t>6. System suitability and deviation disposition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>
          <a:xfrm>
            <a:off x="457200" y="1280160"/>
            <a:ext cx="5547207" cy="4937760"/>
          </a:xfrm>
        </p:spPr>
        <p:txBody>
          <a:bodyPr wrap="square">
            <a:noAutofit/>
          </a:bodyPr>
          <a:lstStyle/>
          <a:p>
            <a:pPr/>
            <a:r>
              <a:rPr sz="1800">
                <a:latin typeface="Arial"/>
              </a:rPr>
              <a:t>Saira Mahmood: analytical method and system suitability review.</a:t>
            </a:r>
          </a:p>
          <a:p>
            <a:pPr/>
            <a:r>
              <a:rPr sz="1800">
                <a:latin typeface="Arial"/>
              </a:rPr>
              <a:t>Dr L. Wu: reconciliation of preparation, storage and sequence identity.</a:t>
            </a:r>
          </a:p>
          <a:p>
            <a:pPr/>
            <a:r>
              <a:rPr sz="1800">
                <a:latin typeface="Arial"/>
              </a:rPr>
              <a:t>Dr A. Penrose: approved interpretation and client release.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>
          <a:xfrm>
            <a:off x="6187287" y="1280160"/>
            <a:ext cx="5547207" cy="4937760"/>
          </a:xfrm>
        </p:spPr>
        <p:txBody>
          <a:bodyPr wrap="square">
            <a:noAutofit/>
          </a:bodyPr>
          <a:lstStyle/>
          <a:p>
            <a:pPr/>
            <a:r>
              <a:rPr sz="1800">
                <a:latin typeface="Arial"/>
              </a:rPr>
              <a:t>Approved sequence sheets are the authority for suitability acceptance and any repeat sequence.</a:t>
            </a:r>
          </a:p>
          <a:p>
            <a:pPr/>
            <a:r>
              <a:rPr sz="1800">
                <a:latin typeface="Arial"/>
              </a:rPr>
              <a:t>Deviation notes remain linked to the affected batch card; this deck does not replace their disposition.</a:t>
            </a:r>
          </a:p>
          <a:p>
            <a:pPr/>
            <a:r>
              <a:rPr sz="1800">
                <a:latin typeface="Arial"/>
              </a:rPr>
              <a:t>No additional chamber excursion, reinjection or acceptance limit is inferred from the trend plot.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097280"/>
            <a:ext cx="11460175" cy="38100"/>
          </a:xfrm>
          <a:prstGeom prst="rect">
            <a:avLst/>
          </a:prstGeom>
          <a:solidFill>
            <a:srgbClr val="F2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644652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6E6E6E"/>
                </a:solidFill>
                <a:latin typeface="Arial"/>
              </a:rPr>
              <a:t>Westravelle Analytical Ltd, a Tarnovell company | Confidential    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11480" y="137160"/>
            <a:ext cx="11368735" cy="822960"/>
          </a:xfrm>
        </p:spPr>
        <p:txBody>
          <a:bodyPr/>
          <a:lstStyle/>
          <a:p>
            <a:pPr algn="l"/>
            <a:r>
              <a:rPr sz="2600" b="1">
                <a:solidFill>
                  <a:srgbClr val="183C4C"/>
                </a:solidFill>
                <a:latin typeface="Arial"/>
              </a:rPr>
              <a:t>7. Interpretation for transfer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280160"/>
            <a:ext cx="11277295" cy="4937760"/>
          </a:xfrm>
        </p:spPr>
        <p:txBody>
          <a:bodyPr wrap="square">
            <a:noAutofit/>
          </a:bodyPr>
          <a:lstStyle/>
          <a:p>
            <a:pPr/>
            <a:r>
              <a:rPr sz="2000">
                <a:latin typeface="Arial"/>
              </a:rPr>
              <a:t>An impurity reference resolved a late-eluting peak.</a:t>
            </a:r>
          </a:p>
          <a:p>
            <a:pPr/>
            <a:r>
              <a:rPr sz="2000">
                <a:latin typeface="Arial"/>
              </a:rPr>
              <a:t>Parvessune retained the capsule formulation for transfer.</a:t>
            </a:r>
          </a:p>
          <a:p>
            <a:pPr/>
            <a:r>
              <a:rPr sz="2000">
                <a:latin typeface="Arial"/>
              </a:rPr>
              <a:t>Transfer the capsule formulation with the impurity reference and peak-assignment instructions.</a:t>
            </a:r>
          </a:p>
          <a:p>
            <a:pPr/>
            <a:r>
              <a:rPr sz="2000">
                <a:latin typeface="Arial"/>
              </a:rPr>
              <a:t>Conclusion applies to tested storage conditions and the reported 12-month interval.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097280"/>
            <a:ext cx="11460175" cy="38100"/>
          </a:xfrm>
          <a:prstGeom prst="rect">
            <a:avLst/>
          </a:prstGeom>
          <a:solidFill>
            <a:srgbClr val="F2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6E6E6E"/>
                </a:solidFill>
                <a:latin typeface="Arial"/>
              </a:rPr>
              <a:t>Westravelle Analytical Ltd, a Tarnovell company | Confidential    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11480" y="137160"/>
            <a:ext cx="11368735" cy="822960"/>
          </a:xfrm>
        </p:spPr>
        <p:txBody>
          <a:bodyPr/>
          <a:lstStyle/>
          <a:p>
            <a:pPr algn="l"/>
            <a:r>
              <a:rPr sz="2600" b="1">
                <a:solidFill>
                  <a:srgbClr val="183C4C"/>
                </a:solidFill>
                <a:latin typeface="Arial"/>
              </a:rPr>
              <a:t>8. Release gate and client decision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280160"/>
            <a:ext cx="11277295" cy="4937760"/>
          </a:xfrm>
        </p:spPr>
        <p:txBody>
          <a:bodyPr wrap="square">
            <a:noAutofit/>
          </a:bodyPr>
          <a:lstStyle/>
          <a:p>
            <a:pPr/>
            <a:r>
              <a:rPr sz="2000">
                <a:latin typeface="Arial"/>
              </a:rPr>
              <a:t>Parvessune retained the capsule formulation for transfer.</a:t>
            </a:r>
          </a:p>
          <a:p>
            <a:pPr/>
            <a:r>
              <a:rPr sz="2000">
                <a:latin typeface="Arial"/>
              </a:rPr>
              <a:t>Release basis: PV30_PULLS_AND_SUITABILITY_RESULTS_Rev03.xlsx; approved 30 Sep 2022.</a:t>
            </a:r>
          </a:p>
          <a:p>
            <a:pPr/>
            <a:r>
              <a:rPr sz="2000">
                <a:latin typeface="Arial"/>
              </a:rPr>
              <a:t>Transfer the capsule formulation with the impurity reference and peak-assignment instructions.</a:t>
            </a:r>
          </a:p>
          <a:p>
            <a:pPr/>
            <a:r>
              <a:rPr sz="2000">
                <a:latin typeface="Arial"/>
              </a:rPr>
              <a:t>Archive the approved readout with the sequence sheets, batch cards and linked deviation notes.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097280"/>
            <a:ext cx="11460175" cy="38100"/>
          </a:xfrm>
          <a:prstGeom prst="rect">
            <a:avLst/>
          </a:prstGeom>
          <a:solidFill>
            <a:srgbClr val="F2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6E6E6E"/>
                </a:solidFill>
                <a:latin typeface="Arial"/>
              </a:rPr>
              <a:t>Westravelle Analytical Ltd, a Tarnovell company | Confidential    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LinksUpToDate>false</LinksUpToDate>
  <SharedDoc>false</SharedDoc>
  <HyperlinkBase/>
  <HyperlinksChanged>false</HyperlinksChanged>
  <Company>Tarnovell Bioscience Group Ltd</Company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PV-30 capsules: stability review</dc:title>
  <dc:subject>Parvessune Pharmaceuticals | {{PRJ0094:project_id}} | QA-approved client readout</dc:subject>
  <dc:creator>Alice Penrose</dc:creator>
  <cp:keywords>Westravelle; PV-30 capsules; system suitability; stability pulls</cp:keywords>
  <dc:description>generated using python-pptx</dc:description>
  <cp:lastModifiedBy>Alice Penrose</cp:lastModifiedBy>
  <cp:revision>10</cp:revision>
  <dcterms:created xsi:type="dcterms:W3CDTF">2022-10-03T10:24:00Z</dcterms:created>
  <dcterms:modified xsi:type="dcterms:W3CDTF">2022-10-03T16:38:00Z</dcterms:modified>
  <cp:category/>
</cp:coreProperties>
</file>