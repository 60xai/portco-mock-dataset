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Trainees often confuse the two. Walk through the difference on slide 5 before they start on the 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window values live in the current protocol, not in this deck. Quote the protocol revision on the batch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average the rejected plate into the repeat. Keep both on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Saira Mahmood and Mark Campbell have agreed the wording of this slide. Check the current version of the protocol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Plate acceptance: training reference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Westravelle Analytical Ltd, a Tarnovell company | QA training | Reference copy, September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1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Plate acceptance decides whether a screening plate can be used for reporting at all</a:t>
            </a:r>
          </a:p>
          <a:p>
            <a:pPr/>
            <a:r>
              <a:rPr sz="2000">
                <a:latin typeface="Arial"/>
              </a:rPr>
              <a:t>It is checked before any compound well is read</a:t>
            </a:r>
          </a:p>
          <a:p>
            <a:pPr/>
            <a:r>
              <a:rPr sz="2000">
                <a:latin typeface="Arial"/>
              </a:rPr>
              <a:t>It is separate from system suitability, which applies to the chromatographic runs in the stability programme</a:t>
            </a:r>
          </a:p>
          <a:p>
            <a:pPr lvl="1"/>
            <a:r>
              <a:rPr sz="1700">
                <a:latin typeface="Arial"/>
              </a:rPr>
              <a:t>Both are recorded on the batch card; neither replaces the other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2 Plate acceptance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Check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is looked at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Action if it fails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Control wells 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Each control type is in the positions set in the plate map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Do not read; raise a deviation note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Positive control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Signal sits inside the window set in the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Do not read; repeat the plate once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Negative control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Background is low and flat across the 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Check reagent make-up and washing before any repeat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Edge wells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No drift from the outer rows and columns that is wider than the protocol allows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Note on the batch card; read only if the protocol permits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Z' for the 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Calculated from the control wells as stated in the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Plate rejected; no partial reporting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3 Controls and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Controls go in the positions shown on the plate map</a:t>
            </a:r>
          </a:p>
          <a:p>
            <a:pPr/>
            <a:r>
              <a:rPr sz="1800">
                <a:latin typeface="Arial"/>
              </a:rPr>
              <a:t>Do not move a control to rescue a plate</a:t>
            </a:r>
          </a:p>
          <a:p>
            <a:pPr/>
            <a:r>
              <a:rPr sz="1800">
                <a:latin typeface="Arial"/>
              </a:rPr>
              <a:t>Plate map is printed and filed with the batch card</a:t>
            </a:r>
          </a:p>
          <a:p>
            <a:pPr/>
            <a:r>
              <a:rPr sz="1800">
                <a:latin typeface="Arial"/>
              </a:rPr>
              <a:t>Replicate wells follow the layout in the protocol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Edge effects are looked at on every plate, not just new ones</a:t>
            </a:r>
          </a:p>
          <a:p>
            <a:pPr/>
            <a:r>
              <a:rPr sz="1800">
                <a:latin typeface="Arial"/>
              </a:rPr>
              <a:t>Column 1 and 24 are used for controls only where the protocol says so</a:t>
            </a:r>
          </a:p>
          <a:p>
            <a:pPr/>
            <a:r>
              <a:rPr sz="1800">
                <a:latin typeface="Arial"/>
              </a:rPr>
              <a:t>A plate with a missing control is not partly 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4 Failed 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A failed plate is marked on the batch card and not deleted</a:t>
            </a:r>
          </a:p>
          <a:p>
            <a:pPr/>
            <a:r>
              <a:rPr sz="2000">
                <a:latin typeface="Arial"/>
              </a:rPr>
              <a:t>Raise a deviation note for every rejected plate, giving the plate ID and the check that failed</a:t>
            </a:r>
          </a:p>
          <a:p>
            <a:pPr/>
            <a:r>
              <a:rPr sz="2000">
                <a:latin typeface="Arial"/>
              </a:rPr>
              <a:t>One repeat is allowed where the protocol allows it; the repeat is recorded as a new plate</a:t>
            </a:r>
          </a:p>
          <a:p>
            <a:pPr/>
            <a:r>
              <a:rPr sz="2000">
                <a:latin typeface="Arial"/>
              </a:rPr>
              <a:t>Two failures on the same compound set go to the QC method validation lead before any further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5 Plate acceptance and system suitability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Plate acceptance is applied to each screening plate before reading</a:t>
            </a:r>
          </a:p>
          <a:p>
            <a:pPr/>
            <a:r>
              <a:rPr sz="2000">
                <a:latin typeface="Arial"/>
              </a:rPr>
              <a:t>System suitability is applied to each chromatographic sequence before sample results are released</a:t>
            </a:r>
          </a:p>
          <a:p>
            <a:pPr/>
            <a:r>
              <a:rPr sz="2000">
                <a:latin typeface="Arial"/>
              </a:rPr>
              <a:t>A passing plate does not show that the instrument was suitable on the day, and a passing sequence does not accept a plate</a:t>
            </a:r>
          </a:p>
          <a:p>
            <a:pPr lvl="1"/>
            <a:r>
              <a:rPr sz="1700">
                <a:latin typeface="Arial"/>
              </a:rPr>
              <a:t>Sequence sheets carry the system suitability entries; plate maps carry the plate acceptance entries</a:t>
            </a:r>
          </a:p>
          <a:p>
            <a:pPr/>
            <a:r>
              <a:rPr sz="2000">
                <a:latin typeface="Arial"/>
              </a:rPr>
              <a:t>Both are signed by the analyst and checked by a second person before the batch card is closed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Westravelle Analytical Ltd, a Tarnovell company | Confidential 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 acceptance: training reference</dc:title>
  <dc:subject>QA training</dc:subject>
  <dc:creator>Carla Smith</dc:creator>
  <cp:keywords>plate acceptance; controls; system suitability; training</cp:keywords>
  <dc:description>generated using python-pptx</dc:description>
  <cp:lastModifiedBy>Carla Smith</cp:lastModifiedBy>
  <cp:revision>1</cp:revision>
  <dcterms:created xsi:type="dcterms:W3CDTF">2024-09-19T10:24:00Z</dcterms:created>
  <dcterms:modified xsi:type="dcterms:W3CDTF">2024-09-19T16:38:00Z</dcterms:modified>
  <cp:category/>
</cp:coreProperties>
</file>