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current protocol and method alongside this training. This deck defines the handover decisions; it does not create new pull windows or method limits.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ICH chamber programme is tied to a condition and an interval. Similar container appearance does not justify substituting another stability lot. Retain the actual event history if the planned pull cannot proceed.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convert a discrepancy into an assumed count. Keep the stability lot, condition and interval together through aliquoting. Actual quantities belong in the record; this training does not prescribe a universal pull quantity.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completed form is useful only if the links are correct. Record any discrepancy factually and preserve the original handover entries.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trainee to identify the denominator before interpreting a value. Do not subtract impurity area percent from assay percent label claim to create an invented mass balance. Each endpoint uses its authorized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Criteria belong to the approved HPLC method qualification or Assay and related-substances validation documentation. Do not invent common numerical thresholds across methods. Preserve chromatograms and integration history.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later passing injection does not erase the earlier failure. Define the affected interval and what the investigation supports. Avoid selecting only a passing repeat without resolving the cause and reportability.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infer shelf life from an isolated pull or claim that an untested storage condition is supported. A report may state a limitation or pending investigation; commercial urgency does not change suitability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trainee which record they would preserve and who they would contact. Valerie Turner records training completion in the local quality records. Rev04 is final as of 11 Apr 2025.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731520" y="2057400"/>
            <a:ext cx="10728655" cy="1463040"/>
          </a:xfrm>
        </p:spPr>
        <p:txBody>
          <a:bodyPr/>
          <a:lstStyle/>
          <a:p>
            <a:r>
              <a:rPr sz="4000" b="1">
                <a:solidFill>
                  <a:srgbClr val="FFFFFF"/>
                </a:solidFill>
                <a:latin typeface="Arial"/>
              </a:rPr>
              <a:t>Pull handover and system suitability</a:t>
            </a:r>
          </a:p>
        </p:txBody>
      </p:sp>
      <p:sp>
        <p:nvSpPr>
          <p:cNvPr id="3" name="Subtitle 2"/>
          <p:cNvSpPr>
            <a:spLocks noGrp="1"/>
          </p:cNvSpPr>
          <p:nvPr>
            <p:ph type="subTitle" idx="1"/>
          </p:nvPr>
        </p:nvSpPr>
        <p:spPr>
          <a:xfrm>
            <a:off x="731520" y="3611880"/>
            <a:ext cx="10728655" cy="1097280"/>
          </a:xfrm>
        </p:spPr>
        <p:txBody>
          <a:bodyPr/>
          <a:lstStyle/>
          <a:p>
            <a:r>
              <a:rPr sz="2000">
                <a:solidFill>
                  <a:srgbClr val="EBEBEB"/>
                </a:solidFill>
                <a:latin typeface="Arial"/>
              </a:rPr>
              <a:t>Westravelle Analytical Ltd, a Tarnovell company | Rev04 | 11 Apr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1. Before a Stability pull</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Leon Wu confirms the protocol, stability lot, condition and scheduled interval.</a:t>
            </a:r>
          </a:p>
          <a:p>
            <a:pPr/>
            <a:r>
              <a:rPr sz="2000">
                <a:latin typeface="Arial"/>
              </a:rPr>
              <a:t>Check the chamber location and batch card before removing material.</a:t>
            </a:r>
          </a:p>
          <a:p>
            <a:pPr/>
            <a:r>
              <a:rPr sz="2000">
                <a:latin typeface="Arial"/>
              </a:rPr>
              <a:t>Record actual removal date and time, chamber condition in °C and any storage excursion.</a:t>
            </a:r>
          </a:p>
          <a:p>
            <a:pPr/>
            <a:r>
              <a:rPr sz="2000">
                <a:latin typeface="Arial"/>
              </a:rPr>
              <a:t>Use the approved pull window; escalate a missed window instead of backdating the pull.</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2. Handover is a reconciliation</a:t>
            </a:r>
          </a:p>
        </p:txBody>
      </p:sp>
      <p:sp>
        <p:nvSpPr>
          <p:cNvPr id="3" name="Content Placeholder 2"/>
          <p:cNvSpPr>
            <a:spLocks noGrp="1"/>
          </p:cNvSpPr>
          <p:nvPr>
            <p:ph idx="1" sz="half"/>
          </p:nvPr>
        </p:nvSpPr>
        <p:spPr>
          <a:xfrm>
            <a:off x="457200" y="1280160"/>
            <a:ext cx="5547207" cy="4937760"/>
          </a:xfrm>
        </p:spPr>
        <p:txBody>
          <a:bodyPr wrap="square">
            <a:noAutofit/>
          </a:bodyPr>
          <a:lstStyle/>
          <a:p>
            <a:pPr/>
            <a:r>
              <a:rPr sz="1800">
                <a:latin typeface="Arial"/>
              </a:rPr>
              <a:t>Match container labels to the batch card and pull instruction.</a:t>
            </a:r>
          </a:p>
          <a:p>
            <a:pPr/>
            <a:r>
              <a:rPr sz="1800">
                <a:latin typeface="Arial"/>
              </a:rPr>
              <a:t>Record units removed, retained, transferred and consumed.</a:t>
            </a:r>
          </a:p>
          <a:p>
            <a:pPr/>
            <a:r>
              <a:rPr sz="1800">
                <a:latin typeface="Arial"/>
              </a:rPr>
              <a:t>Identify storage conditions and the destination of every transfer.</a:t>
            </a:r>
          </a:p>
        </p:txBody>
      </p:sp>
      <p:sp>
        <p:nvSpPr>
          <p:cNvPr id="4" name="Content Placeholder 3"/>
          <p:cNvSpPr>
            <a:spLocks noGrp="1"/>
          </p:cNvSpPr>
          <p:nvPr>
            <p:ph idx="2" sz="half"/>
          </p:nvPr>
        </p:nvSpPr>
        <p:spPr>
          <a:xfrm>
            <a:off x="6187287" y="1280160"/>
            <a:ext cx="5547207" cy="4937760"/>
          </a:xfrm>
        </p:spPr>
        <p:txBody>
          <a:bodyPr wrap="square">
            <a:noAutofit/>
          </a:bodyPr>
          <a:lstStyle/>
          <a:p>
            <a:pPr/>
            <a:r>
              <a:rPr sz="1800">
                <a:latin typeface="Arial"/>
              </a:rPr>
              <a:t>Denis Miller reconciles receipt against the handover record.</a:t>
            </a:r>
          </a:p>
          <a:p>
            <a:pPr/>
            <a:r>
              <a:rPr sz="1800">
                <a:latin typeface="Arial"/>
              </a:rPr>
              <a:t>Resolve a missing, damaged or mismatched container before preparation.</a:t>
            </a:r>
          </a:p>
          <a:p>
            <a:pPr/>
            <a:r>
              <a:rPr sz="1800">
                <a:latin typeface="Arial"/>
              </a:rPr>
              <a:t>Both sides record the handover; do not rely on an unlogged verbal exchange.</a:t>
            </a:r>
          </a:p>
        </p:txBody>
      </p:sp>
      <p:sp>
        <p:nvSpPr>
          <p:cNvPr id="5" name="Rectangle 4"/>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3. Minimum handover record</a:t>
            </a:r>
          </a:p>
        </p:txBody>
      </p:sp>
      <p:sp>
        <p:nvSpPr>
          <p:cNvPr id="3" name="Rectangle 2"/>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280160"/>
          <a:ext cx="11277295" cy="1645920"/>
        </p:xfrm>
        <a:graphic>
          <a:graphicData uri="http://schemas.openxmlformats.org/drawingml/2006/table">
            <a:tbl>
              <a:tblPr firstRow="1" bandRow="1">
                <a:tableStyleId>{5C22544A-7EE6-4342-B048-85BDC9FD1C3A}</a:tableStyleId>
              </a:tblPr>
              <a:tblGrid>
                <a:gridCol w="3759098"/>
                <a:gridCol w="3759098"/>
                <a:gridCol w="3759099"/>
              </a:tblGrid>
              <a:tr h="274320">
                <a:tc>
                  <a:txBody>
                    <a:bodyPr/>
                    <a:lstStyle/>
                    <a:p>
                      <a:r>
                        <a:rPr sz="1400" b="1">
                          <a:solidFill>
                            <a:srgbClr val="FFFFFF"/>
                          </a:solidFill>
                          <a:latin typeface="Arial"/>
                        </a:rPr>
                        <a:t>Record field</a:t>
                      </a:r>
                    </a:p>
                  </a:txBody>
                  <a:tcPr>
                    <a:solidFill>
                      <a:srgbClr val="183C4C"/>
                    </a:solidFill>
                  </a:tcPr>
                </a:tc>
                <a:tc>
                  <a:txBody>
                    <a:bodyPr/>
                    <a:lstStyle/>
                    <a:p>
                      <a:r>
                        <a:rPr sz="1400" b="1">
                          <a:solidFill>
                            <a:srgbClr val="FFFFFF"/>
                          </a:solidFill>
                          <a:latin typeface="Arial"/>
                        </a:rPr>
                        <a:t>Required link</a:t>
                      </a:r>
                    </a:p>
                  </a:txBody>
                  <a:tcPr>
                    <a:solidFill>
                      <a:srgbClr val="183C4C"/>
                    </a:solidFill>
                  </a:tcPr>
                </a:tc>
                <a:tc>
                  <a:txBody>
                    <a:bodyPr/>
                    <a:lstStyle/>
                    <a:p>
                      <a:r>
                        <a:rPr sz="1400" b="1">
                          <a:solidFill>
                            <a:srgbClr val="FFFFFF"/>
                          </a:solidFill>
                          <a:latin typeface="Arial"/>
                        </a:rPr>
                        <a:t>Stop and escalate when</a:t>
                      </a:r>
                    </a:p>
                  </a:txBody>
                  <a:tcPr>
                    <a:solidFill>
                      <a:srgbClr val="183C4C"/>
                    </a:solidFill>
                  </a:tcPr>
                </a:tc>
              </a:tr>
              <a:tr h="274320">
                <a:tc>
                  <a:txBody>
                    <a:bodyPr/>
                    <a:lstStyle/>
                    <a:p>
                      <a:r>
                        <a:rPr sz="1400">
                          <a:latin typeface="Arial"/>
                        </a:rPr>
                        <a:t>Identity</a:t>
                      </a:r>
                    </a:p>
                  </a:txBody>
                  <a:tcPr/>
                </a:tc>
                <a:tc>
                  <a:txBody>
                    <a:bodyPr/>
                    <a:lstStyle/>
                    <a:p>
                      <a:r>
                        <a:rPr sz="1400">
                          <a:latin typeface="Arial"/>
                        </a:rPr>
                        <a:t>Protocol; stability lot; batch card</a:t>
                      </a:r>
                    </a:p>
                  </a:txBody>
                  <a:tcPr/>
                </a:tc>
                <a:tc>
                  <a:txBody>
                    <a:bodyPr/>
                    <a:lstStyle/>
                    <a:p>
                      <a:r>
                        <a:rPr sz="1400">
                          <a:latin typeface="Arial"/>
                        </a:rPr>
                        <a:t>Label and instruction disagree</a:t>
                      </a:r>
                    </a:p>
                  </a:txBody>
                  <a:tcPr/>
                </a:tc>
              </a:tr>
              <a:tr h="274320">
                <a:tc>
                  <a:txBody>
                    <a:bodyPr/>
                    <a:lstStyle/>
                    <a:p>
                      <a:r>
                        <a:rPr sz="1400">
                          <a:latin typeface="Arial"/>
                        </a:rPr>
                        <a:t>Storage</a:t>
                      </a:r>
                    </a:p>
                  </a:txBody>
                  <a:tcPr/>
                </a:tc>
                <a:tc>
                  <a:txBody>
                    <a:bodyPr/>
                    <a:lstStyle/>
                    <a:p>
                      <a:r>
                        <a:rPr sz="1400">
                          <a:latin typeface="Arial"/>
                        </a:rPr>
                        <a:t>Condition; interval; chamber location</a:t>
                      </a:r>
                    </a:p>
                  </a:txBody>
                  <a:tcPr/>
                </a:tc>
                <a:tc>
                  <a:txBody>
                    <a:bodyPr/>
                    <a:lstStyle/>
                    <a:p>
                      <a:r>
                        <a:rPr sz="1400">
                          <a:latin typeface="Arial"/>
                        </a:rPr>
                        <a:t>Excursion or location is unresolved</a:t>
                      </a:r>
                    </a:p>
                  </a:txBody>
                  <a:tcPr/>
                </a:tc>
              </a:tr>
              <a:tr h="274320">
                <a:tc>
                  <a:txBody>
                    <a:bodyPr/>
                    <a:lstStyle/>
                    <a:p>
                      <a:r>
                        <a:rPr sz="1400">
                          <a:latin typeface="Arial"/>
                        </a:rPr>
                        <a:t>Quantity</a:t>
                      </a:r>
                    </a:p>
                  </a:txBody>
                  <a:tcPr/>
                </a:tc>
                <a:tc>
                  <a:txBody>
                    <a:bodyPr/>
                    <a:lstStyle/>
                    <a:p>
                      <a:r>
                        <a:rPr sz="1400">
                          <a:latin typeface="Arial"/>
                        </a:rPr>
                        <a:t>Removed; transferred; retained; consumed</a:t>
                      </a:r>
                    </a:p>
                  </a:txBody>
                  <a:tcPr/>
                </a:tc>
                <a:tc>
                  <a:txBody>
                    <a:bodyPr/>
                    <a:lstStyle/>
                    <a:p>
                      <a:r>
                        <a:rPr sz="1400">
                          <a:latin typeface="Arial"/>
                        </a:rPr>
                        <a:t>Reconciliation is incomplete</a:t>
                      </a:r>
                    </a:p>
                  </a:txBody>
                  <a:tcPr/>
                </a:tc>
              </a:tr>
              <a:tr h="274320">
                <a:tc>
                  <a:txBody>
                    <a:bodyPr/>
                    <a:lstStyle/>
                    <a:p>
                      <a:r>
                        <a:rPr sz="1400">
                          <a:latin typeface="Arial"/>
                        </a:rPr>
                        <a:t>Handling</a:t>
                      </a:r>
                    </a:p>
                  </a:txBody>
                  <a:tcPr/>
                </a:tc>
                <a:tc>
                  <a:txBody>
                    <a:bodyPr/>
                    <a:lstStyle/>
                    <a:p>
                      <a:r>
                        <a:rPr sz="1400">
                          <a:latin typeface="Arial"/>
                        </a:rPr>
                        <a:t>Removal time; transport; receipt; interim storage</a:t>
                      </a:r>
                    </a:p>
                  </a:txBody>
                  <a:tcPr/>
                </a:tc>
                <a:tc>
                  <a:txBody>
                    <a:bodyPr/>
                    <a:lstStyle/>
                    <a:p>
                      <a:r>
                        <a:rPr sz="1400">
                          <a:latin typeface="Arial"/>
                        </a:rPr>
                        <a:t>Required history is missing</a:t>
                      </a:r>
                    </a:p>
                  </a:txBody>
                  <a:tcPr/>
                </a:tc>
              </a:tr>
              <a:tr h="274320">
                <a:tc>
                  <a:txBody>
                    <a:bodyPr/>
                    <a:lstStyle/>
                    <a:p>
                      <a:r>
                        <a:rPr sz="1400">
                          <a:latin typeface="Arial"/>
                        </a:rPr>
                        <a:t>Analysis</a:t>
                      </a:r>
                    </a:p>
                  </a:txBody>
                  <a:tcPr/>
                </a:tc>
                <a:tc>
                  <a:txBody>
                    <a:bodyPr/>
                    <a:lstStyle/>
                    <a:p>
                      <a:r>
                        <a:rPr sz="1400">
                          <a:latin typeface="Arial"/>
                        </a:rPr>
                        <a:t>Method; sequence sheet; analyst</a:t>
                      </a:r>
                    </a:p>
                  </a:txBody>
                  <a:tcPr/>
                </a:tc>
                <a:tc>
                  <a:txBody>
                    <a:bodyPr/>
                    <a:lstStyle/>
                    <a:p>
                      <a:r>
                        <a:rPr sz="1400">
                          <a:latin typeface="Arial"/>
                        </a:rPr>
                        <a:t>Preparation cannot be linked to the pull</a:t>
                      </a:r>
                    </a:p>
                  </a:txBody>
                  <a:tcPr/>
                </a:tc>
              </a:tr>
            </a:tbl>
          </a:graphicData>
        </a:graphic>
      </p:graphicFrame>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4. Percent label claim is not area percent</a:t>
            </a:r>
          </a:p>
        </p:txBody>
      </p:sp>
      <p:sp>
        <p:nvSpPr>
          <p:cNvPr id="3" name="Content Placeholder 2"/>
          <p:cNvSpPr>
            <a:spLocks noGrp="1"/>
          </p:cNvSpPr>
          <p:nvPr>
            <p:ph idx="1" sz="half"/>
          </p:nvPr>
        </p:nvSpPr>
        <p:spPr>
          <a:xfrm>
            <a:off x="457200" y="1280160"/>
            <a:ext cx="5547207" cy="4937760"/>
          </a:xfrm>
        </p:spPr>
        <p:txBody>
          <a:bodyPr wrap="square">
            <a:noAutofit/>
          </a:bodyPr>
          <a:lstStyle/>
          <a:p>
            <a:pPr/>
            <a:r>
              <a:rPr sz="1800">
                <a:latin typeface="Arial"/>
              </a:rPr>
              <a:t>Assay: report as percent label claim.</a:t>
            </a:r>
          </a:p>
          <a:p>
            <a:pPr/>
            <a:r>
              <a:rPr sz="1800">
                <a:latin typeface="Arial"/>
              </a:rPr>
              <a:t>Reference-standard basis, preparation and dilution support the assay calculation.</a:t>
            </a:r>
          </a:p>
          <a:p>
            <a:pPr/>
            <a:r>
              <a:rPr sz="1800">
                <a:latin typeface="Arial"/>
              </a:rPr>
              <a:t>The denominator is the stated label claim, with the method-defined corrections.</a:t>
            </a:r>
          </a:p>
        </p:txBody>
      </p:sp>
      <p:sp>
        <p:nvSpPr>
          <p:cNvPr id="4" name="Content Placeholder 3"/>
          <p:cNvSpPr>
            <a:spLocks noGrp="1"/>
          </p:cNvSpPr>
          <p:nvPr>
            <p:ph idx="2" sz="half"/>
          </p:nvPr>
        </p:nvSpPr>
        <p:spPr>
          <a:xfrm>
            <a:off x="6187287" y="1280160"/>
            <a:ext cx="5547207" cy="4937760"/>
          </a:xfrm>
        </p:spPr>
        <p:txBody>
          <a:bodyPr wrap="square">
            <a:noAutofit/>
          </a:bodyPr>
          <a:lstStyle/>
          <a:p>
            <a:pPr/>
            <a:r>
              <a:rPr sz="1800">
                <a:latin typeface="Arial"/>
              </a:rPr>
              <a:t>Related substances: report as area percent where the method specifies it.</a:t>
            </a:r>
          </a:p>
          <a:p>
            <a:pPr/>
            <a:r>
              <a:rPr sz="1800">
                <a:latin typeface="Arial"/>
              </a:rPr>
              <a:t>Peak integration and method-defined response treatment support the impurity result.</a:t>
            </a:r>
          </a:p>
          <a:p>
            <a:pPr/>
            <a:r>
              <a:rPr sz="1800">
                <a:latin typeface="Arial"/>
              </a:rPr>
              <a:t>Area percent does not automatically equal mass percent or percent label claim.</a:t>
            </a:r>
          </a:p>
        </p:txBody>
      </p:sp>
      <p:sp>
        <p:nvSpPr>
          <p:cNvPr id="5" name="Rectangle 4"/>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5. System suitability comes first</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Saira Mahmood confirms the method-specific suitability criteria.</a:t>
            </a:r>
          </a:p>
          <a:p>
            <a:pPr/>
            <a:r>
              <a:rPr sz="2000">
                <a:latin typeface="Arial"/>
              </a:rPr>
              <a:t>Sequence sheets identify standards, blanks, suitability injections and sample preparations.</a:t>
            </a:r>
          </a:p>
          <a:p>
            <a:pPr/>
            <a:r>
              <a:rPr sz="2000">
                <a:latin typeface="Arial"/>
              </a:rPr>
              <a:t>Assess the required suitability responses before interpreting stability samples.</a:t>
            </a:r>
          </a:p>
          <a:p>
            <a:pPr/>
            <a:r>
              <a:rPr sz="2000">
                <a:latin typeface="Arial"/>
              </a:rPr>
              <a:t>Check continuing suitability where the method requires it; an acceptable start does not guarantee the whole sequence.</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6. When suitability fails</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Hold affected sample interpretation and client conclusions.</a:t>
            </a:r>
          </a:p>
          <a:p>
            <a:pPr/>
            <a:r>
              <a:rPr sz="2000">
                <a:latin typeface="Arial"/>
              </a:rPr>
              <a:t>Record the failed criterion, sequence position and potentially affected samples.</a:t>
            </a:r>
          </a:p>
          <a:p>
            <a:pPr/>
            <a:r>
              <a:rPr sz="2000">
                <a:latin typeface="Arial"/>
              </a:rPr>
              <a:t>Notify Saira Mahmood and Valerie Turner; open a factual deviation note.</a:t>
            </a:r>
          </a:p>
          <a:p>
            <a:pPr/>
            <a:r>
              <a:rPr sz="2000">
                <a:latin typeface="Arial"/>
              </a:rPr>
              <a:t>Investigate preparation, instrument response and sequence events before deciding on repeat work.</a:t>
            </a:r>
          </a:p>
          <a:p>
            <a:pPr/>
            <a:r>
              <a:rPr sz="2000">
                <a:latin typeface="Arial"/>
              </a:rPr>
              <a:t>Retain the original sequence and document the rationale for any reinjection or fresh preparation.</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7. Release gate and client interpretation</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Confirm identity and quantity reconciliation are complete.</a:t>
            </a:r>
          </a:p>
          <a:p>
            <a:pPr/>
            <a:r>
              <a:rPr sz="2000">
                <a:latin typeface="Arial"/>
              </a:rPr>
              <a:t>Confirm system suitability and calculation review for each reported endpoint.</a:t>
            </a:r>
          </a:p>
          <a:p>
            <a:pPr/>
            <a:r>
              <a:rPr sz="2000">
                <a:latin typeface="Arial"/>
              </a:rPr>
              <a:t>Assess deviations and storage excursions with their effect on interpretation.</a:t>
            </a:r>
          </a:p>
          <a:p>
            <a:pPr/>
            <a:r>
              <a:rPr sz="2000">
                <a:latin typeface="Arial"/>
              </a:rPr>
              <a:t>Keep conclusions within the tested condition and interval.</a:t>
            </a:r>
          </a:p>
          <a:p>
            <a:pPr/>
            <a:r>
              <a:rPr sz="2000">
                <a:latin typeface="Arial"/>
              </a:rPr>
              <a:t>Alice Penrose resolves scientific reporting questions; QA records the release decision.</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8. Handover exercise: make the next decision</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A label differs from the pull instruction: hold preparation and reconcile the batch card.</a:t>
            </a:r>
          </a:p>
          <a:p>
            <a:pPr/>
            <a:r>
              <a:rPr sz="2000">
                <a:latin typeface="Arial"/>
              </a:rPr>
              <a:t>A related-substances result is described as percent label claim: correct the endpoint and calculation basis before release.</a:t>
            </a:r>
          </a:p>
          <a:p>
            <a:pPr/>
            <a:r>
              <a:rPr sz="2000">
                <a:latin typeface="Arial"/>
              </a:rPr>
              <a:t>Suitability fails after samples begin: define the affected sequence interval and escalate.</a:t>
            </a:r>
          </a:p>
          <a:p>
            <a:pPr/>
            <a:r>
              <a:rPr sz="2000">
                <a:latin typeface="Arial"/>
              </a:rPr>
              <a:t>A client asks for a later interval: state what has been tested and scope the next pull.</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Westravelle Analytical Ltd, a Tarnovell company | Confidential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LinksUpToDate>false</LinksUpToDate>
  <SharedDoc>false</SharedDoc>
  <HyperlinkBase/>
  <HyperlinksChanged>false</HyperlinksChanged>
  <Company>Tarnovell Bioscience Group Ltd</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Pull handover and system suitability Rev04</dc:title>
  <dc:subject>Quality training</dc:subject>
  <dc:creator>Valerie Turner</dc:creator>
  <cp:keywords>stability; handover; system suitability; percent label claim; area percent</cp:keywords>
  <dc:description>generated using python-pptx</dc:description>
  <cp:lastModifiedBy>Valerie Turner</cp:lastModifiedBy>
  <cp:revision>10</cp:revision>
  <dcterms:created xsi:type="dcterms:W3CDTF">2025-04-11T10:24:00Z</dcterms:created>
  <dcterms:modified xsi:type="dcterms:W3CDTF">2025-04-11T16:38:00Z</dcterms:modified>
  <cp:category/>
</cp:coreProperties>
</file>