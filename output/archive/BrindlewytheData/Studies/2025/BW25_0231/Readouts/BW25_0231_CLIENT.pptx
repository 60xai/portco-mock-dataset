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 B. Rowcroft | Screening Operations Director. Final client readout.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Ravi Deshmukh: electrophysiology; Ines Alvarado: plate acceptance. Do not infer an acceptance window from the control value or treat every row as unqualified.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geomean with individual-cell IC50s, inhibition at 10 µM, finite-cell count and acceptance note. An empty cell is not evidence of zero inhibition.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Measured inhibition avoids substituting a numeric IC50 for censored entries.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bounded response is not absence of channel interaction. Screening decisions do not identify a molecular explanation for the tail effect.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Aminopyrazolopyrimidine screening set. Structural context does not establish a channel-binding mechanism.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exposure margin is calculated in this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TP04 soluble-tail analogues: hERG follow-up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Arial"/>
              </a:rPr>
              <a:t>BW25_0231 | Tervemere Pharma AG | 25 Jun 2025
Brindlewythe Biosciences Ltd, a Tarnovell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Plate acceptance and interpretation limits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E-4031 control IC50: 13 nM; consider the control response before compound ranking.</a:t>
            </a:r>
          </a:p>
          <a:p>
            <a:pPr/>
            <a:r>
              <a:rPr sz="2000">
                <a:latin typeface="Arial"/>
              </a:rPr>
              <a:t>Top concentration: 30 µM. Results above this limit are censored, not measured IC50s.</a:t>
            </a:r>
          </a:p>
          <a:p>
            <a:pPr/>
            <a:r>
              <a:rPr sz="2000">
                <a:latin typeface="Arial"/>
              </a:rPr>
              <a:t>1 compound carries a plate-acceptance note; retain it with the result.</a:t>
            </a:r>
          </a:p>
          <a:p>
            <a:pPr/>
            <a:r>
              <a:rPr sz="2000">
                <a:latin typeface="Arial"/>
              </a:rPr>
              <a:t>Cell-level responses and finite-cell counts remain in the results table.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Screening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32 compounds tested in the TP04 screening set.</a:t>
            </a:r>
          </a:p>
          <a:p>
            <a:pPr/>
            <a:r>
              <a:rPr sz="2000">
                <a:latin typeface="Arial"/>
              </a:rPr>
              <a:t>0 below 1 µM; 7 in the 1–10 µM band; 25 at or above 10 µM.</a:t>
            </a:r>
          </a:p>
          <a:p>
            <a:pPr/>
            <a:r>
              <a:rPr sz="2000">
                <a:latin typeface="Arial"/>
              </a:rPr>
              <a:t>Median IC50: 20 µM; 11 censored results.</a:t>
            </a:r>
          </a:p>
          <a:p>
            <a:pPr/>
            <a:r>
              <a:rPr sz="2000">
                <a:latin typeface="Arial"/>
              </a:rPr>
              <a:t>The soluble-tail design reduced the channel signal; Tervemere Pharma AG resumed exposure testing of the retained branch.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Compound results and acceptance notes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9661"/>
                <a:gridCol w="1409661"/>
                <a:gridCol w="1409661"/>
                <a:gridCol w="1409661"/>
                <a:gridCol w="1409661"/>
                <a:gridCol w="1409661"/>
                <a:gridCol w="1409661"/>
                <a:gridCol w="1409668"/>
              </a:tblGrid>
              <a:tr h="27432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Compound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IC50 cell 1 (µM)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IC50 cell 2 (µM)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IC50 cell 3 (µM)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IC50 geomean (µM)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% inhibition @10 µM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n cells (finite)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QC note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TP04-02700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&gt;30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&gt;30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&gt;30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2 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TP04-02704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2 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TP04-02712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2 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TP04-02716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9.9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2 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TP04-02718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2 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TP04-02722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2 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TP04-02724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&gt;30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&gt;30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&gt;30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2 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TP04-02730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2 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TP04-02736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2 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TP04-02760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9.2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2 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TP04-02764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6.9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5.9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2 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TP04-02766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&gt;30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&gt;30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2 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TP04-02772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3.9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2 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TP04-02784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2 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TP04-02790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7.7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9.1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2 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TP04-02796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&gt;30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&gt;30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&gt;30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2 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Channel inhibition at a common concentration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1097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/>
            <a:r>
              <a:rPr sz="1600">
                <a:latin typeface="Arial"/>
              </a:rPr>
              <a:t>Compare responses at the same tested concentration.</a:t>
            </a:r>
          </a:p>
          <a:p>
            <a:pPr/>
            <a:r>
              <a:rPr sz="1600">
                <a:latin typeface="Arial"/>
              </a:rPr>
              <a:t>Use concentration responses to resolve close screening ranks.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3750" y="2103119"/>
            <a:ext cx="7084195" cy="42062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Ranking: measured versus bounded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Lower inhibition at 10 µM is the favourable direction.</a:t>
            </a:r>
          </a:p>
          <a:p>
            <a:pPr/>
            <a:r>
              <a:rPr sz="1800">
                <a:latin typeface="Arial"/>
              </a:rPr>
              <a:t>Finite IC50s support ordering within the tested range.</a:t>
            </a:r>
          </a:p>
          <a:p>
            <a:pPr/>
            <a:r>
              <a:rPr sz="1800">
                <a:latin typeface="Arial"/>
              </a:rPr>
              <a:t>Censored IC50s define a bound, not an exact order above the top concentration.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TP04-02700 has censored cell responses in the results table.</a:t>
            </a:r>
          </a:p>
          <a:p>
            <a:pPr/>
            <a:r>
              <a:rPr sz="1800">
                <a:latin typeface="Arial"/>
              </a:rPr>
              <a:t>Keep its finite-cell count attached to the summary.</a:t>
            </a:r>
          </a:p>
          <a:p>
            <a:pPr/>
            <a:r>
              <a:rPr sz="1800">
                <a:latin typeface="Arial"/>
              </a:rPr>
              <a:t>Read the flagged row in context before a close compound selection.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TP04: representative chemistry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77295" cy="43374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Screen gate: retained branch progresses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Resume exposure testing of the retained soluble-tail branch.</a:t>
            </a:r>
          </a:p>
          <a:p>
            <a:pPr/>
            <a:r>
              <a:rPr sz="1800">
                <a:latin typeface="Arial"/>
              </a:rPr>
              <a:t>Keep compounds with stronger channel signal behind the retained branch in screening order.</a:t>
            </a:r>
          </a:p>
          <a:p>
            <a:pPr/>
            <a:r>
              <a:rPr sz="1800">
                <a:latin typeface="Arial"/>
              </a:rPr>
              <a:t>Carry the flagged result as a qualified comparison.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Combine hERG findings with achieved exposure before assessing a margin.</a:t>
            </a:r>
          </a:p>
          <a:p>
            <a:pPr/>
            <a:r>
              <a:rPr sz="1800">
                <a:latin typeface="Arial"/>
              </a:rPr>
              <a:t>Confirm sample-card identities for exposure-testing test lots.</a:t>
            </a:r>
          </a:p>
          <a:p>
            <a:pPr/>
            <a:r>
              <a:rPr sz="1800">
                <a:latin typeface="Arial"/>
              </a:rPr>
              <a:t>Refer close choices involving censored or flagged results to Ravi Deshmukh.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Final handover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Completed 25 Jun 2025 | B-ACC-2025-03942.</a:t>
            </a:r>
          </a:p>
          <a:p>
            <a:pPr/>
            <a:r>
              <a:rPr sz="2000">
                <a:latin typeface="Arial"/>
              </a:rPr>
              <a:t>32 compounds; 19 calendar days.</a:t>
            </a:r>
          </a:p>
          <a:p>
            <a:pPr/>
            <a:r>
              <a:rPr sz="2000">
                <a:latin typeface="Arial"/>
              </a:rPr>
              <a:t>Bethany Rowcroft: client handover and progression.</a:t>
            </a:r>
          </a:p>
          <a:p>
            <a:pPr/>
            <a:r>
              <a:rPr sz="2000">
                <a:latin typeface="Arial"/>
              </a:rPr>
              <a:t>Ravi Deshmukh: concentration-response interpretation.</a:t>
            </a:r>
          </a:p>
          <a:p>
            <a:pPr/>
            <a:r>
              <a:rPr sz="2000">
                <a:latin typeface="Arial"/>
              </a:rPr>
              <a:t>Ines Alvarado: acceptance notes and run-sheet traceability.</a:t>
            </a:r>
          </a:p>
          <a:p>
            <a:pPr/>
            <a:r>
              <a:rPr sz="2000">
                <a:latin typeface="Arial"/>
              </a:rPr>
              <a:t>Preserve censored values and the acceptance note in the exposure-testing handover.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Tarnovell Bioscience Group Ltd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BW25_0231 client readout</dc:title>
  <dc:subject>BW25_0231 client readout</dc:subject>
  <dc:creator>Bethany Rowcroft</dc:creator>
  <cp:keywords>Brindlewythe; screening; plate acceptance</cp:keywords>
  <dc:description>generated using python-pptx</dc:description>
  <cp:lastModifiedBy>Bethany Rowcroft</cp:lastModifiedBy>
  <cp:revision>2</cp:revision>
  <dcterms:created xsi:type="dcterms:W3CDTF">2025-06-25T10:41:00Z</dcterms:created>
  <dcterms:modified xsi:type="dcterms:W3CDTF">2025-06-25T13:53:00Z</dcterms:modified>
  <cp:category/>
</cp:coreProperties>
</file>