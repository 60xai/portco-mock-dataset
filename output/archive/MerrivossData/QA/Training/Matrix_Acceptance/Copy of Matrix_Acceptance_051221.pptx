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panel teaching sequence retained. Merrivoss annotation: preserve accession-lot identity when results cross between assays.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Retained shared panel diagram. Merrivoss addition: tandem-MS analytical acceptance precedes use of concentrations for exposure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original panel language refers to run acceptance. Analytical batch here means a measurement sequence, not an accession 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Training crosswalk, not a change to a validated procedure.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Qualitative classroom scenario; no client study or numerical result is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training copy, 05/12/2021. Local annotations supplement the shared panel workflow; study-specific procedures govern acceptance.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Copy of Matrix Acceptance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Panel workflow training | Merrivoss annotations
05/12/2021 | Helen Marchwood
Merrivoss Bioanalysis Inc, a Tarnovell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Panel workflow: acceptance belongs to the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Confirm plate identity and assay worksheet before reviewing activity.</a:t>
            </a:r>
          </a:p>
          <a:p>
            <a:pPr/>
            <a:r>
              <a:rPr sz="2000">
                <a:latin typeface="Arial"/>
              </a:rPr>
              <a:t>Read blanks and reference responses in context.</a:t>
            </a:r>
          </a:p>
          <a:p>
            <a:pPr/>
            <a:r>
              <a:rPr sz="2000">
                <a:latin typeface="Arial"/>
              </a:rPr>
              <a:t>Flag an unsuitable run before interpreting article rankings.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Panel workflow | retained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647" y="1280160"/>
            <a:ext cx="16764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Local annotation: two acceptance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Accession lot: which material was received and used?</a:t>
            </a:r>
          </a:p>
          <a:p>
            <a:pPr/>
            <a:r>
              <a:rPr sz="1800">
                <a:latin typeface="Arial"/>
              </a:rPr>
              <a:t>Preserve label, identity trail and handling notes.</a:t>
            </a:r>
          </a:p>
          <a:p>
            <a:pPr/>
            <a:r>
              <a:rPr sz="1800">
                <a:latin typeface="Arial"/>
              </a:rPr>
              <a:t>An accession lot can appear in multiple runs.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Tandem-MS analytical batch: is this measurement sequence suitable?</a:t>
            </a:r>
          </a:p>
          <a:p>
            <a:pPr/>
            <a:r>
              <a:rPr sz="1800">
                <a:latin typeface="Arial"/>
              </a:rPr>
              <a:t>Review calibration, matrix controls and qualifications.</a:t>
            </a:r>
          </a:p>
          <a:p>
            <a:pPr/>
            <a:r>
              <a:rPr sz="1800">
                <a:latin typeface="Arial"/>
              </a:rPr>
              <a:t>Run acceptance does not establish material identity.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Before the run: keep the matrix visible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Record species and matrix on the assay worksheet.</a:t>
            </a:r>
          </a:p>
          <a:p>
            <a:pPr/>
            <a:r>
              <a:rPr sz="2000">
                <a:latin typeface="Arial"/>
              </a:rPr>
              <a:t>Use appropriate matrix for calibration and reference checks.</a:t>
            </a:r>
          </a:p>
          <a:p>
            <a:pPr/>
            <a:r>
              <a:rPr sz="2000">
                <a:latin typeface="Arial"/>
              </a:rPr>
              <a:t>An unchanged analyte name does not establish method transfer.</a:t>
            </a:r>
          </a:p>
          <a:p>
            <a:pPr/>
            <a:r>
              <a:rPr sz="2000">
                <a:latin typeface="Arial"/>
              </a:rPr>
              <a:t>Merrivoss annotation: attach matrix context to the analyte card.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Reference checks: compare like with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Review reference response within the method and matrix in use.</a:t>
            </a:r>
          </a:p>
          <a:p>
            <a:pPr/>
            <a:r>
              <a:rPr sz="2000">
                <a:latin typeface="Arial"/>
              </a:rPr>
              <a:t>Investigate blank response, carryover and unexpected background.</a:t>
            </a:r>
          </a:p>
          <a:p>
            <a:pPr/>
            <a:r>
              <a:rPr sz="2000">
                <a:latin typeface="Arial"/>
              </a:rPr>
              <a:t>Historical response is context, not a limit unless the procedure defines it.</a:t>
            </a:r>
          </a:p>
          <a:p>
            <a:pPr/>
            <a:r>
              <a:rPr sz="2000">
                <a:latin typeface="Arial"/>
              </a:rPr>
              <a:t>Keep the original observation when a qualified rerun is needed.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Panel record to tandem-MS record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Retained panel element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Merrivoss annotation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Plate 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Link to article and accession lot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Blank and reference checks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Retain matrix-specific evidence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Run acceptance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Assess analytical batch separately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Article interpretation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Resolve identity before release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Report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Carry limits into the DMPK memo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Reporting limits: avoid a false zero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Below quantitation means no reportable concentration can be assigned.</a:t>
            </a:r>
          </a:p>
          <a:p>
            <a:pPr/>
            <a:r>
              <a:rPr sz="2000">
                <a:latin typeface="Arial"/>
              </a:rPr>
              <a:t>It does not demonstrate absence of analyte.</a:t>
            </a:r>
          </a:p>
          <a:p>
            <a:pPr/>
            <a:r>
              <a:rPr sz="2000">
                <a:latin typeface="Arial"/>
              </a:rPr>
              <a:t>Preserve qualifications through concentration summaries and exposure calculations.</a:t>
            </a:r>
          </a:p>
          <a:p>
            <a:pPr/>
            <a:r>
              <a:rPr sz="2000">
                <a:latin typeface="Arial"/>
              </a:rPr>
              <a:t>Merrivoss annotation: state the handling rule before the exposure conclusion.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Discussion exercise: identity and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The reference response is suitable, but a vial label disagrees with the assay worksheet.</a:t>
            </a:r>
          </a:p>
          <a:p>
            <a:pPr/>
            <a:r>
              <a:rPr sz="2000">
                <a:latin typeface="Arial"/>
              </a:rPr>
              <a:t>Would run acceptance resolve the label discrepancy?</a:t>
            </a:r>
          </a:p>
          <a:p>
            <a:pPr/>
            <a:r>
              <a:rPr sz="2000">
                <a:latin typeface="Arial"/>
              </a:rPr>
              <a:t>Hold named-article interpretation until the identity trail is resolved.</a:t>
            </a:r>
          </a:p>
          <a:p>
            <a:pPr/>
            <a:r>
              <a:rPr sz="2000">
                <a:latin typeface="Arial"/>
              </a:rPr>
              <a:t>Record the action in the analyte card rather than silently changing the name.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Closeout checklist | Helen Marchwood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Retain the panel workflow diagram when reusing this copy.</a:t>
            </a:r>
          </a:p>
          <a:p>
            <a:pPr/>
            <a:r>
              <a:rPr sz="2000">
                <a:latin typeface="Arial"/>
              </a:rPr>
              <a:t>Use accession lot for material tracking and analytical batch for tandem-MS acceptance.</a:t>
            </a:r>
          </a:p>
          <a:p>
            <a:pPr/>
            <a:r>
              <a:rPr sz="2000">
                <a:latin typeface="Arial"/>
              </a:rPr>
              <a:t>Escalate identity or matrix questions before the exposure gate.</a:t>
            </a:r>
          </a:p>
          <a:p>
            <a:pPr/>
            <a:r>
              <a:rPr sz="2000">
                <a:latin typeface="Arial"/>
              </a:rPr>
              <a:t>Attach acceptance decisions and qualifications to the assay worksheet.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Matrix Acceptance</dc:title>
  <dc:subject>Copied panel matrix acceptance training deck, lightly rebadged for Merrivoss on 05/12/2021. The panel workflow is retained with local annotations distinguishing accession lots from tandem-MS analytical batch acceptance.</dc:subject>
  <dc:creator>Helen Marchwood</dc:creator>
  <cp:keywords>Merrivoss; DMPK; matrix acceptance</cp:keywords>
  <dc:description>generated using python-pptx</dc:description>
  <cp:lastModifiedBy>Helen Marchwood</cp:lastModifiedBy>
  <cp:revision>16</cp:revision>
  <dcterms:created xsi:type="dcterms:W3CDTF">2021-05-12T10:23:00Z</dcterms:created>
  <dcterms:modified xsi:type="dcterms:W3CDTF">2021-05-12T15:42:00Z</dcterms:modified>
  <cp:category/>
</cp:coreProperties>
</file>