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in vitro study. No rat exposure results are reported; the exposure gate is a subsequent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values are comparators, not newly defined acceptance limits. Individual observations retain their matrix acceptance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concentration 30 µM. Censored values retain their bounds in the table; a plotted boundary is not a fitted IC50.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bins describe the current set. They do not establish a safety margin without unbound exposure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structures; display order is not a progression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liver microsomes at 10 µM. A single concentration does not define an IC50. Review the complete isoform panel before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Isoform counts overlap; do not sum them to obtain an article count. This screen is not a clinical interaction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Midazolam 1′-hydroxylation. Compare curve estimates with screen observations. Greater-than values remain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tested; 4 below 1 µM and 10 below 10 µM. Complete tables: MV-2024-358_Report_121724_R1.pdf.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clinical safety or interaction clearance is inferred. No unsupported count of advancing articles is assigned.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TP04: cardiac and CYP follow-up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MV-2024-358 | Tervemere Pharma AG
12/19/2024 | Priya Nandekuri | Final R1
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Assay context before the exposure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40 aminopyrazolopyrimidine articles; accession M24/BIO/08257.</a:t>
            </a:r>
          </a:p>
          <a:p>
            <a:pPr/>
            <a:r>
              <a:rPr sz="2000">
                <a:latin typeface="Arial"/>
              </a:rPr>
              <a:t>IKr inhibition: cellular electrophysiology.</a:t>
            </a:r>
          </a:p>
          <a:p>
            <a:pPr/>
            <a:r>
              <a:rPr sz="2000">
                <a:latin typeface="Arial"/>
              </a:rPr>
              <a:t>Five-isoform DDI screen: human liver microsomes at 10 µM.</a:t>
            </a:r>
          </a:p>
          <a:p>
            <a:pPr/>
            <a:r>
              <a:rPr sz="2000">
                <a:latin typeface="Arial"/>
              </a:rPr>
              <a:t>CYP3A4 inhibition curves: midazolam 1′-hydroxylation.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Matrix acceptance and reference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E-4031 reference: 15 nM.</a:t>
            </a:r>
          </a:p>
          <a:p>
            <a:pPr/>
            <a:r>
              <a:rPr sz="2000">
                <a:latin typeface="Arial"/>
              </a:rPr>
              <a:t>CYP3A4 reference: 0.022 µM; historical comparator 0.030 µM.</a:t>
            </a:r>
          </a:p>
          <a:p>
            <a:pPr/>
            <a:r>
              <a:rPr sz="2000">
                <a:latin typeface="Arial"/>
              </a:rPr>
              <a:t>IKr flagged articles: 0.</a:t>
            </a:r>
          </a:p>
          <a:p>
            <a:pPr/>
            <a:r>
              <a:rPr sz="2000">
                <a:latin typeface="Arial"/>
              </a:rPr>
              <a:t>Helen Marchwood owns bioanalytical quality; Javier Quintana owns the mass-spectrometry workstream.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IKr inhibition | geometric mean IC50 (µM)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IKr result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Below 1 µM: 0.</a:t>
            </a:r>
          </a:p>
          <a:p>
            <a:pPr/>
            <a:r>
              <a:rPr sz="2000">
                <a:latin typeface="Arial"/>
              </a:rPr>
              <a:t>From 1 to 10 µM: 9; at least 10 µM: 31.</a:t>
            </a:r>
          </a:p>
          <a:p>
            <a:pPr/>
            <a:r>
              <a:rPr sz="2000">
                <a:latin typeface="Arial"/>
              </a:rPr>
              <a:t>Median IC50: 16 µM; censored observations: 11.</a:t>
            </a:r>
          </a:p>
          <a:p>
            <a:pPr/>
            <a:r>
              <a:rPr sz="2000">
                <a:latin typeface="Arial"/>
              </a:rPr>
              <a:t>The revised test article set showed improved ion-channel behaviour.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TP04 | representative aminopyrazolopyrimidines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Five-isoform DDI screen | CYP3A4 inhibition (%)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Residual CYP inhibition remains the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Any isoform above 50% inhibition: 12 articles.</a:t>
            </a:r>
          </a:p>
          <a:p>
            <a:pPr/>
            <a:r>
              <a:rPr sz="2000">
                <a:latin typeface="Arial"/>
              </a:rPr>
              <a:t>Above 50%: CYP1A2 5; CYP2C9 6; CYP2C19 7.</a:t>
            </a:r>
          </a:p>
          <a:p>
            <a:pPr/>
            <a:r>
              <a:rPr sz="2000">
                <a:latin typeface="Arial"/>
              </a:rPr>
              <a:t>CYP2D6 5; CYP3A4 9.</a:t>
            </a:r>
          </a:p>
          <a:p>
            <a:pPr/>
            <a:r>
              <a:rPr sz="2000">
                <a:latin typeface="Arial"/>
              </a:rPr>
              <a:t>CYP3A4 is the most frequently flagged isoform.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CYP3A4 inhibition curves | IC50 (µM)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CYP3A4 curve results | discussion excerpt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IC50 (µM)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 substrate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TP04-02766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Exposure gate: narrow the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Improved ion-channel behaviour supports continued consideration of the revised chemistry.</a:t>
            </a:r>
          </a:p>
          <a:p>
            <a:pPr/>
            <a:r>
              <a:rPr sz="2000">
                <a:latin typeface="Arial"/>
              </a:rPr>
              <a:t>Residual CYP inhibition narrows the test article set taken into exposure studies.</a:t>
            </a:r>
          </a:p>
          <a:p>
            <a:pPr/>
            <a:r>
              <a:rPr sz="2000">
                <a:latin typeface="Arial"/>
              </a:rPr>
              <a:t>Select using the combined IKr and isoform profile, retaining limits and assay context.</a:t>
            </a:r>
          </a:p>
          <a:p>
            <a:pPr/>
            <a:r>
              <a:rPr sz="2000">
                <a:latin typeface="Arial"/>
              </a:rPr>
              <a:t>Tie any progression list to identifiers in the final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Final handoff | 12/19/2024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Priya Nandekuri: carry the combined cardiac and CYP assessment into the exposure gate.</a:t>
            </a:r>
          </a:p>
          <a:p>
            <a:pPr/>
            <a:r>
              <a:rPr sz="2000">
                <a:latin typeface="Arial"/>
              </a:rPr>
              <a:t>Javier Quintana and Helen Marchwood: retain analytical and matrix acceptance traceability.</a:t>
            </a:r>
          </a:p>
          <a:p>
            <a:pPr/>
            <a:r>
              <a:rPr sz="2000">
                <a:latin typeface="Arial"/>
              </a:rPr>
              <a:t>Final record: MV-2024-358; M24/BIO/08257.</a:t>
            </a:r>
          </a:p>
          <a:p>
            <a:pPr/>
            <a:r>
              <a:rPr sz="2000">
                <a:latin typeface="Arial"/>
              </a:rPr>
              <a:t>Use the final report for full compound tables and methods.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TP04: cardiac and CYP follow-up</dc:title>
  <dc:subject>Final TP04 cardiac and CYP readout for Tervemere Pharma AG. Improved ion-channel behaviour supports continued consideration, while residual CYP inhibition narrows the test article set taken into exposure studies.</dc:subject>
  <dc:creator>Priya Nandekuri</dc:creator>
  <cp:keywords>Merrivoss; DMPK; matrix acceptance</cp:keywords>
  <dc:description>generated using python-pptx</dc:description>
  <cp:lastModifiedBy>Priya Nandekuri</cp:lastModifiedBy>
  <cp:revision>8</cp:revision>
  <dcterms:created xsi:type="dcterms:W3CDTF">2024-12-19T10:23:00Z</dcterms:created>
  <dcterms:modified xsi:type="dcterms:W3CDTF">2024-12-19T15:42:00Z</dcterms:modified>
  <cp:category/>
</cp:coreProperties>
</file>