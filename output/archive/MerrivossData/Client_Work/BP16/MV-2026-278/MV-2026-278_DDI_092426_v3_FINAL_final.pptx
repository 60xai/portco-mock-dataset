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Reviewer comment — Helen Marchwood: retain INTERIM on the circulated copy despite the filename suffix.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Historical comparators are not acceptance tolerances. Reference response alone does not establish final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Interim entries only. Retain signed negative normalized observations; do not relabel them as stimulation.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Provisional current labels. The relabelled vial has not been assigned to a displayed row in this readout.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named article is assumed to be the unresolved vial. Identity mapping: [TBC].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Representative structures; display order is not a progression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interpretation awaits client identity confirmation. A greater-than value is a bound, not an exact potency.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Midazolam probe. Consult the table for bounds. This summary plot does not present full concentration-response traces.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Reviewer comment — Javier Quintana: reconcile the named-entry exports with study-level tallies before replacing this slide with a final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Reviewer comment — Helen Marchwood: the FINAL_final suffix is not evidence of approval. Final conclusions 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BP16: interim CYP interaction readout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MV-2026-278 | Belquorin Pharma
09/24/2026 | Megan Larkin
v3 / FINAL_final working copy — INTERIM
Merrivoss Bioanalysis Inc, a Tarnovell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Interim scope and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Oxazole carboxamide test article set; accession M26/BIO/06402.</a:t>
            </a:r>
          </a:p>
          <a:p>
            <a:pPr/>
            <a:r>
              <a:rPr sz="2000">
                <a:latin typeface="Arial"/>
              </a:rPr>
              <a:t>Five-isoform DDI screen: human liver microsomes, 10 µM.</a:t>
            </a:r>
          </a:p>
          <a:p>
            <a:pPr/>
            <a:r>
              <a:rPr sz="2000">
                <a:latin typeface="Arial"/>
              </a:rPr>
              <a:t>CYP3A4 inhibition curves: midazolam 1′-hydroxylation.</a:t>
            </a:r>
          </a:p>
          <a:p>
            <a:pPr/>
            <a:r>
              <a:rPr sz="2000">
                <a:latin typeface="Arial"/>
              </a:rPr>
              <a:t>Screening runs are complete; final interpretation is held for vial identity confirmation.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Matrix acceptance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CYP3A4 reference: 0.021 µM; historical comparator 0.030 µM.</a:t>
            </a:r>
          </a:p>
          <a:p>
            <a:pPr/>
            <a:r>
              <a:rPr sz="2000">
                <a:latin typeface="Arial"/>
              </a:rPr>
              <a:t>CYP2C9 reference: 0.41 µM; historical comparator 0.35 µM.</a:t>
            </a:r>
          </a:p>
          <a:p>
            <a:pPr/>
            <a:r>
              <a:rPr sz="2000">
                <a:latin typeface="Arial"/>
              </a:rPr>
              <a:t>Analytical suitability and article identity are separate questions.</a:t>
            </a:r>
          </a:p>
          <a:p>
            <a:pPr/>
            <a:r>
              <a:rPr sz="2000">
                <a:latin typeface="Arial"/>
              </a:rPr>
              <a:t>Final named-article release disposition: [TBC].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Five-isoform DDI screen | interim named entries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Compound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CYP1A2 (%)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CYP2C9 (%)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CYP2C19 (%)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CYP2D6 (%)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CYP3A4 (%)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BP16-05400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82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BP16-05410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BP16-05422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BP16-05442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BP16-05470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BP16-05472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BP16-05478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-0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BP16-05482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BP16-05500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-4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BP16-05512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BP16-05518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-3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CYP3A4 screen | inhibition at 10 µM (%)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Screen observations for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BP16-05472 and BP16-05482 show broad inhibition involving CYP2C9, CYP2C19 and CYP3A4.</a:t>
            </a:r>
          </a:p>
          <a:p>
            <a:pPr/>
            <a:r>
              <a:rPr sz="2000">
                <a:latin typeface="Arial"/>
              </a:rPr>
              <a:t>BP16-05442 shows a different pattern, with CYP2D6 more prominent than CYP3A4.</a:t>
            </a:r>
          </a:p>
          <a:p>
            <a:pPr/>
            <a:r>
              <a:rPr sz="2000">
                <a:latin typeface="Arial"/>
              </a:rPr>
              <a:t>BP16-05478 and BP16-05512 show little inhibition across the displayed panel.</a:t>
            </a:r>
          </a:p>
          <a:p>
            <a:pPr/>
            <a:r>
              <a:rPr sz="2000">
                <a:latin typeface="Arial"/>
              </a:rPr>
              <a:t>These observations support discussion, not a final progression recommendation.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BP16 | representative oxazole carboxamides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77295" cy="43374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CYP3A4 inhibition curves | provisional entries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Compound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IC50 (µM)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Probe substrate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BP16-05400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BP16-05410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BP16-05422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BP16-05442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BP16-05470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BP16-05472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BP16-05478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BP16-05482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BP16-05500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BP16-05512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midazolam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CYP3A4 curve estimates | IC50 (µM)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Coverage reconciliation before release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Planned test article set: 18.</a:t>
            </a:r>
          </a:p>
          <a:p>
            <a:pPr/>
            <a:r>
              <a:rPr sz="2000">
                <a:latin typeface="Arial"/>
              </a:rPr>
              <a:t>Interim named-entry tables and study-level tallies require reconciliation before final release.</a:t>
            </a:r>
          </a:p>
          <a:p>
            <a:pPr/>
            <a:r>
              <a:rPr sz="2000">
                <a:latin typeface="Arial"/>
              </a:rPr>
              <a:t>Complete article mapping: [TBC]; relabelled vial identity: [TBC].</a:t>
            </a:r>
          </a:p>
          <a:p>
            <a:pPr/>
            <a:r>
              <a:rPr sz="2000">
                <a:latin typeface="Arial"/>
              </a:rPr>
              <a:t>Keep screening observations separate from the final concentration-response decision.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Open actions | 09/24/2026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Belquorin Pharma: confirm the relabelled vial against the original dispatch information.</a:t>
            </a:r>
          </a:p>
          <a:p>
            <a:pPr/>
            <a:r>
              <a:rPr sz="2000">
                <a:latin typeface="Arial"/>
              </a:rPr>
              <a:t>Javier Quintana: link confirmation to the analyte card and concentration-response analysis.</a:t>
            </a:r>
          </a:p>
          <a:p>
            <a:pPr/>
            <a:r>
              <a:rPr sz="2000">
                <a:latin typeface="Arial"/>
              </a:rPr>
              <a:t>Helen Marchwood: review the corrected identity trail and matrix acceptance release.</a:t>
            </a:r>
          </a:p>
          <a:p>
            <a:pPr/>
            <a:r>
              <a:rPr sz="2000">
                <a:latin typeface="Arial"/>
              </a:rPr>
              <a:t>Megan Larkin: update the DMPK memo; final issue date [TBC].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Interim disposition: exposure gate remains open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Screening runs are complete.</a:t>
            </a:r>
          </a:p>
          <a:p>
            <a:pPr/>
            <a:r>
              <a:rPr sz="2000">
                <a:latin typeface="Arial"/>
              </a:rPr>
              <a:t>Concentration-response analysis awaits Belquorin Pharma identity confirmation for a relabelled vial.</a:t>
            </a:r>
          </a:p>
          <a:p>
            <a:pPr/>
            <a:r>
              <a:rPr sz="2000">
                <a:latin typeface="Arial"/>
              </a:rPr>
              <a:t>No final progression recommendation is issued.</a:t>
            </a:r>
          </a:p>
          <a:p>
            <a:pPr/>
            <a:r>
              <a:rPr sz="2000">
                <a:latin typeface="Arial"/>
              </a:rPr>
              <a:t>Replace this working copy after identity and coverage questions are closed.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BP16: interim CYP interaction readout</dc:title>
  <dc:subject>Interim BP16 readout for Belquorin Pharma dated 09/24/2026. Screening runs are complete, but final concentration-response interpretation and progression recommendations await confirmation of a relabelled vial.</dc:subject>
  <dc:creator>Megan Larkin</dc:creator>
  <cp:keywords>Merrivoss; DMPK; matrix acceptance</cp:keywords>
  <dc:description>generated using python-pptx</dc:description>
  <cp:lastModifiedBy>Megan Larkin</cp:lastModifiedBy>
  <cp:revision>4</cp:revision>
  <dcterms:created xsi:type="dcterms:W3CDTF">2026-09-24T10:23:00Z</dcterms:created>
  <dcterms:modified xsi:type="dcterms:W3CDTF">2026-09-24T15:42:00Z</dcterms:modified>
  <cp:category/>
</cp:coreProperties>
</file>