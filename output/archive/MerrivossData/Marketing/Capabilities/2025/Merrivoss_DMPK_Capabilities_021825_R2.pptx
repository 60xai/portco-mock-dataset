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 planning workflow, not a turnaround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Protein concentration and sampling schedule are selected for the study. No demonstration results are 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Neither model alone guarantees in vivo clearance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fu,p is dimensionless. Do not silently transfer binding observations between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Qualitative reporting checklist; no demonstration study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DMPK capabilities: from depletion to exposure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02/18/2025 | R2 | Priya Nandekuri
Madison
Merrivoss Bioanalysis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Start with the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Which test articles need an exposure explanation before the next study?</a:t>
            </a:r>
          </a:p>
          <a:p>
            <a:pPr/>
            <a:r>
              <a:rPr sz="2000">
                <a:latin typeface="Arial"/>
              </a:rPr>
              <a:t>Define species, matrix and intended dose route before selecting the assay sequence.</a:t>
            </a:r>
          </a:p>
          <a:p>
            <a:pPr/>
            <a:r>
              <a:rPr sz="2000">
                <a:latin typeface="Arial"/>
              </a:rPr>
              <a:t>A useful DMPK memo connects analytical limits to the exposure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Connected study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629" y="1280160"/>
            <a:ext cx="170043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Intake and accession 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Capture article identity, accession lot, formulation and handling history.</a:t>
            </a:r>
          </a:p>
          <a:p>
            <a:pPr/>
            <a:r>
              <a:rPr sz="2000">
                <a:latin typeface="Arial"/>
              </a:rPr>
              <a:t>Separate material identity from assay readiness.</a:t>
            </a:r>
          </a:p>
          <a:p>
            <a:pPr/>
            <a:r>
              <a:rPr sz="2000">
                <a:latin typeface="Arial"/>
              </a:rPr>
              <a:t>Maintain the identifier through assay worksheets and analyte cards.</a:t>
            </a:r>
          </a:p>
          <a:p>
            <a:pPr/>
            <a:r>
              <a:rPr sz="2000">
                <a:latin typeface="Arial"/>
              </a:rPr>
              <a:t>Discuss limited material before selecting the study sequence.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Species and matrix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Choose microsomes or hepatocytes according to the clearance question.</a:t>
            </a:r>
          </a:p>
          <a:p>
            <a:pPr/>
            <a:r>
              <a:rPr sz="2000">
                <a:latin typeface="Arial"/>
              </a:rPr>
              <a:t>Identify plasma species for fu,p by equilibrium dialysis.</a:t>
            </a:r>
          </a:p>
          <a:p>
            <a:pPr/>
            <a:r>
              <a:rPr sz="2000">
                <a:latin typeface="Arial"/>
              </a:rPr>
              <a:t>State the matrix for Rat exposure with tandem-MS bioanalysis.</a:t>
            </a:r>
          </a:p>
          <a:p>
            <a:pPr/>
            <a:r>
              <a:rPr sz="2000">
                <a:latin typeface="Arial"/>
              </a:rPr>
              <a:t>A matrix change requires assessment of calibration and recovery assumptions.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Matrix acceptance before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Set reference conditions and matrix controls in the study plan.</a:t>
            </a:r>
          </a:p>
          <a:p>
            <a:pPr/>
            <a:r>
              <a:rPr sz="2000">
                <a:latin typeface="Arial"/>
              </a:rPr>
              <a:t>Review calibration behaviour, blanks and sample suitability together.</a:t>
            </a:r>
          </a:p>
          <a:p>
            <a:pPr/>
            <a:r>
              <a:rPr sz="2000">
                <a:latin typeface="Arial"/>
              </a:rPr>
              <a:t>Preserve qualified observations and their reasons.</a:t>
            </a:r>
          </a:p>
          <a:p>
            <a:pPr/>
            <a:r>
              <a:rPr sz="2000">
                <a:latin typeface="Arial"/>
              </a:rPr>
              <a:t>Helen Marchwood, Bioanalytical Quality Manager, supports the acceptance framework.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Microsomal CLint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Measure depletion in a defined microsomal incubation.</a:t>
            </a:r>
          </a:p>
          <a:p>
            <a:pPr/>
            <a:r>
              <a:rPr sz="2000">
                <a:latin typeface="Arial"/>
              </a:rPr>
              <a:t>Cofactor dependence and nonspecific loss distinguish metabolism from other loss routes.</a:t>
            </a:r>
          </a:p>
          <a:p>
            <a:pPr/>
            <a:r>
              <a:rPr sz="2000">
                <a:latin typeface="Arial"/>
              </a:rPr>
              <a:t>Report CLint in µL/min/mg with species and conditions attached.</a:t>
            </a:r>
          </a:p>
          <a:p>
            <a:pPr/>
            <a:r>
              <a:rPr sz="2000">
                <a:latin typeface="Arial"/>
              </a:rPr>
              <a:t>Flat or very rapid profiles may support bounds rather than precise estimates.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Hepatocyte depletion CLint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an intact-cell context when the question extends beyond microsomal metabolism.</a:t>
            </a:r>
          </a:p>
          <a:p>
            <a:pPr/>
            <a:r>
              <a:rPr sz="2000">
                <a:latin typeface="Arial"/>
              </a:rPr>
              <a:t>Record species, cell handling and the suitable depletion interval.</a:t>
            </a:r>
          </a:p>
          <a:p>
            <a:pPr/>
            <a:r>
              <a:rPr sz="2000">
                <a:latin typeface="Arial"/>
              </a:rPr>
              <a:t>Report CLint in µL/min/10^6 cells.</a:t>
            </a:r>
          </a:p>
          <a:p>
            <a:pPr/>
            <a:r>
              <a:rPr sz="2000">
                <a:latin typeface="Arial"/>
              </a:rPr>
              <a:t>Do not compare directly with microsomal values without an explicit scaling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Choosing the depletion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Microsomal CLint: focused assessment of microsomal metabolic loss.</a:t>
            </a:r>
          </a:p>
          <a:p>
            <a:pPr/>
            <a:r>
              <a:rPr sz="1800">
                <a:latin typeface="Arial"/>
              </a:rPr>
              <a:t>Compare articles within matched incubation conditions.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Hepatocyte depletion CLint: integrated intact-cell context.</a:t>
            </a:r>
          </a:p>
          <a:p>
            <a:pPr/>
            <a:r>
              <a:rPr sz="1800">
                <a:latin typeface="Arial"/>
              </a:rPr>
              <a:t>Consider when transport or additional metabolic routes affect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fu,p by equilibrium dialysis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Measure unbound fraction in the specified plasma matrix.</a:t>
            </a:r>
          </a:p>
          <a:p>
            <a:pPr/>
            <a:r>
              <a:rPr sz="2000">
                <a:latin typeface="Arial"/>
              </a:rPr>
              <a:t>Assess recovery, equilibration and stability alongside binding.</a:t>
            </a:r>
          </a:p>
          <a:p>
            <a:pPr/>
            <a:r>
              <a:rPr sz="2000">
                <a:latin typeface="Arial"/>
              </a:rPr>
              <a:t>Low unbound fraction requires suitable analytical sensitivity.</a:t>
            </a:r>
          </a:p>
          <a:p>
            <a:pPr/>
            <a:r>
              <a:rPr sz="2000">
                <a:latin typeface="Arial"/>
              </a:rPr>
              <a:t>Carry species and matrix into unbound-exposure calculations.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Tandem-MS bioanalytical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Confirm analyte response in the intended matrix.</a:t>
            </a:r>
          </a:p>
          <a:p>
            <a:pPr/>
            <a:r>
              <a:rPr sz="2000">
                <a:latin typeface="Arial"/>
              </a:rPr>
              <a:t>Choose calibration range around the sampling question.</a:t>
            </a:r>
          </a:p>
          <a:p>
            <a:pPr/>
            <a:r>
              <a:rPr sz="2000">
                <a:latin typeface="Arial"/>
              </a:rPr>
              <a:t>Consider dilution, carryover and matrix effects before exposure samples arrive.</a:t>
            </a:r>
          </a:p>
          <a:p>
            <a:pPr/>
            <a:r>
              <a:rPr sz="2000">
                <a:latin typeface="Arial"/>
              </a:rPr>
              <a:t>Javier Quintana, Mass-Spectrometry Manager, leads analytical planning.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Lower-limit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Define how below-quantitation observations enter summaries before reviewing exposure.</a:t>
            </a:r>
          </a:p>
          <a:p>
            <a:pPr/>
            <a:r>
              <a:rPr sz="2000">
                <a:latin typeface="Arial"/>
              </a:rPr>
              <a:t>Distinguish low measured concentrations from qualified observations.</a:t>
            </a:r>
          </a:p>
          <a:p>
            <a:pPr/>
            <a:r>
              <a:rPr sz="2000">
                <a:latin typeface="Arial"/>
              </a:rPr>
              <a:t>State imputation or exclusion rules in the DMPK memo.</a:t>
            </a:r>
          </a:p>
          <a:p>
            <a:pPr/>
            <a:r>
              <a:rPr sz="2000">
                <a:latin typeface="Arial"/>
              </a:rPr>
              <a:t>A terminal phase dominated by qualified observations may not support extrapolation.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Rat exposure with tandem-MS bioanalysis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Agree route, formulation and sampling against the exposure question.</a:t>
            </a:r>
          </a:p>
          <a:p>
            <a:pPr/>
            <a:r>
              <a:rPr sz="2000">
                <a:latin typeface="Arial"/>
              </a:rPr>
              <a:t>Retain dosing-lot and accession-lot linkage.</a:t>
            </a:r>
          </a:p>
          <a:p>
            <a:pPr/>
            <a:r>
              <a:rPr sz="2000">
                <a:latin typeface="Arial"/>
              </a:rPr>
              <a:t>Report integrated exposure in ng·h/mL with the integration convention.</a:t>
            </a:r>
          </a:p>
          <a:p>
            <a:pPr/>
            <a:r>
              <a:rPr sz="2000">
                <a:latin typeface="Arial"/>
              </a:rPr>
              <a:t>Megan Larkin, DMPK Study Director, connects analytical interpretation to the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Decision-ready DMPK memo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Record element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Required context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Article and accession lot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Species, model and CLint units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Plasma matrix and recovery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Bioanalysis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Calibration range and reporting limit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Route, sampling and integration assumptions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Conclusion, qualification and next experiment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Exposure gates: state the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Compare articles within matched species, matrix and assay context.</a:t>
            </a:r>
          </a:p>
          <a:p>
            <a:pPr/>
            <a:r>
              <a:rPr sz="2000">
                <a:latin typeface="Arial"/>
              </a:rPr>
              <a:t>Use binding and depletion to explain exposure.</a:t>
            </a:r>
          </a:p>
          <a:p>
            <a:pPr/>
            <a:r>
              <a:rPr sz="2000">
                <a:latin typeface="Arial"/>
              </a:rPr>
              <a:t>Resolve identity and matrix acceptance questions before named-article recommendations.</a:t>
            </a:r>
          </a:p>
          <a:p>
            <a:pPr/>
            <a:r>
              <a:rPr sz="2000">
                <a:latin typeface="Arial"/>
              </a:rPr>
              <a:t>Specify the follow-up experiment when the explanation remains ambiguous.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Planning discussion | Priya Nandekuri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Bring the test article list, available material and intended exposure decision.</a:t>
            </a:r>
          </a:p>
          <a:p>
            <a:pPr/>
            <a:r>
              <a:rPr sz="2000">
                <a:latin typeface="Arial"/>
              </a:rPr>
              <a:t>Agree assay sequence and analytical readiness before study dates.</a:t>
            </a:r>
          </a:p>
          <a:p>
            <a:pPr/>
            <a:r>
              <a:rPr sz="2000">
                <a:latin typeface="Arial"/>
              </a:rPr>
              <a:t>Define deliverables: assay worksheets, analyte cards, compound tables and DMPK memo.</a:t>
            </a:r>
          </a:p>
          <a:p>
            <a:pPr/>
            <a:r>
              <a:rPr sz="2000">
                <a:latin typeface="Arial"/>
              </a:rPr>
              <a:t>Merrivoss Bioanalysis Inc, a Tarnovell company | Madison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DMPK capabilities: from depletion to exposure</dc:title>
  <dc:subject>Merrivoss DMPK capabilities covering depletion clearance, plasma binding and rat exposure bioanalysis. Species, matrix acceptance and lower-limit assumptions are defined before exposure gates.</dc:subject>
  <dc:creator>Priya Nandekuri</dc:creator>
  <cp:keywords>Merrivoss; DMPK; matrix acceptance</cp:keywords>
  <dc:description>generated using python-pptx</dc:description>
  <cp:lastModifiedBy>Priya Nandekuri</cp:lastModifiedBy>
  <cp:revision>11</cp:revision>
  <dcterms:created xsi:type="dcterms:W3CDTF">2025-02-18T10:23:00Z</dcterms:created>
  <dcterms:modified xsi:type="dcterms:W3CDTF">2025-02-18T15:42:00Z</dcterms:modified>
  <cp:category/>
</cp:coreProperties>
</file>