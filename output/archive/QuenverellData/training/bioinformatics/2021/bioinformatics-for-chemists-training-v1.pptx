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Bioinformatics for chemists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Internal training | Quenverell Computational Ltd, a Tarnovell company | June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Why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Group chemists increasingly receive our target and biomarker readouts</a:t>
            </a:r>
          </a:p>
          <a:p>
            <a:pPr/>
            <a:r>
              <a:rPr sz="2000">
                <a:latin typeface="Arial"/>
              </a:rPr>
              <a:t>Aim: read them critically and know what to ask</a:t>
            </a:r>
          </a:p>
          <a:p>
            <a:pPr/>
            <a:r>
              <a:rPr sz="2000">
                <a:latin typeface="Arial"/>
              </a:rPr>
              <a:t>Ninety minutes, no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What bioinformatics is for in a discovery programme</a:t>
            </a:r>
          </a:p>
          <a:p>
            <a:pPr/>
            <a:r>
              <a:rPr sz="2000">
                <a:latin typeface="Arial"/>
              </a:rPr>
              <a:t>Expression data in one slide</a:t>
            </a:r>
          </a:p>
          <a:p>
            <a:pPr/>
            <a:r>
              <a:rPr sz="2000">
                <a:latin typeface="Arial"/>
              </a:rPr>
              <a:t>Reading a volcano plot</a:t>
            </a:r>
          </a:p>
          <a:p>
            <a:pPr/>
            <a:r>
              <a:rPr sz="2000">
                <a:latin typeface="Arial"/>
              </a:rPr>
              <a:t>Pathways and networks</a:t>
            </a:r>
          </a:p>
          <a:p>
            <a:pPr/>
            <a:r>
              <a:rPr sz="2000">
                <a:latin typeface="Arial"/>
              </a:rPr>
              <a:t>Genetic evidence</a:t>
            </a:r>
          </a:p>
          <a:p>
            <a:pPr/>
            <a:r>
              <a:rPr sz="2000">
                <a:latin typeface="Arial"/>
              </a:rPr>
              <a:t>How to request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Part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Where bioinformatics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Where bioinformatics fits in a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Before chemistry: which target, which disease subgroup</a:t>
            </a:r>
          </a:p>
          <a:p>
            <a:pPr/>
            <a:r>
              <a:rPr sz="2000">
                <a:latin typeface="Arial"/>
              </a:rPr>
              <a:t>During chemistry: what compounds do to cells</a:t>
            </a:r>
          </a:p>
          <a:p>
            <a:pPr/>
            <a:r>
              <a:rPr sz="2000">
                <a:latin typeface="Arial"/>
              </a:rPr>
              <a:t>Before the clinic: which patients, which markers</a:t>
            </a:r>
          </a:p>
          <a:p>
            <a:pPr/>
            <a:r>
              <a:rPr sz="2000">
                <a:latin typeface="Arial"/>
              </a:rPr>
              <a:t>Throughout: is the data good enough to decide?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it cannot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Replace an assay</a:t>
            </a:r>
          </a:p>
          <a:p>
            <a:pPr/>
            <a:r>
              <a:rPr sz="2000">
                <a:latin typeface="Arial"/>
              </a:rPr>
              <a:t>Make weak data strong</a:t>
            </a:r>
          </a:p>
          <a:p>
            <a:pPr/>
            <a:r>
              <a:rPr sz="2000">
                <a:latin typeface="Arial"/>
              </a:rPr>
              <a:t>Give certainty about mechanism from one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Part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Expression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RNA-seq in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Sequence sampled RNA-derived fragments and estimate relative transcript abundance after normalisation</a:t>
            </a:r>
          </a:p>
          <a:p>
            <a:pPr/>
            <a:r>
              <a:rPr sz="2000">
                <a:latin typeface="Arial"/>
              </a:rPr>
              <a:t>Compare disease and control, or treated and untreated</a:t>
            </a:r>
          </a:p>
          <a:p>
            <a:pPr/>
            <a:r>
              <a:rPr sz="2000">
                <a:latin typeface="Arial"/>
              </a:rPr>
              <a:t>Thousands of genes tested at once, so false positives are expected</a:t>
            </a:r>
          </a:p>
          <a:p>
            <a:pPr/>
            <a:r>
              <a:rPr sz="2000">
                <a:latin typeface="Arial"/>
              </a:rPr>
              <a:t>Replicates matter more than sequencing 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Reading a volcano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x-axis: log2 fold change</a:t>
            </a:r>
          </a:p>
          <a:p>
            <a:pPr/>
            <a:r>
              <a:rPr sz="2000">
                <a:latin typeface="Arial"/>
              </a:rPr>
              <a:t>y-axis: -log10(adjusted p-value)</a:t>
            </a:r>
          </a:p>
          <a:p>
            <a:pPr/>
            <a:r>
              <a:rPr sz="2000">
                <a:latin typeface="Arial"/>
              </a:rPr>
              <a:t>Upper corners: large changes with small adjusted p-values</a:t>
            </a:r>
          </a:p>
          <a:p>
            <a:pPr/>
            <a:r>
              <a:rPr sz="2000">
                <a:latin typeface="Arial"/>
              </a:rPr>
              <a:t>Assess biological relevance and replication separately</a:t>
            </a:r>
          </a:p>
          <a:p>
            <a:pPr/>
            <a:r>
              <a:rPr sz="2000">
                <a:latin typeface="Arial"/>
              </a:rPr>
              <a:t>Ask: how many replicates? which correction?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Single-cell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Tells you which cell type expresses the target</a:t>
            </a:r>
          </a:p>
          <a:p>
            <a:pPr/>
            <a:r>
              <a:rPr sz="2000">
                <a:latin typeface="Arial"/>
              </a:rPr>
              <a:t>Useful for safety and tissue questions</a:t>
            </a:r>
          </a:p>
          <a:p>
            <a:pPr/>
            <a:r>
              <a:rPr sz="2000">
                <a:latin typeface="Arial"/>
              </a:rPr>
              <a:t>Check donor/sample replication, cell numbers and batch effects</a:t>
            </a:r>
          </a:p>
          <a:p>
            <a:pPr/>
            <a:r>
              <a:rPr sz="2000">
                <a:latin typeface="Arial"/>
              </a:rPr>
              <a:t>Cells from one donor are not independent biological replicates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Part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Pathways and genetics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Pathway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Groups of genes that act together</a:t>
            </a:r>
          </a:p>
          <a:p>
            <a:pPr/>
            <a:r>
              <a:rPr sz="2000">
                <a:latin typeface="Arial"/>
              </a:rPr>
              <a:t>Enrichment means more pathway genes changed than chance</a:t>
            </a:r>
          </a:p>
          <a:p>
            <a:pPr/>
            <a:r>
              <a:rPr sz="2000">
                <a:latin typeface="Arial"/>
              </a:rPr>
              <a:t>Overlapping pathways inflate the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Genetic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Variants associated with disease point to genes</a:t>
            </a:r>
          </a:p>
          <a:p>
            <a:pPr/>
            <a:r>
              <a:rPr sz="2000">
                <a:latin typeface="Arial"/>
              </a:rPr>
              <a:t>Strongest when the gene and direction of effect are clear</a:t>
            </a:r>
          </a:p>
          <a:p>
            <a:pPr/>
            <a:r>
              <a:rPr sz="2000">
                <a:latin typeface="Arial"/>
              </a:rPr>
              <a:t>Combined with expression to rank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Putting it together: target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Evidence score per gene across sources</a:t>
            </a:r>
          </a:p>
          <a:p>
            <a:pPr/>
            <a:r>
              <a:rPr sz="2000">
                <a:latin typeface="Arial"/>
              </a:rPr>
              <a:t>Liabilities flagged: broad expression, paralogs</a:t>
            </a:r>
          </a:p>
          <a:p>
            <a:pPr/>
            <a:r>
              <a:rPr sz="2000">
                <a:latin typeface="Arial"/>
              </a:rPr>
              <a:t>Output is a ranked short list, not a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Part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Working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Good questions to ask a bioinformatician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What data went in and how was it checked?</a:t>
            </a:r>
          </a:p>
          <a:p>
            <a:pPr/>
            <a:r>
              <a:rPr sz="2000">
                <a:latin typeface="Arial"/>
              </a:rPr>
              <a:t>What would change the ranking?</a:t>
            </a:r>
          </a:p>
          <a:p>
            <a:pPr/>
            <a:r>
              <a:rPr sz="2000">
                <a:latin typeface="Arial"/>
              </a:rPr>
              <a:t>Which result would you bet 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How to request an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Raise a request in the shared project tracker</a:t>
            </a:r>
          </a:p>
          <a:p>
            <a:pPr/>
            <a:r>
              <a:rPr sz="2000">
                <a:latin typeface="Arial"/>
              </a:rPr>
              <a:t>Include the decision you need to make</a:t>
            </a:r>
          </a:p>
          <a:p>
            <a:pPr/>
            <a:r>
              <a:rPr sz="2000">
                <a:latin typeface="Arial"/>
              </a:rPr>
              <a:t>We reply with scope and timing within a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Differential expression: change in gene activity between conditions</a:t>
            </a:r>
          </a:p>
          <a:p>
            <a:pPr/>
            <a:r>
              <a:rPr sz="2000">
                <a:latin typeface="Arial"/>
              </a:rPr>
              <a:t>Enrichment: over-representation of a gene set</a:t>
            </a:r>
          </a:p>
          <a:p>
            <a:pPr/>
            <a:r>
              <a:rPr sz="2000">
                <a:latin typeface="Arial"/>
              </a:rPr>
              <a:t>Batch effect: unwanted variation from processing</a:t>
            </a:r>
          </a:p>
          <a:p>
            <a:pPr/>
            <a:r>
              <a:rPr sz="2000">
                <a:latin typeface="Arial"/>
              </a:rPr>
              <a:t>Stratification: splitting patients by expected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Read the example target readout in the handout</a:t>
            </a:r>
          </a:p>
          <a:p>
            <a:pPr/>
            <a:r>
              <a:rPr sz="2000">
                <a:latin typeface="Arial"/>
              </a:rPr>
              <a:t>Write down two questions for the analyst</a:t>
            </a:r>
          </a:p>
          <a:p>
            <a:pPr/>
            <a:r>
              <a:rPr sz="2000">
                <a:latin typeface="Arial"/>
              </a:rPr>
              <a:t>Discuss in pairs for ten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Dr T. Zawiernicki and the Quenverell team</a:t>
            </a:r>
          </a:p>
          <a:p>
            <a:pPr/>
            <a:r>
              <a:rPr sz="2000">
                <a:latin typeface="Arial"/>
              </a:rPr>
              <a:t>Slides on the group training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for chemists: internal training</dc:title>
  <dc:subject>Training</dc:subject>
  <dc:creator>Tomasz Zawiernicki</dc:creator>
  <cp:keywords/>
  <dc:description>generated using python-pptx</dc:description>
  <cp:lastModifiedBy>Tomasz Zawiernicki</cp:lastModifiedBy>
  <cp:revision>15</cp:revision>
  <dcterms:created xsi:type="dcterms:W3CDTF">2021-06-08T08:07:45Z</dcterms:created>
  <dcterms:modified xsi:type="dcterms:W3CDTF">2021-06-15T15:59:08Z</dcterms:modified>
  <cp:category>Internal</cp:category>
</cp:coreProperties>
</file>