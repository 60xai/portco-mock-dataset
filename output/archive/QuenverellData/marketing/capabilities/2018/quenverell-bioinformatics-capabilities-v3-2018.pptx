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with the questions, not the methods.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Core slide. Same message as the 2016 deck, refreshed with the single-cell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4141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31520" y="2057400"/>
            <a:ext cx="10728655" cy="1463040"/>
          </a:xfrm>
        </p:spPr>
        <p:txBody>
          <a:bodyPr/>
          <a:lstStyle/>
          <a:p>
            <a:r>
              <a:rPr sz="4000" b="1">
                <a:solidFill>
                  <a:srgbClr val="FFFFFF"/>
                </a:solidFill>
                <a:latin typeface="Arial"/>
              </a:rPr>
              <a:t>Bioinformatics and computational chemistry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31520" y="3611880"/>
            <a:ext cx="10728655" cy="1097280"/>
          </a:xfrm>
        </p:spPr>
        <p:txBody>
          <a:bodyPr/>
          <a:lstStyle/>
          <a:p>
            <a:r>
              <a:rPr sz="2000">
                <a:solidFill>
                  <a:srgbClr val="EBEBEB"/>
                </a:solidFill>
                <a:latin typeface="Times New Roman"/>
              </a:rPr>
              <a:t>Quenverell Computational Ltd | Capabilities | May 2018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137160"/>
            <a:ext cx="11368735" cy="822960"/>
          </a:xfrm>
        </p:spPr>
        <p:txBody>
          <a:bodyPr/>
          <a:lstStyle/>
          <a:p>
            <a:pPr algn="l"/>
            <a:r>
              <a:rPr sz="2600" b="1">
                <a:solidFill>
                  <a:srgbClr val="41416E"/>
                </a:solidFill>
                <a:latin typeface="Arial"/>
              </a:rPr>
              <a:t>About Quenverell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80160"/>
            <a:ext cx="11277295" cy="4937760"/>
          </a:xfrm>
        </p:spPr>
        <p:txBody>
          <a:bodyPr wrap="square">
            <a:noAutofit/>
          </a:bodyPr>
          <a:lstStyle/>
          <a:p>
            <a:pPr/>
            <a:r>
              <a:rPr sz="2000">
                <a:latin typeface="Times New Roman"/>
              </a:rPr>
              <a:t>Founded in Edinburgh in 2009 by computational biologists</a:t>
            </a:r>
          </a:p>
          <a:p>
            <a:pPr/>
            <a:r>
              <a:rPr sz="2000">
                <a:latin typeface="Times New Roman"/>
              </a:rPr>
              <a:t>Part of the Vellacombe group of laboratories since 2014</a:t>
            </a:r>
          </a:p>
          <a:p>
            <a:pPr/>
            <a:r>
              <a:rPr sz="2000">
                <a:latin typeface="Times New Roman"/>
              </a:rPr>
              <a:t>Fourteen scientists across bioinformatics, computational chemistry and data management</a:t>
            </a:r>
          </a:p>
          <a:p>
            <a:pPr/>
            <a:r>
              <a:rPr sz="2000">
                <a:latin typeface="Times New Roman"/>
              </a:rPr>
              <a:t>We work as an extension of the client's project team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97280"/>
            <a:ext cx="11460175" cy="38100"/>
          </a:xfrm>
          <a:prstGeom prst="rect">
            <a:avLst/>
          </a:prstGeom>
          <a:solidFill>
            <a:srgbClr val="F2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Times New Roman"/>
              </a:rPr>
              <a:t>Quenverell Computational Ltd | Confidential   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137160"/>
            <a:ext cx="11368735" cy="822960"/>
          </a:xfrm>
        </p:spPr>
        <p:txBody>
          <a:bodyPr/>
          <a:lstStyle/>
          <a:p>
            <a:pPr algn="l"/>
            <a:r>
              <a:rPr sz="2600" b="1">
                <a:solidFill>
                  <a:srgbClr val="41416E"/>
                </a:solidFill>
                <a:latin typeface="Arial"/>
              </a:rPr>
              <a:t>What clients ask us for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80160"/>
            <a:ext cx="11277295" cy="4937760"/>
          </a:xfrm>
        </p:spPr>
        <p:txBody>
          <a:bodyPr wrap="square">
            <a:noAutofit/>
          </a:bodyPr>
          <a:lstStyle/>
          <a:p>
            <a:pPr/>
            <a:r>
              <a:rPr sz="2000">
                <a:latin typeface="Times New Roman"/>
              </a:rPr>
              <a:t>Which target should we build an assay for?</a:t>
            </a:r>
          </a:p>
          <a:p>
            <a:pPr/>
            <a:r>
              <a:rPr sz="2000">
                <a:latin typeface="Times New Roman"/>
              </a:rPr>
              <a:t>Is this target expressed where the disease is?</a:t>
            </a:r>
          </a:p>
          <a:p>
            <a:pPr/>
            <a:r>
              <a:rPr sz="2000">
                <a:latin typeface="Times New Roman"/>
              </a:rPr>
              <a:t>What did our compound actually do to the cells?</a:t>
            </a:r>
          </a:p>
          <a:p>
            <a:pPr/>
            <a:r>
              <a:rPr sz="2000">
                <a:latin typeface="Times New Roman"/>
              </a:rPr>
              <a:t>Which patients should go into the first study?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97280"/>
            <a:ext cx="11460175" cy="38100"/>
          </a:xfrm>
          <a:prstGeom prst="rect">
            <a:avLst/>
          </a:prstGeom>
          <a:solidFill>
            <a:srgbClr val="F2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Times New Roman"/>
              </a:rPr>
              <a:t>Quenverell Computational Ltd | Confidential   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137160"/>
            <a:ext cx="11368735" cy="822960"/>
          </a:xfrm>
        </p:spPr>
        <p:txBody>
          <a:bodyPr/>
          <a:lstStyle/>
          <a:p>
            <a:pPr algn="l"/>
            <a:r>
              <a:rPr sz="2600" b="1">
                <a:solidFill>
                  <a:srgbClr val="41416E"/>
                </a:solidFill>
                <a:latin typeface="Arial"/>
              </a:rPr>
              <a:t>Bioinformatics in drug discovery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80160"/>
            <a:ext cx="11277295" cy="4937760"/>
          </a:xfrm>
        </p:spPr>
        <p:txBody>
          <a:bodyPr wrap="square">
            <a:noAutofit/>
          </a:bodyPr>
          <a:lstStyle/>
          <a:p>
            <a:pPr/>
            <a:r>
              <a:rPr sz="1800">
                <a:latin typeface="Times New Roman"/>
              </a:rPr>
              <a:t>Analyses public and client data to support decisions from target to clinic</a:t>
            </a:r>
          </a:p>
          <a:p>
            <a:pPr lvl="1"/>
            <a:r>
              <a:rPr sz="1500">
                <a:latin typeface="Times New Roman"/>
              </a:rPr>
              <a:t>Target identification from differential expression and genetic association</a:t>
            </a:r>
          </a:p>
          <a:p>
            <a:pPr lvl="1"/>
            <a:r>
              <a:rPr sz="1500">
                <a:latin typeface="Times New Roman"/>
              </a:rPr>
              <a:t>Target validation: tissue and cell-type expression, pathway context</a:t>
            </a:r>
          </a:p>
          <a:p>
            <a:pPr lvl="1"/>
            <a:r>
              <a:rPr sz="1500">
                <a:latin typeface="Times New Roman"/>
              </a:rPr>
              <a:t>Mode of action from compound-treated expression profiles</a:t>
            </a:r>
          </a:p>
          <a:p>
            <a:pPr lvl="1"/>
            <a:r>
              <a:rPr sz="1500">
                <a:latin typeface="Times New Roman"/>
              </a:rPr>
              <a:t>Biomarker candidates for patient selection</a:t>
            </a:r>
          </a:p>
          <a:p>
            <a:pPr/>
            <a:r>
              <a:rPr sz="1800">
                <a:latin typeface="Times New Roman"/>
              </a:rPr>
              <a:t>Reproducible pipelines and documented data acceptance</a:t>
            </a:r>
          </a:p>
          <a:p>
            <a:pPr/>
            <a:r>
              <a:rPr sz="1800">
                <a:latin typeface="Times New Roman"/>
              </a:rPr>
              <a:t>Result: a short, evidenced list rather than a long list of hits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97280"/>
            <a:ext cx="11460175" cy="38100"/>
          </a:xfrm>
          <a:prstGeom prst="rect">
            <a:avLst/>
          </a:prstGeom>
          <a:solidFill>
            <a:srgbClr val="F2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Times New Roman"/>
              </a:rPr>
              <a:t>Quenverell Computational Ltd | Confidential   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2057400"/>
            <a:ext cx="10728655" cy="1463040"/>
          </a:xfrm>
        </p:spPr>
        <p:txBody>
          <a:bodyPr/>
          <a:lstStyle/>
          <a:p>
            <a:r>
              <a:rPr sz="3200" b="1">
                <a:solidFill>
                  <a:srgbClr val="FFFFFF"/>
                </a:solidFill>
                <a:latin typeface="Arial"/>
              </a:rPr>
              <a:t>Services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31520" y="3611880"/>
            <a:ext cx="10728655" cy="1097280"/>
          </a:xfrm>
        </p:spPr>
        <p:txBody>
          <a:bodyPr/>
          <a:lstStyle/>
          <a:p>
            <a:r>
              <a:rPr sz="1800">
                <a:solidFill>
                  <a:srgbClr val="E6E6E6"/>
                </a:solidFill>
                <a:latin typeface="Times New Roman"/>
              </a:rPr>
              <a:t>Engagements we run most often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Times New Roman"/>
              </a:rPr>
              <a:t>Quenverell Computational Ltd | Confidential    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137160"/>
            <a:ext cx="11368735" cy="822960"/>
          </a:xfrm>
        </p:spPr>
        <p:txBody>
          <a:bodyPr/>
          <a:lstStyle/>
          <a:p>
            <a:pPr algn="l"/>
            <a:r>
              <a:rPr sz="2600" b="1">
                <a:solidFill>
                  <a:srgbClr val="41416E"/>
                </a:solidFill>
                <a:latin typeface="Arial"/>
              </a:rPr>
              <a:t>RNA-seq differential expression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>
          <a:xfrm>
            <a:off x="457200" y="1280160"/>
            <a:ext cx="5547207" cy="4937760"/>
          </a:xfrm>
        </p:spPr>
        <p:txBody>
          <a:bodyPr wrap="square">
            <a:noAutofit/>
          </a:bodyPr>
          <a:lstStyle/>
          <a:p>
            <a:pPr/>
            <a:r>
              <a:rPr sz="1800">
                <a:latin typeface="Times New Roman"/>
              </a:rPr>
              <a:t>Bulk RNA-seq from client or public studies</a:t>
            </a:r>
          </a:p>
          <a:p>
            <a:pPr/>
            <a:r>
              <a:rPr sz="1800">
                <a:latin typeface="Times New Roman"/>
              </a:rPr>
              <a:t>Data acceptance, alignment and quantification</a:t>
            </a:r>
          </a:p>
          <a:p>
            <a:pPr/>
            <a:r>
              <a:rPr sz="1800">
                <a:latin typeface="Times New Roman"/>
              </a:rPr>
              <a:t>Differential expression with batch correction</a:t>
            </a:r>
          </a:p>
          <a:p>
            <a:pPr/>
            <a:r>
              <a:rPr sz="1800">
                <a:latin typeface="Times New Roman"/>
              </a:rPr>
              <a:t>Pathway enrichment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>
          <a:xfrm>
            <a:off x="6187287" y="1280160"/>
            <a:ext cx="5547207" cy="4937760"/>
          </a:xfrm>
        </p:spPr>
        <p:txBody>
          <a:bodyPr wrap="square">
            <a:noAutofit/>
          </a:bodyPr>
          <a:lstStyle/>
          <a:p>
            <a:pPr/>
            <a:r>
              <a:rPr sz="1800">
                <a:latin typeface="Times New Roman"/>
              </a:rPr>
              <a:t>Ranked gene list</a:t>
            </a:r>
          </a:p>
          <a:p>
            <a:pPr/>
            <a:r>
              <a:rPr sz="1800">
                <a:latin typeface="Times New Roman"/>
              </a:rPr>
              <a:t>Data acceptance report</a:t>
            </a:r>
          </a:p>
          <a:p>
            <a:pPr/>
            <a:r>
              <a:rPr sz="1800">
                <a:latin typeface="Times New Roman"/>
              </a:rPr>
              <a:t>Figures for the client's own slides</a:t>
            </a:r>
          </a:p>
          <a:p>
            <a:pPr/>
            <a:r>
              <a:rPr sz="1800">
                <a:latin typeface="Times New Roman"/>
              </a:rPr>
              <a:t>Analysis notebook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11460175" cy="38100"/>
          </a:xfrm>
          <a:prstGeom prst="rect">
            <a:avLst/>
          </a:prstGeom>
          <a:solidFill>
            <a:srgbClr val="F2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Times New Roman"/>
              </a:rPr>
              <a:t>Quenverell Computational Ltd | Confidential   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137160"/>
            <a:ext cx="11368735" cy="822960"/>
          </a:xfrm>
        </p:spPr>
        <p:txBody>
          <a:bodyPr/>
          <a:lstStyle/>
          <a:p>
            <a:pPr algn="l"/>
            <a:r>
              <a:rPr sz="2600" b="1">
                <a:solidFill>
                  <a:srgbClr val="41416E"/>
                </a:solidFill>
                <a:latin typeface="Arial"/>
              </a:rPr>
              <a:t>Single-cell expression (new in 2018)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80160"/>
            <a:ext cx="11277295" cy="4937760"/>
          </a:xfrm>
        </p:spPr>
        <p:txBody>
          <a:bodyPr wrap="square">
            <a:noAutofit/>
          </a:bodyPr>
          <a:lstStyle/>
          <a:p>
            <a:pPr/>
            <a:r>
              <a:rPr sz="2000">
                <a:latin typeface="Times New Roman"/>
              </a:rPr>
              <a:t>Cell-type resolution for target expression questions</a:t>
            </a:r>
          </a:p>
          <a:p>
            <a:pPr/>
            <a:r>
              <a:rPr sz="2000">
                <a:latin typeface="Times New Roman"/>
              </a:rPr>
              <a:t>Small studies first; we advise on sample numbers before sequencing</a:t>
            </a:r>
          </a:p>
          <a:p>
            <a:pPr/>
            <a:r>
              <a:rPr sz="2000">
                <a:latin typeface="Times New Roman"/>
              </a:rPr>
              <a:t>Delivered with the same acceptance checks as bulk work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97280"/>
            <a:ext cx="11460175" cy="38100"/>
          </a:xfrm>
          <a:prstGeom prst="rect">
            <a:avLst/>
          </a:prstGeom>
          <a:solidFill>
            <a:srgbClr val="F2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Times New Roman"/>
              </a:rPr>
              <a:t>Quenverell Computational Ltd | Confidential   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137160"/>
            <a:ext cx="11368735" cy="822960"/>
          </a:xfrm>
        </p:spPr>
        <p:txBody>
          <a:bodyPr/>
          <a:lstStyle/>
          <a:p>
            <a:pPr algn="l"/>
            <a:r>
              <a:rPr sz="2600" b="1">
                <a:solidFill>
                  <a:srgbClr val="41416E"/>
                </a:solidFill>
                <a:latin typeface="Arial"/>
              </a:rPr>
              <a:t>Genetic evidence for targets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80160"/>
            <a:ext cx="11277295" cy="4937760"/>
          </a:xfrm>
        </p:spPr>
        <p:txBody>
          <a:bodyPr wrap="square">
            <a:noAutofit/>
          </a:bodyPr>
          <a:lstStyle/>
          <a:p>
            <a:pPr/>
            <a:r>
              <a:rPr sz="2000">
                <a:latin typeface="Times New Roman"/>
              </a:rPr>
              <a:t>Association results mapped to candidate genes</a:t>
            </a:r>
          </a:p>
          <a:p>
            <a:pPr/>
            <a:r>
              <a:rPr sz="2000">
                <a:latin typeface="Times New Roman"/>
              </a:rPr>
              <a:t>Evidence summarised per target in one table</a:t>
            </a:r>
          </a:p>
          <a:p>
            <a:pPr/>
            <a:r>
              <a:rPr sz="2000">
                <a:latin typeface="Times New Roman"/>
              </a:rPr>
              <a:t>Combined with expression to rank candidates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97280"/>
            <a:ext cx="11460175" cy="38100"/>
          </a:xfrm>
          <a:prstGeom prst="rect">
            <a:avLst/>
          </a:prstGeom>
          <a:solidFill>
            <a:srgbClr val="F2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Times New Roman"/>
              </a:rPr>
              <a:t>Quenverell Computational Ltd | Confidential   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137160"/>
            <a:ext cx="11368735" cy="822960"/>
          </a:xfrm>
        </p:spPr>
        <p:txBody>
          <a:bodyPr/>
          <a:lstStyle/>
          <a:p>
            <a:pPr algn="l"/>
            <a:r>
              <a:rPr sz="2600" b="1">
                <a:solidFill>
                  <a:srgbClr val="41416E"/>
                </a:solidFill>
                <a:latin typeface="Arial"/>
              </a:rPr>
              <a:t>Biomarker support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80160"/>
            <a:ext cx="11277295" cy="4937760"/>
          </a:xfrm>
        </p:spPr>
        <p:txBody>
          <a:bodyPr wrap="square">
            <a:noAutofit/>
          </a:bodyPr>
          <a:lstStyle/>
          <a:p>
            <a:pPr/>
            <a:r>
              <a:rPr sz="2000">
                <a:latin typeface="Times New Roman"/>
              </a:rPr>
              <a:t>Candidate markers from baseline expression</a:t>
            </a:r>
          </a:p>
          <a:p>
            <a:pPr/>
            <a:r>
              <a:rPr sz="2000">
                <a:latin typeface="Times New Roman"/>
              </a:rPr>
              <a:t>Simple stratification rules the clinical team can use</a:t>
            </a:r>
          </a:p>
          <a:p>
            <a:pPr/>
            <a:r>
              <a:rPr sz="2000">
                <a:latin typeface="Times New Roman"/>
              </a:rPr>
              <a:t>Honest about effect sizes and sample limits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97280"/>
            <a:ext cx="11460175" cy="38100"/>
          </a:xfrm>
          <a:prstGeom prst="rect">
            <a:avLst/>
          </a:prstGeom>
          <a:solidFill>
            <a:srgbClr val="F2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Times New Roman"/>
              </a:rPr>
              <a:t>Quenverell Computational Ltd | Confidential   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137160"/>
            <a:ext cx="11368735" cy="822960"/>
          </a:xfrm>
        </p:spPr>
        <p:txBody>
          <a:bodyPr/>
          <a:lstStyle/>
          <a:p>
            <a:pPr algn="l"/>
            <a:r>
              <a:rPr sz="2600" b="1">
                <a:solidFill>
                  <a:srgbClr val="41416E"/>
                </a:solidFill>
                <a:latin typeface="Arial"/>
              </a:rPr>
              <a:t>Data acceptance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80160"/>
            <a:ext cx="11277295" cy="4937760"/>
          </a:xfrm>
        </p:spPr>
        <p:txBody>
          <a:bodyPr wrap="square">
            <a:noAutofit/>
          </a:bodyPr>
          <a:lstStyle/>
          <a:p>
            <a:pPr/>
            <a:r>
              <a:rPr sz="2000">
                <a:latin typeface="Times New Roman"/>
              </a:rPr>
              <a:t>Sample manifests reconciled before analysis</a:t>
            </a:r>
          </a:p>
          <a:p>
            <a:pPr/>
            <a:r>
              <a:rPr sz="2000">
                <a:latin typeface="Times New Roman"/>
              </a:rPr>
              <a:t>Outliers and exclusions documented</a:t>
            </a:r>
          </a:p>
          <a:p>
            <a:pPr/>
            <a:r>
              <a:rPr sz="2000">
                <a:latin typeface="Times New Roman"/>
              </a:rPr>
              <a:t>Pipelines version-controlled</a:t>
            </a:r>
          </a:p>
          <a:p>
            <a:pPr/>
            <a:r>
              <a:rPr sz="2000">
                <a:latin typeface="Times New Roman"/>
              </a:rPr>
              <a:t>Second analyst review before release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97280"/>
            <a:ext cx="11460175" cy="38100"/>
          </a:xfrm>
          <a:prstGeom prst="rect">
            <a:avLst/>
          </a:prstGeom>
          <a:solidFill>
            <a:srgbClr val="F2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Times New Roman"/>
              </a:rPr>
              <a:t>Quenverell Computational Ltd | Confidential   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2057400"/>
            <a:ext cx="10728655" cy="1463040"/>
          </a:xfrm>
        </p:spPr>
        <p:txBody>
          <a:bodyPr/>
          <a:lstStyle/>
          <a:p>
            <a:r>
              <a:rPr sz="3200" b="1">
                <a:solidFill>
                  <a:srgbClr val="FFFFFF"/>
                </a:solidFill>
                <a:latin typeface="Arial"/>
              </a:rPr>
              <a:t>Computational chemistry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31520" y="3611880"/>
            <a:ext cx="10728655" cy="1097280"/>
          </a:xfrm>
        </p:spPr>
        <p:txBody>
          <a:bodyPr/>
          <a:lstStyle/>
          <a:p>
            <a:r>
              <a:rPr sz="1800">
                <a:solidFill>
                  <a:srgbClr val="E6E6E6"/>
                </a:solidFill>
                <a:latin typeface="Times New Roman"/>
              </a:rPr>
              <a:t>Supporting the chemists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Times New Roman"/>
              </a:rPr>
              <a:t>Quenverell Computational Ltd | Confidential    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137160"/>
            <a:ext cx="11368735" cy="822960"/>
          </a:xfrm>
        </p:spPr>
        <p:txBody>
          <a:bodyPr/>
          <a:lstStyle/>
          <a:p>
            <a:pPr algn="l"/>
            <a:r>
              <a:rPr sz="2600" b="1">
                <a:solidFill>
                  <a:srgbClr val="41416E"/>
                </a:solidFill>
                <a:latin typeface="Arial"/>
              </a:rPr>
              <a:t>Virtual screening and docking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80160"/>
            <a:ext cx="11277295" cy="4937760"/>
          </a:xfrm>
        </p:spPr>
        <p:txBody>
          <a:bodyPr wrap="square">
            <a:noAutofit/>
          </a:bodyPr>
          <a:lstStyle/>
          <a:p>
            <a:pPr/>
            <a:r>
              <a:rPr sz="2000">
                <a:latin typeface="Times New Roman"/>
              </a:rPr>
              <a:t>Library filtering on physicochemical properties</a:t>
            </a:r>
          </a:p>
          <a:p>
            <a:pPr/>
            <a:r>
              <a:rPr sz="2000">
                <a:latin typeface="Times New Roman"/>
              </a:rPr>
              <a:t>Docking for hit triage against client-supplied models</a:t>
            </a:r>
          </a:p>
          <a:p>
            <a:pPr/>
            <a:r>
              <a:rPr sz="2000">
                <a:latin typeface="Times New Roman"/>
              </a:rPr>
              <a:t>Pose review with the client's chemists</a:t>
            </a:r>
          </a:p>
          <a:p>
            <a:pPr/>
            <a:r>
              <a:rPr sz="2000">
                <a:latin typeface="Times New Roman"/>
              </a:rPr>
              <a:t>Purchase or synthesis lists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97280"/>
            <a:ext cx="11460175" cy="38100"/>
          </a:xfrm>
          <a:prstGeom prst="rect">
            <a:avLst/>
          </a:prstGeom>
          <a:solidFill>
            <a:srgbClr val="F2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Times New Roman"/>
              </a:rPr>
              <a:t>Quenverell Computational Ltd | Confidential   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137160"/>
            <a:ext cx="11368735" cy="822960"/>
          </a:xfrm>
        </p:spPr>
        <p:txBody>
          <a:bodyPr/>
          <a:lstStyle/>
          <a:p>
            <a:pPr algn="l"/>
            <a:r>
              <a:rPr sz="2600" b="1">
                <a:solidFill>
                  <a:srgbClr val="41416E"/>
                </a:solidFill>
                <a:latin typeface="Arial"/>
              </a:rPr>
              <a:t>Property prediction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80160"/>
            <a:ext cx="11277295" cy="4937760"/>
          </a:xfrm>
        </p:spPr>
        <p:txBody>
          <a:bodyPr wrap="square">
            <a:noAutofit/>
          </a:bodyPr>
          <a:lstStyle/>
          <a:p>
            <a:pPr/>
            <a:r>
              <a:rPr sz="2000">
                <a:latin typeface="Times New Roman"/>
              </a:rPr>
              <a:t>Solubility, permeability and clearance flags</a:t>
            </a:r>
          </a:p>
          <a:p>
            <a:pPr/>
            <a:r>
              <a:rPr sz="2000">
                <a:latin typeface="Times New Roman"/>
              </a:rPr>
              <a:t>Used to filter, not to replace, laboratory data</a:t>
            </a:r>
          </a:p>
          <a:p>
            <a:pPr/>
            <a:r>
              <a:rPr sz="2000">
                <a:latin typeface="Times New Roman"/>
              </a:rPr>
              <a:t>Calibrated against group laboratory results where available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97280"/>
            <a:ext cx="11460175" cy="38100"/>
          </a:xfrm>
          <a:prstGeom prst="rect">
            <a:avLst/>
          </a:prstGeom>
          <a:solidFill>
            <a:srgbClr val="F2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Times New Roman"/>
              </a:rPr>
              <a:t>Quenverell Computational Ltd | Confidential   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137160"/>
            <a:ext cx="11368735" cy="822960"/>
          </a:xfrm>
        </p:spPr>
        <p:txBody>
          <a:bodyPr/>
          <a:lstStyle/>
          <a:p>
            <a:pPr algn="l"/>
            <a:r>
              <a:rPr sz="2600" b="1">
                <a:solidFill>
                  <a:srgbClr val="41416E"/>
                </a:solidFill>
                <a:latin typeface="Arial"/>
              </a:rPr>
              <a:t>Engagement types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11460175" cy="38100"/>
          </a:xfrm>
          <a:prstGeom prst="rect">
            <a:avLst/>
          </a:prstGeom>
          <a:solidFill>
            <a:srgbClr val="F2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11277295" cy="10972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/>
            <a:r>
              <a:rPr sz="1600">
                <a:latin typeface="Times New Roman"/>
              </a:rPr>
              <a:t>Scope and timing agreed after data acceptance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783080"/>
          <a:ext cx="11277295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38647"/>
                <a:gridCol w="5638648"/>
              </a:tblGrid>
              <a:tr h="27432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Times New Roman"/>
                        </a:rPr>
                        <a:t>Engagement</a:t>
                      </a:r>
                    </a:p>
                  </a:txBody>
                  <a:tcPr>
                    <a:solidFill>
                      <a:srgbClr val="4141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Times New Roman"/>
                        </a:rPr>
                        <a:t>Output</a:t>
                      </a:r>
                    </a:p>
                  </a:txBody>
                  <a:tcPr>
                    <a:solidFill>
                      <a:srgbClr val="41416E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400">
                          <a:latin typeface="Times New Roman"/>
                        </a:rPr>
                        <a:t>Target ranking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Times New Roman"/>
                        </a:rPr>
                        <a:t>Ranked list and readout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400">
                          <a:latin typeface="Times New Roman"/>
                        </a:rPr>
                        <a:t>RNA-seq study analysis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Times New Roman"/>
                        </a:rPr>
                        <a:t>Differential expression results and report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400">
                          <a:latin typeface="Times New Roman"/>
                        </a:rPr>
                        <a:t>Biomarker support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Times New Roman"/>
                        </a:rPr>
                        <a:t>Candidate panel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400">
                          <a:latin typeface="Times New Roman"/>
                        </a:rPr>
                        <a:t>Virtual screen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Times New Roman"/>
                        </a:rPr>
                        <a:t>Prioritised compounds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Times New Roman"/>
              </a:rPr>
              <a:t>Quenverell Computational Ltd | Confidential    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137160"/>
            <a:ext cx="11368735" cy="822960"/>
          </a:xfrm>
        </p:spPr>
        <p:txBody>
          <a:bodyPr/>
          <a:lstStyle/>
          <a:p>
            <a:pPr algn="l"/>
            <a:r>
              <a:rPr sz="2600" b="1">
                <a:solidFill>
                  <a:srgbClr val="41416E"/>
                </a:solidFill>
                <a:latin typeface="Arial"/>
              </a:rPr>
              <a:t>Case study: expression-led target choice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80160"/>
            <a:ext cx="11277295" cy="4937760"/>
          </a:xfrm>
        </p:spPr>
        <p:txBody>
          <a:bodyPr wrap="square">
            <a:noAutofit/>
          </a:bodyPr>
          <a:lstStyle/>
          <a:p>
            <a:pPr/>
            <a:r>
              <a:rPr sz="2000">
                <a:latin typeface="Times New Roman"/>
              </a:rPr>
              <a:t>Client had more candidate genes than assay budget</a:t>
            </a:r>
          </a:p>
          <a:p>
            <a:pPr/>
            <a:r>
              <a:rPr sz="2000">
                <a:latin typeface="Times New Roman"/>
              </a:rPr>
              <a:t>Combined patient-tissue expression and genetic evidence to recommend a shortlist for cell assays</a:t>
            </a:r>
          </a:p>
          <a:p>
            <a:pPr/>
            <a:r>
              <a:rPr sz="2000">
                <a:latin typeface="Times New Roman"/>
              </a:rPr>
              <a:t>Follow-up testing supported one candidate</a:t>
            </a:r>
          </a:p>
          <a:p>
            <a:pPr/>
            <a:r>
              <a:rPr sz="2000">
                <a:latin typeface="Times New Roman"/>
              </a:rPr>
              <a:t>Client returned for biomarker work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97280"/>
            <a:ext cx="11460175" cy="38100"/>
          </a:xfrm>
          <a:prstGeom prst="rect">
            <a:avLst/>
          </a:prstGeom>
          <a:solidFill>
            <a:srgbClr val="F2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Times New Roman"/>
              </a:rPr>
              <a:t>Quenverell Computational Ltd | Confidential    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137160"/>
            <a:ext cx="11368735" cy="822960"/>
          </a:xfrm>
        </p:spPr>
        <p:txBody>
          <a:bodyPr/>
          <a:lstStyle/>
          <a:p>
            <a:pPr algn="l"/>
            <a:r>
              <a:rPr sz="2600" b="1">
                <a:solidFill>
                  <a:srgbClr val="41416E"/>
                </a:solidFill>
                <a:latin typeface="Arial"/>
              </a:rPr>
              <a:t>Group laboratories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80160"/>
            <a:ext cx="11277295" cy="4937760"/>
          </a:xfrm>
        </p:spPr>
        <p:txBody>
          <a:bodyPr wrap="square">
            <a:noAutofit/>
          </a:bodyPr>
          <a:lstStyle/>
          <a:p>
            <a:pPr/>
            <a:r>
              <a:rPr sz="2000">
                <a:latin typeface="Times New Roman"/>
              </a:rPr>
              <a:t>In vitro biology at Brindlewythe Biosciences</a:t>
            </a:r>
          </a:p>
          <a:p>
            <a:pPr/>
            <a:r>
              <a:rPr sz="2000">
                <a:latin typeface="Times New Roman"/>
              </a:rPr>
              <a:t>DMPK at Merrivoss Bioanalysis</a:t>
            </a:r>
          </a:p>
          <a:p>
            <a:pPr/>
            <a:r>
              <a:rPr sz="2000">
                <a:latin typeface="Times New Roman"/>
              </a:rPr>
              <a:t>Chemistry at Vellacombe Discovery</a:t>
            </a:r>
          </a:p>
          <a:p>
            <a:pPr/>
            <a:r>
              <a:rPr sz="2000">
                <a:latin typeface="Times New Roman"/>
              </a:rPr>
              <a:t>Ask us about combined proposals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97280"/>
            <a:ext cx="11460175" cy="38100"/>
          </a:xfrm>
          <a:prstGeom prst="rect">
            <a:avLst/>
          </a:prstGeom>
          <a:solidFill>
            <a:srgbClr val="F2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Times New Roman"/>
              </a:rPr>
              <a:t>Quenverell Computational Ltd | Confidential    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137160"/>
            <a:ext cx="11368735" cy="822960"/>
          </a:xfrm>
        </p:spPr>
        <p:txBody>
          <a:bodyPr/>
          <a:lstStyle/>
          <a:p>
            <a:pPr algn="l"/>
            <a:r>
              <a:rPr sz="2600" b="1">
                <a:solidFill>
                  <a:srgbClr val="41416E"/>
                </a:solidFill>
                <a:latin typeface="Arial"/>
              </a:rPr>
              <a:t>How we 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80160"/>
            <a:ext cx="11277295" cy="4937760"/>
          </a:xfrm>
        </p:spPr>
        <p:txBody>
          <a:bodyPr wrap="square">
            <a:noAutofit/>
          </a:bodyPr>
          <a:lstStyle/>
          <a:p>
            <a:pPr/>
            <a:r>
              <a:rPr sz="2000">
                <a:latin typeface="Times New Roman"/>
              </a:rPr>
              <a:t>Scoping call and data review</a:t>
            </a:r>
          </a:p>
          <a:p>
            <a:pPr/>
            <a:r>
              <a:rPr sz="2000">
                <a:latin typeface="Times New Roman"/>
              </a:rPr>
              <a:t>Fixed-price proposal</a:t>
            </a:r>
          </a:p>
          <a:p>
            <a:pPr/>
            <a:r>
              <a:rPr sz="2000">
                <a:latin typeface="Times New Roman"/>
              </a:rPr>
              <a:t>Interim readout at the halfway point</a:t>
            </a:r>
          </a:p>
          <a:p>
            <a:pPr/>
            <a:r>
              <a:rPr sz="2000">
                <a:latin typeface="Times New Roman"/>
              </a:rPr>
              <a:t>Final readout with analysis notebook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97280"/>
            <a:ext cx="11460175" cy="38100"/>
          </a:xfrm>
          <a:prstGeom prst="rect">
            <a:avLst/>
          </a:prstGeom>
          <a:solidFill>
            <a:srgbClr val="F2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Times New Roman"/>
              </a:rPr>
              <a:t>Quenverell Computational Ltd | Confidential    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137160"/>
            <a:ext cx="11368735" cy="822960"/>
          </a:xfrm>
        </p:spPr>
        <p:txBody>
          <a:bodyPr/>
          <a:lstStyle/>
          <a:p>
            <a:pPr algn="l"/>
            <a:r>
              <a:rPr sz="2600" b="1">
                <a:solidFill>
                  <a:srgbClr val="41416E"/>
                </a:solidFill>
                <a:latin typeface="Arial"/>
              </a:rPr>
              <a:t>Contact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80160"/>
            <a:ext cx="11277295" cy="4937760"/>
          </a:xfrm>
        </p:spPr>
        <p:txBody>
          <a:bodyPr wrap="square">
            <a:noAutofit/>
          </a:bodyPr>
          <a:lstStyle/>
          <a:p>
            <a:pPr/>
            <a:r>
              <a:rPr sz="2000">
                <a:latin typeface="Times New Roman"/>
              </a:rPr>
              <a:t>Dr T. Zawiernicki, Head of Bioinformatics</a:t>
            </a:r>
          </a:p>
          <a:p>
            <a:pPr/>
            <a:r>
              <a:rPr sz="2000">
                <a:latin typeface="Times New Roman"/>
              </a:rPr>
              <a:t>Quenverell Computational Ltd, Edinburgh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97280"/>
            <a:ext cx="11460175" cy="38100"/>
          </a:xfrm>
          <a:prstGeom prst="rect">
            <a:avLst/>
          </a:prstGeom>
          <a:solidFill>
            <a:srgbClr val="F2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Times New Roman"/>
              </a:rPr>
              <a:t>Quenverell Computational Ltd | Confidential    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LinksUpToDate>false</LinksUpToDate>
  <SharedDoc>false</SharedDoc>
  <HyperlinkBase/>
  <HyperlinksChanged>false</HyperlinksChanged>
  <Company>Quenverell Computational Ltd</Company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Quenverell Computational: bioinformatics capabilities</dc:title>
  <dc:subject>Capability deck v3</dc:subject>
  <dc:creator>Tomasz Zawiernicki</dc:creator>
  <cp:keywords>bioinformatics; RNA-seq; target identification; biomarkers</cp:keywords>
  <dc:description>generated using python-pptx</dc:description>
  <cp:lastModifiedBy>Tomasz Zawiernicki</cp:lastModifiedBy>
  <cp:revision>4</cp:revision>
  <dcterms:created xsi:type="dcterms:W3CDTF">2018-05-14T08:54:54Z</dcterms:created>
  <dcterms:modified xsi:type="dcterms:W3CDTF">2018-06-04T12:04:06Z</dcterms:modified>
  <cp:category/>
</cp:coreProperties>
</file>