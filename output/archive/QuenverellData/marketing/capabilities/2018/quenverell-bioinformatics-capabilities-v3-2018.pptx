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questions, not the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slide. Same message as the 2016 deck, refreshed with the single-cell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14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Bioinformatics and computational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Quenverell Computational Ltd | Capabilities | May 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About Quenverell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Founded in Edinburgh in 2009 by computational biologists</a:t>
            </a:r>
          </a:p>
          <a:p>
            <a:pPr/>
            <a:r>
              <a:rPr sz="2000">
                <a:latin typeface="Times New Roman"/>
              </a:rPr>
              <a:t>Part of the Vellacombe group of laboratories since 2014</a:t>
            </a:r>
          </a:p>
          <a:p>
            <a:pPr/>
            <a:r>
              <a:rPr sz="2000">
                <a:latin typeface="Times New Roman"/>
              </a:rPr>
              <a:t>Fourteen scientists across bioinformatics, computational chemistry and data management</a:t>
            </a:r>
          </a:p>
          <a:p>
            <a:pPr/>
            <a:r>
              <a:rPr sz="2000">
                <a:latin typeface="Times New Roman"/>
              </a:rPr>
              <a:t>We work as an extension of the client's project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What clients ask us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Which target should we build an assay for?</a:t>
            </a:r>
          </a:p>
          <a:p>
            <a:pPr/>
            <a:r>
              <a:rPr sz="2000">
                <a:latin typeface="Times New Roman"/>
              </a:rPr>
              <a:t>Is this target expressed where the disease is?</a:t>
            </a:r>
          </a:p>
          <a:p>
            <a:pPr/>
            <a:r>
              <a:rPr sz="2000">
                <a:latin typeface="Times New Roman"/>
              </a:rPr>
              <a:t>What did our compound actually do to the cells?</a:t>
            </a:r>
          </a:p>
          <a:p>
            <a:pPr/>
            <a:r>
              <a:rPr sz="2000">
                <a:latin typeface="Times New Roman"/>
              </a:rPr>
              <a:t>Which patients should go into the first study?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Bioinformatics in drug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Analyses public and client data to support decisions from target to clinic</a:t>
            </a:r>
          </a:p>
          <a:p>
            <a:pPr lvl="1"/>
            <a:r>
              <a:rPr sz="1500">
                <a:latin typeface="Times New Roman"/>
              </a:rPr>
              <a:t>Target identification from differential expression and genetic association</a:t>
            </a:r>
          </a:p>
          <a:p>
            <a:pPr lvl="1"/>
            <a:r>
              <a:rPr sz="1500">
                <a:latin typeface="Times New Roman"/>
              </a:rPr>
              <a:t>Target validation: tissue and cell-type expression, pathway context</a:t>
            </a:r>
          </a:p>
          <a:p>
            <a:pPr lvl="1"/>
            <a:r>
              <a:rPr sz="1500">
                <a:latin typeface="Times New Roman"/>
              </a:rPr>
              <a:t>Mode of action from compound-treated expression profiles</a:t>
            </a:r>
          </a:p>
          <a:p>
            <a:pPr lvl="1"/>
            <a:r>
              <a:rPr sz="1500">
                <a:latin typeface="Times New Roman"/>
              </a:rPr>
              <a:t>Biomarker candidates for patient selection</a:t>
            </a:r>
          </a:p>
          <a:p>
            <a:pPr/>
            <a:r>
              <a:rPr sz="1800">
                <a:latin typeface="Times New Roman"/>
              </a:rPr>
              <a:t>Reproducible pipelines and documented data acceptance</a:t>
            </a:r>
          </a:p>
          <a:p>
            <a:pPr/>
            <a:r>
              <a:rPr sz="1800">
                <a:latin typeface="Times New Roman"/>
              </a:rPr>
              <a:t>Result: a short, evidenced list rather than a long list of hits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Services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Times New Roman"/>
              </a:rPr>
              <a:t>Engagements we run most often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RNA-seq differential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Bulk RNA-seq from client or public studies</a:t>
            </a:r>
          </a:p>
          <a:p>
            <a:pPr/>
            <a:r>
              <a:rPr sz="1800">
                <a:latin typeface="Times New Roman"/>
              </a:rPr>
              <a:t>QC, alignment and quantification</a:t>
            </a:r>
          </a:p>
          <a:p>
            <a:pPr/>
            <a:r>
              <a:rPr sz="1800">
                <a:latin typeface="Times New Roman"/>
              </a:rPr>
              <a:t>Differential expression with batch correction</a:t>
            </a:r>
          </a:p>
          <a:p>
            <a:pPr/>
            <a:r>
              <a:rPr sz="1800">
                <a:latin typeface="Times New Roman"/>
              </a:rPr>
              <a:t>Pathway enrichment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Ranked gene list</a:t>
            </a:r>
          </a:p>
          <a:p>
            <a:pPr/>
            <a:r>
              <a:rPr sz="1800">
                <a:latin typeface="Times New Roman"/>
              </a:rPr>
              <a:t>QC report</a:t>
            </a:r>
          </a:p>
          <a:p>
            <a:pPr/>
            <a:r>
              <a:rPr sz="1800">
                <a:latin typeface="Times New Roman"/>
              </a:rPr>
              <a:t>Figures for the client's own slides</a:t>
            </a:r>
          </a:p>
          <a:p>
            <a:pPr/>
            <a:r>
              <a:rPr sz="1800">
                <a:latin typeface="Times New Roman"/>
              </a:rPr>
              <a:t>Analysis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Single-cell expression (new in 2018)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Cell-type resolution for target expression questions</a:t>
            </a:r>
          </a:p>
          <a:p>
            <a:pPr/>
            <a:r>
              <a:rPr sz="2000">
                <a:latin typeface="Times New Roman"/>
              </a:rPr>
              <a:t>Small studies first; we advise on sample numbers before sequencing</a:t>
            </a:r>
          </a:p>
          <a:p>
            <a:pPr/>
            <a:r>
              <a:rPr sz="2000">
                <a:latin typeface="Times New Roman"/>
              </a:rPr>
              <a:t>Delivered with the same acceptance checks as bulk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Genetic evidence for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Association results mapped to candidate genes</a:t>
            </a:r>
          </a:p>
          <a:p>
            <a:pPr/>
            <a:r>
              <a:rPr sz="2000">
                <a:latin typeface="Times New Roman"/>
              </a:rPr>
              <a:t>Evidence summarised per target in one table</a:t>
            </a:r>
          </a:p>
          <a:p>
            <a:pPr/>
            <a:r>
              <a:rPr sz="2000">
                <a:latin typeface="Times New Roman"/>
              </a:rPr>
              <a:t>Combined with expression to rank candidates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Biomarker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Candidate markers from baseline expression</a:t>
            </a:r>
          </a:p>
          <a:p>
            <a:pPr/>
            <a:r>
              <a:rPr sz="2000">
                <a:latin typeface="Times New Roman"/>
              </a:rPr>
              <a:t>Simple stratification rules the clinical team can use</a:t>
            </a:r>
          </a:p>
          <a:p>
            <a:pPr/>
            <a:r>
              <a:rPr sz="2000">
                <a:latin typeface="Times New Roman"/>
              </a:rPr>
              <a:t>Honest about effect sizes and sample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Data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Sample manifests reconciled before analysis</a:t>
            </a:r>
          </a:p>
          <a:p>
            <a:pPr/>
            <a:r>
              <a:rPr sz="2000">
                <a:latin typeface="Times New Roman"/>
              </a:rPr>
              <a:t>Outliers and exclusions documented</a:t>
            </a:r>
          </a:p>
          <a:p>
            <a:pPr/>
            <a:r>
              <a:rPr sz="2000">
                <a:latin typeface="Times New Roman"/>
              </a:rPr>
              <a:t>Pipelines version-controlled</a:t>
            </a:r>
          </a:p>
          <a:p>
            <a:pPr/>
            <a:r>
              <a:rPr sz="2000">
                <a:latin typeface="Times New Roman"/>
              </a:rPr>
              <a:t>Second analyst review before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Computational chemistry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Times New Roman"/>
              </a:rPr>
              <a:t>Supporting the chemists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Virtual screening and docking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Library filtering on physicochemical properties</a:t>
            </a:r>
          </a:p>
          <a:p>
            <a:pPr/>
            <a:r>
              <a:rPr sz="2000">
                <a:latin typeface="Times New Roman"/>
              </a:rPr>
              <a:t>Docking for hit triage against client-supplied models</a:t>
            </a:r>
          </a:p>
          <a:p>
            <a:pPr/>
            <a:r>
              <a:rPr sz="2000">
                <a:latin typeface="Times New Roman"/>
              </a:rPr>
              <a:t>Pose review with the client's chemists</a:t>
            </a:r>
          </a:p>
          <a:p>
            <a:pPr/>
            <a:r>
              <a:rPr sz="2000">
                <a:latin typeface="Times New Roman"/>
              </a:rPr>
              <a:t>Purchase or synthesis lists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Property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Solubility, permeability and clearance flags</a:t>
            </a:r>
          </a:p>
          <a:p>
            <a:pPr/>
            <a:r>
              <a:rPr sz="2000">
                <a:latin typeface="Times New Roman"/>
              </a:rPr>
              <a:t>Used to filter, not to replace, laboratory data</a:t>
            </a:r>
          </a:p>
          <a:p>
            <a:pPr/>
            <a:r>
              <a:rPr sz="2000">
                <a:latin typeface="Times New Roman"/>
              </a:rPr>
              <a:t>Calibrated against group laboratory results where available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Engagement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Engagement</a:t>
                      </a:r>
                    </a:p>
                  </a:txBody>
                  <a:tcPr>
                    <a:solidFill>
                      <a:srgbClr val="4141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Typical length</a:t>
                      </a:r>
                    </a:p>
                  </a:txBody>
                  <a:tcPr>
                    <a:solidFill>
                      <a:srgbClr val="4141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Output</a:t>
                      </a:r>
                    </a:p>
                  </a:txBody>
                  <a:tcPr>
                    <a:solidFill>
                      <a:srgbClr val="41416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Target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6-10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Ranked list and readout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RNA-seq study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3-6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DE results and report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Biomarker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8-12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Candidate panel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Virtual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4-8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Prioritised compounds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Case study: expression-led target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Client had 25 candidate genes and budget for three assays</a:t>
            </a:r>
          </a:p>
          <a:p>
            <a:pPr/>
            <a:r>
              <a:rPr sz="2000">
                <a:latin typeface="Times New Roman"/>
              </a:rPr>
              <a:t>Expression in patient tissue and genetic evidence combined</a:t>
            </a:r>
          </a:p>
          <a:p>
            <a:pPr/>
            <a:r>
              <a:rPr sz="2000">
                <a:latin typeface="Times New Roman"/>
              </a:rPr>
              <a:t>Three targets recommended; one later confirmed in cell assays</a:t>
            </a:r>
          </a:p>
          <a:p>
            <a:pPr/>
            <a:r>
              <a:rPr sz="2000">
                <a:latin typeface="Times New Roman"/>
              </a:rPr>
              <a:t>Client returned for biomarker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Group laboratories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In vitro biology at Brindlewythe Biosciences</a:t>
            </a:r>
          </a:p>
          <a:p>
            <a:pPr/>
            <a:r>
              <a:rPr sz="2000">
                <a:latin typeface="Times New Roman"/>
              </a:rPr>
              <a:t>DMPK at Merrivoss Bioanalysis</a:t>
            </a:r>
          </a:p>
          <a:p>
            <a:pPr/>
            <a:r>
              <a:rPr sz="2000">
                <a:latin typeface="Times New Roman"/>
              </a:rPr>
              <a:t>Chemistry at Vellacombe Discovery</a:t>
            </a:r>
          </a:p>
          <a:p>
            <a:pPr/>
            <a:r>
              <a:rPr sz="2000">
                <a:latin typeface="Times New Roman"/>
              </a:rPr>
              <a:t>Ask us about combined proposals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How we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Scoping call and data review</a:t>
            </a:r>
          </a:p>
          <a:p>
            <a:pPr/>
            <a:r>
              <a:rPr sz="2000">
                <a:latin typeface="Times New Roman"/>
              </a:rPr>
              <a:t>Fixed-price proposal</a:t>
            </a:r>
          </a:p>
          <a:p>
            <a:pPr/>
            <a:r>
              <a:rPr sz="2000">
                <a:latin typeface="Times New Roman"/>
              </a:rPr>
              <a:t>Interim readout at the halfway point</a:t>
            </a:r>
          </a:p>
          <a:p>
            <a:pPr/>
            <a:r>
              <a:rPr sz="2000">
                <a:latin typeface="Times New Roman"/>
              </a:rPr>
              <a:t>Final readout with analysis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41416E"/>
                </a:solidFill>
                <a:latin typeface="Arial"/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Dr T. Zawiernicki, Head of Bioinformatics</a:t>
            </a:r>
          </a:p>
          <a:p>
            <a:pPr/>
            <a:r>
              <a:rPr sz="2000">
                <a:latin typeface="Times New Roman"/>
              </a:rPr>
              <a:t>Quenverell Computational Ltd, Edinburgh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Quenverell Computational Ltd | Confidential 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Quenverell Computational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Quenverell Computational: bioinformatics capabilities</dc:title>
  <dc:subject>Capability deck v3</dc:subject>
  <dc:creator>Tomasz Zawiernicki</dc:creator>
  <cp:keywords>bioinformatics; RNA-seq; target identification; biomarkers</cp:keywords>
  <dc:description>generated using python-pptx</dc:description>
  <cp:lastModifiedBy>Tomasz Zawiernicki</cp:lastModifiedBy>
  <cp:revision>4</cp:revision>
  <dcterms:created xsi:type="dcterms:W3CDTF">2018-05-14T08:54:54Z</dcterms:created>
  <dcterms:modified xsi:type="dcterms:W3CDTF">2018-06-04T12:04:06Z</dcterms:modified>
  <cp:category/>
</cp:coreProperties>
</file>