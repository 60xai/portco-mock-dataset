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short. The point is that we are scientists first and that the lab firms in the group can test what we predict.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Adapted for the oncology pitch on 24/04. Check with Tomasz before sending.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inputs and methods. Right: what the client receives.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Clients in regulated settings care about this slide more than the science.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4000" b="1">
                <a:solidFill>
                  <a:srgbClr val="FFFFFF"/>
                </a:solidFill>
                <a:latin typeface="Arial"/>
              </a:rPr>
              <a:t>Bioinformatics and computational chemistry for drug discovery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2000">
                <a:solidFill>
                  <a:srgbClr val="EBEBEB"/>
                </a:solidFill>
                <a:latin typeface="Arial"/>
              </a:rPr>
              <a:t>Capabilities 2025 | Quenverell Computational Ltd, a Tarnovell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Who we 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Computational biology and chemistry group based in Edinburgh, founded 2009</a:t>
            </a:r>
          </a:p>
          <a:p>
            <a:pPr/>
            <a:r>
              <a:rPr sz="2000">
                <a:latin typeface="Arial"/>
              </a:rPr>
              <a:t>Part of Tarnovell Bioscience Group since 2014, alongside in vitro biology, DMPK, chemistry, analytical and formulation laboratories</a:t>
            </a:r>
          </a:p>
          <a:p>
            <a:pPr/>
            <a:r>
              <a:rPr sz="2000">
                <a:latin typeface="Arial"/>
              </a:rPr>
              <a:t>Bioinformaticians, computational chemists and data scientists working from a shared, version-controlled analysis platform</a:t>
            </a:r>
          </a:p>
          <a:p>
            <a:pPr lvl="1"/>
            <a:r>
              <a:rPr sz="1700">
                <a:latin typeface="Arial"/>
              </a:rPr>
              <a:t>Every engagement starts from the biological question and ends with a decision the project team can act on</a:t>
            </a:r>
          </a:p>
          <a:p>
            <a:pPr/>
            <a:r>
              <a:rPr sz="2000">
                <a:latin typeface="Arial"/>
              </a:rPr>
              <a:t>Clients: biotechs without in-house informatics, mid-size pharma teams needing extra capacity, and academic drug discovery units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Bioinfromatics for drug discovery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Turns large biological datasets into decisions at each stage of a programme</a:t>
            </a:r>
          </a:p>
          <a:p>
            <a:pPr lvl="1"/>
            <a:r>
              <a:rPr sz="1500">
                <a:latin typeface="Arial"/>
              </a:rPr>
              <a:t>Target identification: rank disease-linked genes from transcriptomics, genetics and literature-curated pathways</a:t>
            </a:r>
          </a:p>
          <a:p>
            <a:pPr lvl="1"/>
            <a:r>
              <a:rPr sz="1500">
                <a:latin typeface="Arial"/>
              </a:rPr>
              <a:t>Target validation: test whether the target is expressed in the right tissue, cell type and patient subgroup</a:t>
            </a:r>
          </a:p>
          <a:p>
            <a:pPr lvl="1"/>
            <a:r>
              <a:rPr sz="1500">
                <a:latin typeface="Arial"/>
              </a:rPr>
              <a:t>Mechanism of action: read out pathway responses to compound treatment from RNA-seq and proteomics</a:t>
            </a:r>
          </a:p>
          <a:p>
            <a:pPr lvl="1"/>
            <a:r>
              <a:rPr sz="1500">
                <a:latin typeface="Arial"/>
              </a:rPr>
              <a:t>Biomarkers and stratification: find the patients most likley to respond, e.g. by tumour subtype</a:t>
            </a:r>
          </a:p>
          <a:p>
            <a:pPr lvl="1"/>
            <a:r>
              <a:rPr sz="1500">
                <a:latin typeface="Arial"/>
              </a:rPr>
              <a:t>Safety signals: flag off-target and tissue-expression liabilities before chemistry is committed</a:t>
            </a:r>
          </a:p>
          <a:p>
            <a:pPr/>
            <a:r>
              <a:rPr sz="1800">
                <a:latin typeface="Arial"/>
              </a:rPr>
              <a:t>Every analysis is reproducible: data provenance, versioned pipelines and an acceptance check before results are released</a:t>
            </a:r>
          </a:p>
          <a:p>
            <a:pPr/>
            <a:r>
              <a:rPr sz="1800">
                <a:latin typeface="Arial"/>
              </a:rPr>
              <a:t>Outcome: fewer, better-evidenced targets and earlier no-go decisions, so lab budget goes on the compounds that matter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Target discovery and validation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1800">
                <a:solidFill>
                  <a:srgbClr val="E6E6E6"/>
                </a:solidFill>
                <a:latin typeface="Arial"/>
              </a:rPr>
              <a:t>From disease biology to a ranked target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Omics target prioritisation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Bulk and single-cell RNA-seq differential expression</a:t>
            </a:r>
          </a:p>
          <a:p>
            <a:pPr/>
            <a:r>
              <a:rPr sz="1800">
                <a:latin typeface="Arial"/>
              </a:rPr>
              <a:t>Integration with genetic association evidence</a:t>
            </a:r>
          </a:p>
          <a:p>
            <a:pPr/>
            <a:r>
              <a:rPr sz="1800">
                <a:latin typeface="Arial"/>
              </a:rPr>
              <a:t>Pathway and network enrichment against curated knowledge bases</a:t>
            </a:r>
          </a:p>
          <a:p>
            <a:pPr/>
            <a:r>
              <a:rPr sz="1800">
                <a:latin typeface="Arial"/>
              </a:rPr>
              <a:t>Cross-species expression checks for model selection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6187287" y="1280160"/>
            <a:ext cx="5547207" cy="4937760"/>
          </a:xfrm>
        </p:spPr>
        <p:txBody>
          <a:bodyPr wrap="square">
            <a:noAutofit/>
          </a:bodyPr>
          <a:lstStyle/>
          <a:p>
            <a:pPr/>
            <a:r>
              <a:rPr sz="1800">
                <a:latin typeface="Arial"/>
              </a:rPr>
              <a:t>Ranked target list with an evidence score per gene</a:t>
            </a:r>
          </a:p>
          <a:p>
            <a:pPr/>
            <a:r>
              <a:rPr sz="1800">
                <a:latin typeface="Arial"/>
              </a:rPr>
              <a:t>Tissue and cell-type expression maps</a:t>
            </a:r>
          </a:p>
          <a:p>
            <a:pPr/>
            <a:r>
              <a:rPr sz="1800">
                <a:latin typeface="Arial"/>
              </a:rPr>
              <a:t>Known liabilities and paralog risks</a:t>
            </a:r>
          </a:p>
          <a:p>
            <a:pPr/>
            <a:r>
              <a:rPr sz="1800">
                <a:latin typeface="Arial"/>
              </a:rPr>
              <a:t>Analysis notebook and data acceptance record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Biomarkers and patient stratification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Responder signatures from baseline expression and mutation status</a:t>
            </a:r>
          </a:p>
          <a:p>
            <a:pPr/>
            <a:r>
              <a:rPr sz="2000">
                <a:latin typeface="Arial"/>
              </a:rPr>
              <a:t>Pharmacodynamic markers for early studies</a:t>
            </a:r>
          </a:p>
          <a:p>
            <a:pPr/>
            <a:r>
              <a:rPr sz="2000">
                <a:latin typeface="Arial"/>
              </a:rPr>
              <a:t>Assay-ready marker panels with expected effect sizes</a:t>
            </a:r>
          </a:p>
          <a:p>
            <a:pPr lvl="1"/>
            <a:r>
              <a:rPr sz="1700">
                <a:latin typeface="Arial"/>
              </a:rPr>
              <a:t>Uncertainty stated plainly: we report what the data cannot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2057400"/>
            <a:ext cx="10728655" cy="1463040"/>
          </a:xfrm>
        </p:spPr>
        <p:txBody>
          <a:bodyPr/>
          <a:lstStyle/>
          <a:p>
            <a:r>
              <a:rPr sz="3200" b="1">
                <a:solidFill>
                  <a:srgbClr val="FFFFFF"/>
                </a:solidFill>
                <a:latin typeface="Arial"/>
              </a:rPr>
              <a:t>Computational chemistry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3611880"/>
            <a:ext cx="10728655" cy="1097280"/>
          </a:xfrm>
        </p:spPr>
        <p:txBody>
          <a:bodyPr/>
          <a:lstStyle/>
          <a:p>
            <a:r>
              <a:rPr sz="1800">
                <a:solidFill>
                  <a:srgbClr val="E6E6E6"/>
                </a:solidFill>
                <a:latin typeface="Arial"/>
              </a:rPr>
              <a:t>Prioritising what gets made and 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Ligand- and structure-based design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Virtual screening of client and commercial-scale libraries</a:t>
            </a:r>
          </a:p>
          <a:p>
            <a:pPr/>
            <a:r>
              <a:rPr sz="2000">
                <a:latin typeface="Arial"/>
              </a:rPr>
              <a:t>Docking and pose review for hit triage</a:t>
            </a:r>
          </a:p>
          <a:p>
            <a:pPr/>
            <a:r>
              <a:rPr sz="2000">
                <a:latin typeface="Arial"/>
              </a:rPr>
              <a:t>Physicochemical and ADMET property models to filter candidate sets</a:t>
            </a:r>
          </a:p>
          <a:p>
            <a:pPr/>
            <a:r>
              <a:rPr sz="2000">
                <a:latin typeface="Arial"/>
              </a:rPr>
              <a:t>Analogue prioritisation fed straight to Vellacombe chemists for synthesis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Data acceptance and reproducibility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Metadata reconciled against sample manifests before any analysis</a:t>
            </a:r>
          </a:p>
          <a:p>
            <a:pPr/>
            <a:r>
              <a:rPr sz="2000">
                <a:latin typeface="Arial"/>
              </a:rPr>
              <a:t>Batch-effect review and documented exclusions</a:t>
            </a:r>
          </a:p>
          <a:p>
            <a:pPr/>
            <a:r>
              <a:rPr sz="2000">
                <a:latin typeface="Arial"/>
              </a:rPr>
              <a:t>Pipelines under version control; every figure traceable to code and input</a:t>
            </a:r>
          </a:p>
          <a:p>
            <a:pPr/>
            <a:r>
              <a:rPr sz="2000">
                <a:latin typeface="Arial"/>
              </a:rPr>
              <a:t>Independent review before release; deviations recorded in the analysis notebook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Typical engagements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7729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743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Engagement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Typical scope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Deliverable</a:t>
                      </a:r>
                    </a:p>
                  </a:txBody>
                  <a:tcPr>
                    <a:solidFill>
                      <a:srgbClr val="183C4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Target prioritisation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One indication, public plus client omics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Ranked targets, evidence summary, readout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Biomarker 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Baseline and on-treatment samples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Candidate panel, stratification rule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Mechanism of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Compound-treated RNA-seq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Pathway response report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Virtual screening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Library triage for one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Prioritised purchase or synthesis list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Data platform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Ongoing, monthly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Arial"/>
                        </a:rPr>
                        <a:t>Curated datasets and pipeline maintenance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[TBC - pick an oncology example]</a:t>
            </a:r>
          </a:p>
          <a:p>
            <a:pPr/>
            <a:r>
              <a:rPr sz="2000">
                <a:latin typeface="Arial"/>
              </a:rPr>
              <a:t>Ask Fiona for the anonymised 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Working with the Tarnovell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Predictions tested quickly in group laboratories</a:t>
            </a:r>
          </a:p>
          <a:p>
            <a:pPr lvl="1"/>
            <a:r>
              <a:rPr sz="1700">
                <a:latin typeface="Arial"/>
              </a:rPr>
              <a:t>Brindlewythe Biosciences: target and safety assays</a:t>
            </a:r>
          </a:p>
          <a:p>
            <a:pPr lvl="1"/>
            <a:r>
              <a:rPr sz="1700">
                <a:latin typeface="Arial"/>
              </a:rPr>
              <a:t>Merrivoss Bioanalysis: DMPK and exposure</a:t>
            </a:r>
          </a:p>
          <a:p>
            <a:pPr lvl="1"/>
            <a:r>
              <a:rPr sz="1700">
                <a:latin typeface="Arial"/>
              </a:rPr>
              <a:t>Vellacombe Discovery: synthesis of prioritised analogues</a:t>
            </a:r>
          </a:p>
          <a:p>
            <a:pPr/>
            <a:r>
              <a:rPr sz="2000">
                <a:latin typeface="Arial"/>
              </a:rPr>
              <a:t>One project lead, one contract, shared data standards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How an engagement runs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629" y="1280160"/>
            <a:ext cx="1700437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137160"/>
            <a:ext cx="11368735" cy="822960"/>
          </a:xfrm>
        </p:spPr>
        <p:txBody>
          <a:bodyPr/>
          <a:lstStyle/>
          <a:p>
            <a:pPr algn="l"/>
            <a:r>
              <a:rPr sz="2600" b="1">
                <a:solidFill>
                  <a:srgbClr val="183C4C"/>
                </a:solidFill>
                <a:latin typeface="Arial"/>
              </a:rP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11277295" cy="4937760"/>
          </a:xfrm>
        </p:spPr>
        <p:txBody>
          <a:bodyPr wrap="square">
            <a:noAutofit/>
          </a:bodyPr>
          <a:lstStyle/>
          <a:p>
            <a:pPr/>
            <a:r>
              <a:rPr sz="2000">
                <a:latin typeface="Arial"/>
              </a:rPr>
              <a:t>Dr E. Ostlund, Senior Computational Biologist</a:t>
            </a:r>
          </a:p>
          <a:p>
            <a:pPr/>
            <a:r>
              <a:rPr sz="2000">
                <a:latin typeface="Arial"/>
              </a:rPr>
              <a:t>Quenverell Computational Ltd, a Tarnovell company, Edinburgh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83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E6E6E"/>
                </a:solidFill>
                <a:latin typeface="Arial"/>
              </a:rPr>
              <a:t>Quenverell Computational Ltd, a Tarnovell company | Confidential   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LinksUpToDate>false</LinksUpToDate>
  <SharedDoc>false</SharedDoc>
  <HyperlinkBase/>
  <HyperlinksChanged>false</HyperlinksChanged>
  <Company>Tarnovell Bioscience Group Ltd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Quenverell capabilities 2025</dc:title>
  <dc:subject>Capability deck</dc:subject>
  <dc:creator>Emil Ostlund</dc:creator>
  <cp:keywords>bioinformatics; drug discovery; target identification; biomarkers; omics; computational chemistry</cp:keywords>
  <dc:description>generated using python-pptx</dc:description>
  <cp:lastModifiedBy>Emil Ostlund</cp:lastModifiedBy>
  <cp:revision>9</cp:revision>
  <dcterms:created xsi:type="dcterms:W3CDTF">2025-04-22T17:19:35Z</dcterms:created>
  <dcterms:modified xsi:type="dcterms:W3CDTF">2025-04-23T16:39:19Z</dcterms:modified>
  <cp:category>Marketing</cp:category>
</cp:coreProperties>
</file>