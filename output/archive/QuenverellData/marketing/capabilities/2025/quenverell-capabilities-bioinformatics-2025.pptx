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short. The point is that we are scientists first and that the lab firms in the group can test what we predict.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people ask for. Walk left to right along a programme: which target, does it matter in patients, what does the compound do, who will respond. Stress that we hand over decisions, not data dumps, and that the group's labs (Brindlewythe, Merrivoss) can test the hypotheses quickly.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inputs and methods. Right: what the client receives.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Clients in regulated settings care about this slide more than the science.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Client anonymised. Numbers on this slide are the engagement's own counts, not assay results.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ctrTitle"/>
          </p:nvPr>
        </p:nvSpPr>
        <p:spPr>
          <a:xfrm>
            <a:off x="731520" y="2057400"/>
            <a:ext cx="10728655" cy="1463040"/>
          </a:xfrm>
        </p:spPr>
        <p:txBody>
          <a:bodyPr/>
          <a:lstStyle/>
          <a:p>
            <a:r>
              <a:rPr sz="4000" b="1">
                <a:solidFill>
                  <a:srgbClr val="FFFFFF"/>
                </a:solidFill>
                <a:latin typeface="Arial"/>
              </a:rPr>
              <a:t>Bioinformatics and computational chemistry for drug discovery</a:t>
            </a:r>
          </a:p>
        </p:txBody>
      </p:sp>
      <p:sp>
        <p:nvSpPr>
          <p:cNvPr id="3" name="Subtitle 2"/>
          <p:cNvSpPr>
            <a:spLocks noGrp="1"/>
          </p:cNvSpPr>
          <p:nvPr>
            <p:ph type="subTitle" idx="1"/>
          </p:nvPr>
        </p:nvSpPr>
        <p:spPr>
          <a:xfrm>
            <a:off x="731520" y="3611880"/>
            <a:ext cx="10728655" cy="1097280"/>
          </a:xfrm>
        </p:spPr>
        <p:txBody>
          <a:bodyPr/>
          <a:lstStyle/>
          <a:p>
            <a:r>
              <a:rPr sz="2000">
                <a:solidFill>
                  <a:srgbClr val="EBEBEB"/>
                </a:solidFill>
                <a:latin typeface="Arial"/>
              </a:rPr>
              <a:t>Capabilities 2025 | Quenverell Computational Ltd, a Tarnovell company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Who we are</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Computational biology and chemistry group based in Edinburgh, founded 2009</a:t>
            </a:r>
          </a:p>
          <a:p>
            <a:pPr/>
            <a:r>
              <a:rPr sz="2000">
                <a:latin typeface="Arial"/>
              </a:rPr>
              <a:t>Part of Tarnovell Bioscience Group since 2014, alongside in vitro biology, DMPK, chemistry, analytical and formulation laboratories</a:t>
            </a:r>
          </a:p>
          <a:p>
            <a:pPr/>
            <a:r>
              <a:rPr sz="2000">
                <a:latin typeface="Arial"/>
              </a:rPr>
              <a:t>Bioinformaticians, computational chemists and data scientists working from a shared, version-controlled analysis platform</a:t>
            </a:r>
          </a:p>
          <a:p>
            <a:pPr lvl="1"/>
            <a:r>
              <a:rPr sz="1700">
                <a:latin typeface="Arial"/>
              </a:rPr>
              <a:t>Every engagement starts from the biological question and ends with a decision the project team can act on</a:t>
            </a:r>
          </a:p>
          <a:p>
            <a:pPr/>
            <a:r>
              <a:rPr sz="2000">
                <a:latin typeface="Arial"/>
              </a:rPr>
              <a:t>Clients: biotechs without in-house informatics, mid-size pharma teams needing extra capacity, and academic drug discovery units</a:t>
            </a:r>
          </a:p>
        </p:txBody>
      </p:sp>
      <p:sp>
        <p:nvSpPr>
          <p:cNvPr id="4" name="Rectangle 3"/>
          <p:cNvSpPr/>
          <p:nvPr/>
        </p:nvSpPr>
        <p:spPr>
          <a:xfrm>
            <a:off x="0" y="0"/>
            <a:ext cx="201168"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Bioinformatics for drug discovery</a:t>
            </a:r>
          </a:p>
        </p:txBody>
      </p:sp>
      <p:sp>
        <p:nvSpPr>
          <p:cNvPr id="3" name="Content Placeholder 2"/>
          <p:cNvSpPr>
            <a:spLocks noGrp="1"/>
          </p:cNvSpPr>
          <p:nvPr>
            <p:ph idx="1"/>
          </p:nvPr>
        </p:nvSpPr>
        <p:spPr>
          <a:xfrm>
            <a:off x="457200" y="1280160"/>
            <a:ext cx="11277295" cy="4937760"/>
          </a:xfrm>
        </p:spPr>
        <p:txBody>
          <a:bodyPr wrap="square">
            <a:noAutofit/>
          </a:bodyPr>
          <a:lstStyle/>
          <a:p>
            <a:pPr/>
            <a:r>
              <a:rPr sz="1800">
                <a:latin typeface="Arial"/>
              </a:rPr>
              <a:t>Turns large biological datasets into decisions at each stage of a programme</a:t>
            </a:r>
          </a:p>
          <a:p>
            <a:pPr lvl="1"/>
            <a:r>
              <a:rPr sz="1500">
                <a:latin typeface="Arial"/>
              </a:rPr>
              <a:t>Target identification: rank disease-linked genes from transcriptomics, genetics and literature-curated pathways</a:t>
            </a:r>
          </a:p>
          <a:p>
            <a:pPr lvl="1"/>
            <a:r>
              <a:rPr sz="1500">
                <a:latin typeface="Arial"/>
              </a:rPr>
              <a:t>Target validation: test whether the target is expressed in the right tissue, cell type and patient subgroup</a:t>
            </a:r>
          </a:p>
          <a:p>
            <a:pPr lvl="1"/>
            <a:r>
              <a:rPr sz="1500">
                <a:latin typeface="Arial"/>
              </a:rPr>
              <a:t>Mechanism of action: read out pathway responses to compound treatment from RNA-seq and proteomics</a:t>
            </a:r>
          </a:p>
          <a:p>
            <a:pPr lvl="1"/>
            <a:r>
              <a:rPr sz="1500">
                <a:latin typeface="Arial"/>
              </a:rPr>
              <a:t>Biomarkers and stratification: find the patients most likely to respond and the markers to track it</a:t>
            </a:r>
          </a:p>
          <a:p>
            <a:pPr lvl="1"/>
            <a:r>
              <a:rPr sz="1500">
                <a:latin typeface="Arial"/>
              </a:rPr>
              <a:t>Safety signals: flag off-target and tissue-expression liabilities before chemistry is committed</a:t>
            </a:r>
          </a:p>
          <a:p>
            <a:pPr/>
            <a:r>
              <a:rPr sz="1800">
                <a:latin typeface="Arial"/>
              </a:rPr>
              <a:t>Every analysis is reproducible: data provenance, versioned pipelines and an acceptance check before results are released</a:t>
            </a:r>
          </a:p>
          <a:p>
            <a:pPr/>
            <a:r>
              <a:rPr sz="1800">
                <a:latin typeface="Arial"/>
              </a:rPr>
              <a:t>Outcome: fewer, better-evidenced targets and earlier no-go decisions, so lab budget goes on the compounds that matter</a:t>
            </a:r>
          </a:p>
        </p:txBody>
      </p:sp>
      <p:sp>
        <p:nvSpPr>
          <p:cNvPr id="4" name="Rectangle 3"/>
          <p:cNvSpPr/>
          <p:nvPr/>
        </p:nvSpPr>
        <p:spPr>
          <a:xfrm>
            <a:off x="0" y="0"/>
            <a:ext cx="201168"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2057400"/>
            <a:ext cx="10728655" cy="1463040"/>
          </a:xfrm>
        </p:spPr>
        <p:txBody>
          <a:bodyPr/>
          <a:lstStyle/>
          <a:p>
            <a:r>
              <a:rPr sz="3200" b="1">
                <a:solidFill>
                  <a:srgbClr val="FFFFFF"/>
                </a:solidFill>
                <a:latin typeface="Arial"/>
              </a:rPr>
              <a:t>Target discovery and validation</a:t>
            </a:r>
          </a:p>
        </p:txBody>
      </p:sp>
      <p:sp>
        <p:nvSpPr>
          <p:cNvPr id="3" name="Text Placeholder 2"/>
          <p:cNvSpPr>
            <a:spLocks noGrp="1"/>
          </p:cNvSpPr>
          <p:nvPr>
            <p:ph type="body" idx="1"/>
          </p:nvPr>
        </p:nvSpPr>
        <p:spPr>
          <a:xfrm>
            <a:off x="731520" y="3611880"/>
            <a:ext cx="10728655" cy="1097280"/>
          </a:xfrm>
        </p:spPr>
        <p:txBody>
          <a:bodyPr/>
          <a:lstStyle/>
          <a:p>
            <a:r>
              <a:rPr sz="1800">
                <a:solidFill>
                  <a:srgbClr val="E6E6E6"/>
                </a:solidFill>
                <a:latin typeface="Arial"/>
              </a:rPr>
              <a:t>From disease biology to a ranked target list</a:t>
            </a: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Omics target prioritisation</a:t>
            </a:r>
          </a:p>
        </p:txBody>
      </p:sp>
      <p:sp>
        <p:nvSpPr>
          <p:cNvPr id="3" name="Content Placeholder 2"/>
          <p:cNvSpPr>
            <a:spLocks noGrp="1"/>
          </p:cNvSpPr>
          <p:nvPr>
            <p:ph idx="1" sz="half"/>
          </p:nvPr>
        </p:nvSpPr>
        <p:spPr>
          <a:xfrm>
            <a:off x="457200" y="1280160"/>
            <a:ext cx="5547207" cy="4937760"/>
          </a:xfrm>
        </p:spPr>
        <p:txBody>
          <a:bodyPr wrap="square">
            <a:noAutofit/>
          </a:bodyPr>
          <a:lstStyle/>
          <a:p>
            <a:pPr/>
            <a:r>
              <a:rPr sz="1800">
                <a:latin typeface="Arial"/>
              </a:rPr>
              <a:t>Bulk and single-cell RNA-seq differential expression</a:t>
            </a:r>
          </a:p>
          <a:p>
            <a:pPr/>
            <a:r>
              <a:rPr sz="1800">
                <a:latin typeface="Arial"/>
              </a:rPr>
              <a:t>Integration with genetic association evidence</a:t>
            </a:r>
          </a:p>
          <a:p>
            <a:pPr/>
            <a:r>
              <a:rPr sz="1800">
                <a:latin typeface="Arial"/>
              </a:rPr>
              <a:t>Pathway and network enrichment against curated knowledge bases</a:t>
            </a:r>
          </a:p>
          <a:p>
            <a:pPr/>
            <a:r>
              <a:rPr sz="1800">
                <a:latin typeface="Arial"/>
              </a:rPr>
              <a:t>Cross-species expression checks for model selection</a:t>
            </a:r>
          </a:p>
        </p:txBody>
      </p:sp>
      <p:sp>
        <p:nvSpPr>
          <p:cNvPr id="4" name="Content Placeholder 3"/>
          <p:cNvSpPr>
            <a:spLocks noGrp="1"/>
          </p:cNvSpPr>
          <p:nvPr>
            <p:ph idx="2" sz="half"/>
          </p:nvPr>
        </p:nvSpPr>
        <p:spPr>
          <a:xfrm>
            <a:off x="6187287" y="1280160"/>
            <a:ext cx="5547207" cy="4937760"/>
          </a:xfrm>
        </p:spPr>
        <p:txBody>
          <a:bodyPr wrap="square">
            <a:noAutofit/>
          </a:bodyPr>
          <a:lstStyle/>
          <a:p>
            <a:pPr/>
            <a:r>
              <a:rPr sz="1800">
                <a:latin typeface="Arial"/>
              </a:rPr>
              <a:t>Ranked target list with an evidence score per gene</a:t>
            </a:r>
          </a:p>
          <a:p>
            <a:pPr/>
            <a:r>
              <a:rPr sz="1800">
                <a:latin typeface="Arial"/>
              </a:rPr>
              <a:t>Tissue and cell-type expression maps</a:t>
            </a:r>
          </a:p>
          <a:p>
            <a:pPr/>
            <a:r>
              <a:rPr sz="1800">
                <a:latin typeface="Arial"/>
              </a:rPr>
              <a:t>Known liabilities and paralog risks</a:t>
            </a:r>
          </a:p>
          <a:p>
            <a:pPr/>
            <a:r>
              <a:rPr sz="1800">
                <a:latin typeface="Arial"/>
              </a:rPr>
              <a:t>Analysis notebook and data acceptance record</a:t>
            </a:r>
          </a:p>
        </p:txBody>
      </p:sp>
      <p:sp>
        <p:nvSpPr>
          <p:cNvPr id="5" name="Rectangle 4"/>
          <p:cNvSpPr/>
          <p:nvPr/>
        </p:nvSpPr>
        <p:spPr>
          <a:xfrm>
            <a:off x="0" y="0"/>
            <a:ext cx="201168"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Biomarkers and patient stratification</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Responder signatures from baseline expression and mutation status</a:t>
            </a:r>
          </a:p>
          <a:p>
            <a:pPr/>
            <a:r>
              <a:rPr sz="2000">
                <a:latin typeface="Arial"/>
              </a:rPr>
              <a:t>Pharmacodynamic markers for early studies</a:t>
            </a:r>
          </a:p>
          <a:p>
            <a:pPr/>
            <a:r>
              <a:rPr sz="2000">
                <a:latin typeface="Arial"/>
              </a:rPr>
              <a:t>Assay-ready marker panels with expected effect sizes</a:t>
            </a:r>
          </a:p>
          <a:p>
            <a:pPr lvl="1"/>
            <a:r>
              <a:rPr sz="1700">
                <a:latin typeface="Arial"/>
              </a:rPr>
              <a:t>Uncertainty stated plainly: we report what the data cannot support</a:t>
            </a:r>
          </a:p>
        </p:txBody>
      </p:sp>
      <p:sp>
        <p:nvSpPr>
          <p:cNvPr id="4" name="Rectangle 3"/>
          <p:cNvSpPr/>
          <p:nvPr/>
        </p:nvSpPr>
        <p:spPr>
          <a:xfrm>
            <a:off x="0" y="0"/>
            <a:ext cx="201168"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12191695"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731520" y="2057400"/>
            <a:ext cx="10728655" cy="1463040"/>
          </a:xfrm>
        </p:spPr>
        <p:txBody>
          <a:bodyPr/>
          <a:lstStyle/>
          <a:p>
            <a:r>
              <a:rPr sz="3200" b="1">
                <a:solidFill>
                  <a:srgbClr val="FFFFFF"/>
                </a:solidFill>
                <a:latin typeface="Arial"/>
              </a:rPr>
              <a:t>Computational chemistry</a:t>
            </a:r>
          </a:p>
        </p:txBody>
      </p:sp>
      <p:sp>
        <p:nvSpPr>
          <p:cNvPr id="3" name="Text Placeholder 2"/>
          <p:cNvSpPr>
            <a:spLocks noGrp="1"/>
          </p:cNvSpPr>
          <p:nvPr>
            <p:ph type="body" idx="1"/>
          </p:nvPr>
        </p:nvSpPr>
        <p:spPr>
          <a:xfrm>
            <a:off x="731520" y="3611880"/>
            <a:ext cx="10728655" cy="1097280"/>
          </a:xfrm>
        </p:spPr>
        <p:txBody>
          <a:bodyPr/>
          <a:lstStyle/>
          <a:p>
            <a:r>
              <a:rPr sz="1800">
                <a:solidFill>
                  <a:srgbClr val="E6E6E6"/>
                </a:solidFill>
                <a:latin typeface="Arial"/>
              </a:rPr>
              <a:t>Prioritising what gets made and tested</a:t>
            </a: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Ligand- and structure-based design support</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Virtual screening of client and commercial-scale libraries</a:t>
            </a:r>
          </a:p>
          <a:p>
            <a:pPr/>
            <a:r>
              <a:rPr sz="2000">
                <a:latin typeface="Arial"/>
              </a:rPr>
              <a:t>Docking and pose review for hit triage</a:t>
            </a:r>
          </a:p>
          <a:p>
            <a:pPr/>
            <a:r>
              <a:rPr sz="2000">
                <a:latin typeface="Arial"/>
              </a:rPr>
              <a:t>Physicochemical and ADMET property models to filter candidate sets</a:t>
            </a:r>
          </a:p>
          <a:p>
            <a:pPr/>
            <a:r>
              <a:rPr sz="2000">
                <a:latin typeface="Arial"/>
              </a:rPr>
              <a:t>Analogue prioritisation fed straight to Vellacombe chemists for synthesis</a:t>
            </a:r>
          </a:p>
        </p:txBody>
      </p:sp>
      <p:sp>
        <p:nvSpPr>
          <p:cNvPr id="4" name="Rectangle 3"/>
          <p:cNvSpPr/>
          <p:nvPr/>
        </p:nvSpPr>
        <p:spPr>
          <a:xfrm>
            <a:off x="0" y="0"/>
            <a:ext cx="201168"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Data acceptance and reproducibility</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Metadata reconciled against sample manifests before any analysis</a:t>
            </a:r>
          </a:p>
          <a:p>
            <a:pPr/>
            <a:r>
              <a:rPr sz="2000">
                <a:latin typeface="Arial"/>
              </a:rPr>
              <a:t>Batch-effect review and documented exclusions</a:t>
            </a:r>
          </a:p>
          <a:p>
            <a:pPr/>
            <a:r>
              <a:rPr sz="2000">
                <a:latin typeface="Arial"/>
              </a:rPr>
              <a:t>Pipelines under version control; every figure traceable to code and input</a:t>
            </a:r>
          </a:p>
          <a:p>
            <a:pPr/>
            <a:r>
              <a:rPr sz="2000">
                <a:latin typeface="Arial"/>
              </a:rPr>
              <a:t>Independent review before release; deviations recorded in the analysis notebook</a:t>
            </a:r>
          </a:p>
        </p:txBody>
      </p:sp>
      <p:sp>
        <p:nvSpPr>
          <p:cNvPr id="4" name="Rectangle 3"/>
          <p:cNvSpPr/>
          <p:nvPr/>
        </p:nvSpPr>
        <p:spPr>
          <a:xfrm>
            <a:off x="0" y="0"/>
            <a:ext cx="201168"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Typical engagements</a:t>
            </a:r>
          </a:p>
        </p:txBody>
      </p:sp>
      <p:sp>
        <p:nvSpPr>
          <p:cNvPr id="3" name="Rectangle 2"/>
          <p:cNvSpPr/>
          <p:nvPr/>
        </p:nvSpPr>
        <p:spPr>
          <a:xfrm>
            <a:off x="0" y="0"/>
            <a:ext cx="201168"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457200" y="1280160"/>
          <a:ext cx="11277295" cy="1645920"/>
        </p:xfrm>
        <a:graphic>
          <a:graphicData uri="http://schemas.openxmlformats.org/drawingml/2006/table">
            <a:tbl>
              <a:tblPr firstRow="1" bandRow="1">
                <a:tableStyleId>{5C22544A-7EE6-4342-B048-85BDC9FD1C3A}</a:tableStyleId>
              </a:tblPr>
              <a:tblGrid>
                <a:gridCol w="3759098"/>
                <a:gridCol w="3759098"/>
                <a:gridCol w="3759099"/>
              </a:tblGrid>
              <a:tr h="274320">
                <a:tc>
                  <a:txBody>
                    <a:bodyPr/>
                    <a:lstStyle/>
                    <a:p>
                      <a:r>
                        <a:rPr sz="1400" b="1">
                          <a:solidFill>
                            <a:srgbClr val="FFFFFF"/>
                          </a:solidFill>
                          <a:latin typeface="Arial"/>
                        </a:rPr>
                        <a:t>Engagement</a:t>
                      </a:r>
                    </a:p>
                  </a:txBody>
                  <a:tcPr>
                    <a:solidFill>
                      <a:srgbClr val="183C4C"/>
                    </a:solidFill>
                  </a:tcPr>
                </a:tc>
                <a:tc>
                  <a:txBody>
                    <a:bodyPr/>
                    <a:lstStyle/>
                    <a:p>
                      <a:r>
                        <a:rPr sz="1400" b="1">
                          <a:solidFill>
                            <a:srgbClr val="FFFFFF"/>
                          </a:solidFill>
                          <a:latin typeface="Arial"/>
                        </a:rPr>
                        <a:t>Typical scope</a:t>
                      </a:r>
                    </a:p>
                  </a:txBody>
                  <a:tcPr>
                    <a:solidFill>
                      <a:srgbClr val="183C4C"/>
                    </a:solidFill>
                  </a:tcPr>
                </a:tc>
                <a:tc>
                  <a:txBody>
                    <a:bodyPr/>
                    <a:lstStyle/>
                    <a:p>
                      <a:r>
                        <a:rPr sz="1400" b="1">
                          <a:solidFill>
                            <a:srgbClr val="FFFFFF"/>
                          </a:solidFill>
                          <a:latin typeface="Arial"/>
                        </a:rPr>
                        <a:t>Deliverable</a:t>
                      </a:r>
                    </a:p>
                  </a:txBody>
                  <a:tcPr>
                    <a:solidFill>
                      <a:srgbClr val="183C4C"/>
                    </a:solidFill>
                  </a:tcPr>
                </a:tc>
              </a:tr>
              <a:tr h="274320">
                <a:tc>
                  <a:txBody>
                    <a:bodyPr/>
                    <a:lstStyle/>
                    <a:p>
                      <a:r>
                        <a:rPr sz="1400">
                          <a:latin typeface="Arial"/>
                        </a:rPr>
                        <a:t>Target prioritisation</a:t>
                      </a:r>
                    </a:p>
                  </a:txBody>
                  <a:tcPr/>
                </a:tc>
                <a:tc>
                  <a:txBody>
                    <a:bodyPr/>
                    <a:lstStyle/>
                    <a:p>
                      <a:r>
                        <a:rPr sz="1400">
                          <a:latin typeface="Arial"/>
                        </a:rPr>
                        <a:t>One indication, public plus client omics data</a:t>
                      </a:r>
                    </a:p>
                  </a:txBody>
                  <a:tcPr/>
                </a:tc>
                <a:tc>
                  <a:txBody>
                    <a:bodyPr/>
                    <a:lstStyle/>
                    <a:p>
                      <a:r>
                        <a:rPr sz="1400">
                          <a:latin typeface="Arial"/>
                        </a:rPr>
                        <a:t>Ranked targets, evidence summary, readout</a:t>
                      </a:r>
                    </a:p>
                  </a:txBody>
                  <a:tcPr/>
                </a:tc>
              </a:tr>
              <a:tr h="274320">
                <a:tc>
                  <a:txBody>
                    <a:bodyPr/>
                    <a:lstStyle/>
                    <a:p>
                      <a:r>
                        <a:rPr sz="1400">
                          <a:latin typeface="Arial"/>
                        </a:rPr>
                        <a:t>Biomarker discovery</a:t>
                      </a:r>
                    </a:p>
                  </a:txBody>
                  <a:tcPr/>
                </a:tc>
                <a:tc>
                  <a:txBody>
                    <a:bodyPr/>
                    <a:lstStyle/>
                    <a:p>
                      <a:r>
                        <a:rPr sz="1400">
                          <a:latin typeface="Arial"/>
                        </a:rPr>
                        <a:t>Baseline and on-treatment samples</a:t>
                      </a:r>
                    </a:p>
                  </a:txBody>
                  <a:tcPr/>
                </a:tc>
                <a:tc>
                  <a:txBody>
                    <a:bodyPr/>
                    <a:lstStyle/>
                    <a:p>
                      <a:r>
                        <a:rPr sz="1400">
                          <a:latin typeface="Arial"/>
                        </a:rPr>
                        <a:t>Candidate panel, stratification rule</a:t>
                      </a:r>
                    </a:p>
                  </a:txBody>
                  <a:tcPr/>
                </a:tc>
              </a:tr>
              <a:tr h="274320">
                <a:tc>
                  <a:txBody>
                    <a:bodyPr/>
                    <a:lstStyle/>
                    <a:p>
                      <a:r>
                        <a:rPr sz="1400">
                          <a:latin typeface="Arial"/>
                        </a:rPr>
                        <a:t>Mechanism of action</a:t>
                      </a:r>
                    </a:p>
                  </a:txBody>
                  <a:tcPr/>
                </a:tc>
                <a:tc>
                  <a:txBody>
                    <a:bodyPr/>
                    <a:lstStyle/>
                    <a:p>
                      <a:r>
                        <a:rPr sz="1400">
                          <a:latin typeface="Arial"/>
                        </a:rPr>
                        <a:t>Compound-treated RNA-seq</a:t>
                      </a:r>
                    </a:p>
                  </a:txBody>
                  <a:tcPr/>
                </a:tc>
                <a:tc>
                  <a:txBody>
                    <a:bodyPr/>
                    <a:lstStyle/>
                    <a:p>
                      <a:r>
                        <a:rPr sz="1400">
                          <a:latin typeface="Arial"/>
                        </a:rPr>
                        <a:t>Pathway response report</a:t>
                      </a:r>
                    </a:p>
                  </a:txBody>
                  <a:tcPr/>
                </a:tc>
              </a:tr>
              <a:tr h="274320">
                <a:tc>
                  <a:txBody>
                    <a:bodyPr/>
                    <a:lstStyle/>
                    <a:p>
                      <a:r>
                        <a:rPr sz="1400">
                          <a:latin typeface="Arial"/>
                        </a:rPr>
                        <a:t>Virtual screening</a:t>
                      </a:r>
                    </a:p>
                  </a:txBody>
                  <a:tcPr/>
                </a:tc>
                <a:tc>
                  <a:txBody>
                    <a:bodyPr/>
                    <a:lstStyle/>
                    <a:p>
                      <a:r>
                        <a:rPr sz="1400">
                          <a:latin typeface="Arial"/>
                        </a:rPr>
                        <a:t>Library triage for one target</a:t>
                      </a:r>
                    </a:p>
                  </a:txBody>
                  <a:tcPr/>
                </a:tc>
                <a:tc>
                  <a:txBody>
                    <a:bodyPr/>
                    <a:lstStyle/>
                    <a:p>
                      <a:r>
                        <a:rPr sz="1400">
                          <a:latin typeface="Arial"/>
                        </a:rPr>
                        <a:t>Prioritised purchase or synthesis list</a:t>
                      </a:r>
                    </a:p>
                  </a:txBody>
                  <a:tcPr/>
                </a:tc>
              </a:tr>
              <a:tr h="274320">
                <a:tc>
                  <a:txBody>
                    <a:bodyPr/>
                    <a:lstStyle/>
                    <a:p>
                      <a:r>
                        <a:rPr sz="1400">
                          <a:latin typeface="Arial"/>
                        </a:rPr>
                        <a:t>Data platform support</a:t>
                      </a:r>
                    </a:p>
                  </a:txBody>
                  <a:tcPr/>
                </a:tc>
                <a:tc>
                  <a:txBody>
                    <a:bodyPr/>
                    <a:lstStyle/>
                    <a:p>
                      <a:r>
                        <a:rPr sz="1400">
                          <a:latin typeface="Arial"/>
                        </a:rPr>
                        <a:t>Ongoing, monthly</a:t>
                      </a:r>
                    </a:p>
                  </a:txBody>
                  <a:tcPr/>
                </a:tc>
                <a:tc>
                  <a:txBody>
                    <a:bodyPr/>
                    <a:lstStyle/>
                    <a:p>
                      <a:r>
                        <a:rPr sz="1400">
                          <a:latin typeface="Arial"/>
                        </a:rPr>
                        <a:t>Curated datasets and pipeline maintenance</a:t>
                      </a:r>
                    </a:p>
                  </a:txBody>
                  <a:tcPr/>
                </a:tc>
              </a:tr>
            </a:tbl>
          </a:graphicData>
        </a:graphic>
      </p:graphicFrame>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Case study: target prioritisation for an inflammation programme</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Question: which of 40 candidate genes justify an assay build?</a:t>
            </a:r>
          </a:p>
          <a:p>
            <a:pPr/>
            <a:r>
              <a:rPr sz="2000">
                <a:latin typeface="Arial"/>
              </a:rPr>
              <a:t>Combined patient-tissue RNA-seq, genetic evidence and pathway context</a:t>
            </a:r>
          </a:p>
          <a:p>
            <a:pPr/>
            <a:r>
              <a:rPr sz="2000">
                <a:latin typeface="Arial"/>
              </a:rPr>
              <a:t>Seven targets ranked high; two dropped for broad tissue expression risk</a:t>
            </a:r>
          </a:p>
          <a:p>
            <a:pPr/>
            <a:r>
              <a:rPr sz="2000">
                <a:latin typeface="Arial"/>
              </a:rPr>
              <a:t>Client built cell assays for the top three with Brindlewythe within the quarter</a:t>
            </a:r>
          </a:p>
        </p:txBody>
      </p:sp>
      <p:sp>
        <p:nvSpPr>
          <p:cNvPr id="4" name="Rectangle 3"/>
          <p:cNvSpPr/>
          <p:nvPr/>
        </p:nvSpPr>
        <p:spPr>
          <a:xfrm>
            <a:off x="0" y="0"/>
            <a:ext cx="201168"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Working with the Tarnovell group</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Predictions tested quickly in group laboratories</a:t>
            </a:r>
          </a:p>
          <a:p>
            <a:pPr lvl="1"/>
            <a:r>
              <a:rPr sz="1700">
                <a:latin typeface="Arial"/>
              </a:rPr>
              <a:t>Brindlewythe Biosciences: target and safety assays</a:t>
            </a:r>
          </a:p>
          <a:p>
            <a:pPr lvl="1"/>
            <a:r>
              <a:rPr sz="1700">
                <a:latin typeface="Arial"/>
              </a:rPr>
              <a:t>Merrivoss Bioanalysis: DMPK and exposure</a:t>
            </a:r>
          </a:p>
          <a:p>
            <a:pPr lvl="1"/>
            <a:r>
              <a:rPr sz="1700">
                <a:latin typeface="Arial"/>
              </a:rPr>
              <a:t>Vellacombe Discovery: synthesis of prioritised analogues</a:t>
            </a:r>
          </a:p>
          <a:p>
            <a:pPr/>
            <a:r>
              <a:rPr sz="2000">
                <a:latin typeface="Arial"/>
              </a:rPr>
              <a:t>One project lead, one contract, shared data standards</a:t>
            </a:r>
          </a:p>
        </p:txBody>
      </p:sp>
      <p:sp>
        <p:nvSpPr>
          <p:cNvPr id="4" name="Rectangle 3"/>
          <p:cNvSpPr/>
          <p:nvPr/>
        </p:nvSpPr>
        <p:spPr>
          <a:xfrm>
            <a:off x="0" y="0"/>
            <a:ext cx="201168"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How an engagement runs</a:t>
            </a:r>
          </a:p>
        </p:txBody>
      </p:sp>
      <p:sp>
        <p:nvSpPr>
          <p:cNvPr id="3" name="Rectangle 2"/>
          <p:cNvSpPr/>
          <p:nvPr/>
        </p:nvSpPr>
        <p:spPr>
          <a:xfrm>
            <a:off x="0" y="0"/>
            <a:ext cx="201168"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5245629" y="1280160"/>
            <a:ext cx="1700437" cy="5029200"/>
          </a:xfrm>
          <a:prstGeom prst="rect">
            <a:avLst/>
          </a:prstGeom>
        </p:spPr>
      </p:pic>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11480" y="137160"/>
            <a:ext cx="11368735" cy="822960"/>
          </a:xfrm>
        </p:spPr>
        <p:txBody>
          <a:bodyPr/>
          <a:lstStyle/>
          <a:p>
            <a:pPr algn="l"/>
            <a:r>
              <a:rPr sz="2600" b="1">
                <a:solidFill>
                  <a:srgbClr val="183C4C"/>
                </a:solidFill>
                <a:latin typeface="Arial"/>
              </a:rPr>
              <a:t>Contact</a:t>
            </a:r>
          </a:p>
        </p:txBody>
      </p:sp>
      <p:sp>
        <p:nvSpPr>
          <p:cNvPr id="3" name="Content Placeholder 2"/>
          <p:cNvSpPr>
            <a:spLocks noGrp="1"/>
          </p:cNvSpPr>
          <p:nvPr>
            <p:ph idx="1"/>
          </p:nvPr>
        </p:nvSpPr>
        <p:spPr>
          <a:xfrm>
            <a:off x="457200" y="1280160"/>
            <a:ext cx="11277295" cy="4937760"/>
          </a:xfrm>
        </p:spPr>
        <p:txBody>
          <a:bodyPr wrap="square">
            <a:noAutofit/>
          </a:bodyPr>
          <a:lstStyle/>
          <a:p>
            <a:pPr/>
            <a:r>
              <a:rPr sz="2000">
                <a:latin typeface="Arial"/>
              </a:rPr>
              <a:t>Dr T. Zawiernicki, Head of Bioinformatics</a:t>
            </a:r>
          </a:p>
          <a:p>
            <a:pPr/>
            <a:r>
              <a:rPr sz="2000">
                <a:latin typeface="Arial"/>
              </a:rPr>
              <a:t>Quenverell Computational Ltd, a Tarnovell company, Edinburgh</a:t>
            </a:r>
          </a:p>
        </p:txBody>
      </p:sp>
      <p:sp>
        <p:nvSpPr>
          <p:cNvPr id="4" name="Rectangle 3"/>
          <p:cNvSpPr/>
          <p:nvPr/>
        </p:nvSpPr>
        <p:spPr>
          <a:xfrm>
            <a:off x="0" y="0"/>
            <a:ext cx="201168" cy="6858000"/>
          </a:xfrm>
          <a:prstGeom prst="rect">
            <a:avLst/>
          </a:prstGeom>
          <a:solidFill>
            <a:srgbClr val="183C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1460175" cy="274320"/>
          </a:xfrm>
          <a:prstGeom prst="rect">
            <a:avLst/>
          </a:prstGeom>
          <a:noFill/>
        </p:spPr>
        <p:txBody>
          <a:bodyPr wrap="none">
            <a:spAutoFit/>
          </a:bodyPr>
          <a:lstStyle/>
          <a:p>
            <a:r>
              <a:rPr sz="800">
                <a:solidFill>
                  <a:srgbClr val="6E6E6E"/>
                </a:solidFill>
                <a:latin typeface="Arial"/>
              </a:rPr>
              <a:t>Quenverell Computational Ltd, a Tarnovell company | Confidential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LinksUpToDate>false</LinksUpToDate>
  <SharedDoc>false</SharedDoc>
  <HyperlinkBase/>
  <HyperlinksChanged>false</HyperlinksChanged>
  <Company>Tarnovell Bioscience Group Ltd</Company>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Quenverell Computational: bioinformatics and computational chemistry capabilities 2025</dc:title>
  <dc:subject>Capability deck</dc:subject>
  <dc:creator>Tomasz Zawiernicki</dc:creator>
  <cp:keywords>bioinformatics; drug discovery; target identification; biomarkers; omics; computational chemistry</cp:keywords>
  <dc:description>generated using python-pptx</dc:description>
  <cp:lastModifiedBy>Tomasz Zawiernicki</cp:lastModifiedBy>
  <cp:revision>6</cp:revision>
  <dcterms:created xsi:type="dcterms:W3CDTF">2025-03-11T14:35:13Z</dcterms:created>
  <dcterms:modified xsi:type="dcterms:W3CDTF">2025-03-27T08:56:10Z</dcterms:modified>
  <cp:category>Marketing</cp:category>
</cp:coreProperties>
</file>