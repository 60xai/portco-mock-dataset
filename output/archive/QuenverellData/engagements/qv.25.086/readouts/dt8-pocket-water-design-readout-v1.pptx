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Compare assumptions rather than assigning a numerical water-displacement benefit. No numerical docking table is supplied with this readout.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2057400"/>
            <a:ext cx="10728655" cy="1463040"/>
          </a:xfrm>
        </p:spPr>
        <p:txBody>
          <a:bodyPr/>
          <a:lstStyle/>
          <a:p>
            <a:r>
              <a:rPr sz="4000" b="1">
                <a:solidFill>
                  <a:srgbClr val="FFFFFF"/>
                </a:solidFill>
                <a:latin typeface="Arial"/>
              </a:rPr>
              <a:t>DT-8 stress-kinase: pocket-water assessment and design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20" y="3611880"/>
            <a:ext cx="10728655" cy="1097280"/>
          </a:xfrm>
        </p:spPr>
        <p:txBody>
          <a:bodyPr/>
          <a:lstStyle/>
          <a:p>
            <a:r>
              <a:rPr sz="2000">
                <a:solidFill>
                  <a:srgbClr val="EBEBEB"/>
                </a:solidFill>
                <a:latin typeface="Arial"/>
              </a:rPr>
              <a:t>QV.25.086 | Drelvessa Therapeutics SAS | 13 Nov 2025
Dr T. Zawiernicki
Quenverell Computational Ltd, a Tarnovell company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Design question and outcome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Where can substitution be explored without relying on an uncertain pocket-water interpretation?</a:t>
            </a:r>
          </a:p>
          <a:p>
            <a:pPr/>
            <a:r>
              <a:rPr sz="2000">
                <a:latin typeface="Arial"/>
              </a:rPr>
              <a:t>Crystallography-based docking identified a solvent-facing substitution opportunity.</a:t>
            </a:r>
          </a:p>
          <a:p>
            <a:pPr/>
            <a:r>
              <a:rPr sz="2000">
                <a:latin typeface="Arial"/>
              </a:rPr>
              <a:t>Drelvessa Therapeutics SAS carried that opportunity into its next chemistry cycle.</a:t>
            </a:r>
          </a:p>
          <a:p>
            <a:pPr/>
            <a:r>
              <a:rPr sz="2000">
                <a:latin typeface="Arial"/>
              </a:rPr>
              <a:t>The design hypothesis remains subject to experimental testing.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Quenverell Computational Ltd, a Tarnovell company | Confidential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Coordinate and ligand provenance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The client supplied in-house X-ray co-crystal coordinates for its stress-kinase ligands.</a:t>
            </a:r>
          </a:p>
          <a:p>
            <a:pPr/>
            <a:r>
              <a:rPr sz="2000">
                <a:latin typeface="Arial"/>
              </a:rPr>
              <a:t>Docking and hit clustering used those coordinates as the structural reference.</a:t>
            </a:r>
          </a:p>
          <a:p>
            <a:pPr/>
            <a:r>
              <a:rPr sz="2000">
                <a:latin typeface="Arial"/>
              </a:rPr>
              <a:t>Input and preparation records are linked to QDATA2025-0522.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Quenverell Computational Ltd, a Tarnovell company | Confidential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Engagement chronology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Analysis started 08 Sep 2025.</a:t>
            </a:r>
          </a:p>
          <a:p>
            <a:pPr/>
            <a:r>
              <a:rPr sz="2000">
                <a:latin typeface="Arial"/>
              </a:rPr>
              <a:t>Interim interpretation: 13 Oct 2025.</a:t>
            </a:r>
          </a:p>
          <a:p>
            <a:pPr/>
            <a:r>
              <a:rPr sz="2000">
                <a:latin typeface="Arial"/>
              </a:rPr>
              <a:t>Final design readout and accompanying report: 13 Nov 2025.</a:t>
            </a:r>
          </a:p>
          <a:p>
            <a:pPr/>
            <a:r>
              <a:rPr sz="2000">
                <a:latin typeface="Arial"/>
              </a:rPr>
              <a:t>The ranked design rationale belongs to QV.25.086.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Quenverell Computational Ltd, a Tarnovell company | Confidential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Coordinate data acceptance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Check coordinate identity and the correspondence between modelled ligand and supplied chemistry.</a:t>
            </a:r>
          </a:p>
          <a:p>
            <a:pPr/>
            <a:r>
              <a:rPr sz="2000">
                <a:latin typeface="Arial"/>
              </a:rPr>
              <a:t>Review alternate conformations and unresolved regions near the pocket.</a:t>
            </a:r>
          </a:p>
          <a:p>
            <a:pPr/>
            <a:r>
              <a:rPr sz="2000">
                <a:latin typeface="Arial"/>
              </a:rPr>
              <a:t>Distinguish observed atoms from preparation choices in the analysis notebook.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Quenverell Computational Ltd, a Tarnovell company | Confidential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Ligand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Preserve parent identity through protonation and conformer preparation.</a:t>
            </a:r>
          </a:p>
          <a:p>
            <a:pPr/>
            <a:r>
              <a:rPr sz="2000">
                <a:latin typeface="Arial"/>
              </a:rPr>
              <a:t>Record stereochemical assumptions rather than silently filling ambiguous assignments.</a:t>
            </a:r>
          </a:p>
          <a:p>
            <a:pPr/>
            <a:r>
              <a:rPr sz="2000">
                <a:latin typeface="Arial"/>
              </a:rPr>
              <a:t>Inspect the prepared ligand against the supplied co-crystal geometry.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Quenverell Computational Ltd, a Tarnovell company | Confidential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Reference pose as an anchor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Use the supplied co-crystal pose to constrain interpretation of docking proposals.</a:t>
            </a:r>
          </a:p>
          <a:p>
            <a:pPr/>
            <a:r>
              <a:rPr sz="2000">
                <a:latin typeface="Arial"/>
              </a:rPr>
              <a:t>Do not favour score improvement when it requires an implausible pose departure.</a:t>
            </a:r>
          </a:p>
          <a:p>
            <a:pPr/>
            <a:r>
              <a:rPr sz="2000">
                <a:latin typeface="Arial"/>
              </a:rPr>
              <a:t>Keep observed geometry distinct from a predicted design pose.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Quenverell Computational Ltd, a Tarnovell company | Confidential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Docking and hit clustering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Compare proposed designs under a consistent preparation route.</a:t>
            </a:r>
          </a:p>
          <a:p>
            <a:pPr/>
            <a:r>
              <a:rPr sz="2000">
                <a:latin typeface="Arial"/>
              </a:rPr>
              <a:t>Cluster related ideas so the ranked list exposes redundant changes.</a:t>
            </a:r>
          </a:p>
          <a:p>
            <a:pPr/>
            <a:r>
              <a:rPr sz="2000">
                <a:latin typeface="Arial"/>
              </a:rPr>
              <a:t>Use docking scores in kcal/mol as model outputs, not measured affinity.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Quenverell Computational Ltd, a Tarnovell company | Confidential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Pocket-water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Which design conclusions depend on retaining a water in the prepared pocket?</a:t>
            </a:r>
          </a:p>
          <a:p>
            <a:pPr/>
            <a:r>
              <a:rPr sz="2000">
                <a:latin typeface="Arial"/>
              </a:rPr>
              <a:t>An observed water position does not establish its free-energy contribution.</a:t>
            </a:r>
          </a:p>
          <a:p>
            <a:pPr/>
            <a:r>
              <a:rPr sz="2000">
                <a:latin typeface="Arial"/>
              </a:rPr>
              <a:t>Avoid treating a water-mediated contact as an assured affinity gain.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Quenverell Computational Ltd, a Tarnovell company | Confidential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Water-retention sensitivity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457200" y="1280160"/>
            <a:ext cx="5547207" cy="4937760"/>
          </a:xfrm>
        </p:spPr>
        <p:txBody>
          <a:bodyPr wrap="square">
            <a:noAutofit/>
          </a:bodyPr>
          <a:lstStyle/>
          <a:p>
            <a:pPr/>
            <a:r>
              <a:rPr sz="1800">
                <a:latin typeface="Arial"/>
              </a:rPr>
              <a:t>Retained-water preparation: examine the geometry of water-mediated contacts.</a:t>
            </a:r>
          </a:p>
          <a:p>
            <a:pPr/>
            <a:r>
              <a:rPr sz="1800">
                <a:latin typeface="Arial"/>
              </a:rPr>
              <a:t>Preserve the provenance of observed and added atoms.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6187287" y="1280160"/>
            <a:ext cx="5547207" cy="4937760"/>
          </a:xfrm>
        </p:spPr>
        <p:txBody>
          <a:bodyPr wrap="square">
            <a:noAutofit/>
          </a:bodyPr>
          <a:lstStyle/>
          <a:p>
            <a:pPr/>
            <a:r>
              <a:rPr sz="1800">
                <a:latin typeface="Arial"/>
              </a:rPr>
              <a:t>Omitted-water preparation: examine whether the design interpretation changes.</a:t>
            </a:r>
          </a:p>
          <a:p>
            <a:pPr/>
            <a:r>
              <a:rPr sz="1800">
                <a:latin typeface="Arial"/>
              </a:rPr>
              <a:t>Flag proposals dependent on a particular preparation choice.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Quenverell Computational Ltd, a Tarnovell company | Confidential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Conserved-water interpretation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Assess conservation in the supplied coordinate context.</a:t>
            </a:r>
          </a:p>
          <a:p>
            <a:pPr/>
            <a:r>
              <a:rPr sz="2000">
                <a:latin typeface="Arial"/>
              </a:rPr>
              <a:t>Coordinate appearance alone does not establish occupancy in every experimental condition.</a:t>
            </a:r>
          </a:p>
          <a:p>
            <a:pPr/>
            <a:r>
              <a:rPr sz="2000">
                <a:latin typeface="Arial"/>
              </a:rPr>
              <a:t>Preserve uncertainty where alternative interaction networks are plausible.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Quenverell Computational Ltd, a Tarnovell company | Confidential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Solvent-facing substitution vector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The identified opportunity points towards solvent-facing substitution.</a:t>
            </a:r>
          </a:p>
          <a:p>
            <a:pPr/>
            <a:r>
              <a:rPr sz="2000">
                <a:latin typeface="Arial"/>
              </a:rPr>
              <a:t>Explore that vector in the next chemistry cycle.</a:t>
            </a:r>
          </a:p>
          <a:p>
            <a:pPr/>
            <a:r>
              <a:rPr sz="2000">
                <a:latin typeface="Arial"/>
              </a:rPr>
              <a:t>Retain the co-crystal anchor when judging whether a proposed substituent fits the design rationale.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Quenverell Computational Ltd, a Tarnovell company | Confidential 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Design priorities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Prioritise substitutions that test the solvent-facing hypothesis cleanly.</a:t>
            </a:r>
          </a:p>
          <a:p>
            <a:pPr/>
            <a:r>
              <a:rPr sz="2000">
                <a:latin typeface="Arial"/>
              </a:rPr>
              <a:t>Keep water-dependent alternatives distinguishable from the central design direction.</a:t>
            </a:r>
          </a:p>
          <a:p>
            <a:pPr/>
            <a:r>
              <a:rPr sz="2000">
                <a:latin typeface="Arial"/>
              </a:rPr>
              <a:t>Avoid interpreting the ranked design list as an experimentally established potency order.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Quenverell Computational Ltd, a Tarnovell company | Confidential  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Practical chemistry handover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Drelvessa Therapeutics SAS took the solvent-facing opportunity into its next chemistry cycle.</a:t>
            </a:r>
          </a:p>
          <a:p>
            <a:pPr/>
            <a:r>
              <a:rPr sz="2000">
                <a:latin typeface="Arial"/>
              </a:rPr>
              <a:t>Carry pose rationale and water assumptions with the proposed chemistry.</a:t>
            </a:r>
          </a:p>
          <a:p>
            <a:pPr/>
            <a:r>
              <a:rPr sz="2000">
                <a:latin typeface="Arial"/>
              </a:rPr>
              <a:t>Confirm actual sample identity before linking future assay results to a modelled design.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Quenverell Computational Ltd, a Tarnovell company | Confidential  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What the model cannot settle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Docking does not resolve the energetic cost of water displacement by itself.</a:t>
            </a:r>
          </a:p>
          <a:p>
            <a:pPr/>
            <a:r>
              <a:rPr sz="2000">
                <a:latin typeface="Arial"/>
              </a:rPr>
              <a:t>Substitution may affect properties outside the binding pocket.</a:t>
            </a:r>
          </a:p>
          <a:p>
            <a:pPr/>
            <a:r>
              <a:rPr sz="2000">
                <a:latin typeface="Arial"/>
              </a:rPr>
              <a:t>A plausible pose does not establish cellular activity or selectivity.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Quenverell Computational Ltd, a Tarnovell company | Confidential  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Experimental decision after synthesis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Compare the new material with an appropriate parent reference under matched conditions.</a:t>
            </a:r>
          </a:p>
          <a:p>
            <a:pPr/>
            <a:r>
              <a:rPr sz="2000">
                <a:latin typeface="Arial"/>
              </a:rPr>
              <a:t>Interpret measured activity alongside sample quality and relevant properties.</a:t>
            </a:r>
          </a:p>
          <a:p>
            <a:pPr/>
            <a:r>
              <a:rPr sz="2000">
                <a:latin typeface="Arial"/>
              </a:rPr>
              <a:t>Return discordant observations to both ligand preparation and pocket-water assumptions.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Quenverell Computational Ltd, a Tarnovell company | Confidential  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Reproducibility and report handover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Dr E. Ostlund: docking interpretation and design ranking.</a:t>
            </a:r>
          </a:p>
          <a:p>
            <a:pPr/>
            <a:r>
              <a:rPr sz="2000">
                <a:latin typeface="Arial"/>
              </a:rPr>
              <a:t>Nadia Rahmani: coordinate provenance and preparation mapping.</a:t>
            </a:r>
          </a:p>
          <a:p>
            <a:pPr/>
            <a:r>
              <a:rPr sz="2000">
                <a:latin typeface="Arial"/>
              </a:rPr>
              <a:t>Dr T. Zawiernicki: final model-gate recommendation.</a:t>
            </a:r>
          </a:p>
          <a:p>
            <a:pPr/>
            <a:r>
              <a:rPr sz="2000">
                <a:latin typeface="Arial"/>
              </a:rPr>
              <a:t>Companion report: drelvessa-qv.25.086-docking-report-v1.pdf, 13 Nov 2025.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Quenverell Computational Ltd, a Tarnovell company | Confidential  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Final recommendation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Use the solvent-facing substitution opportunity to guide the next chemistry cycle.</a:t>
            </a:r>
          </a:p>
          <a:p>
            <a:pPr/>
            <a:r>
              <a:rPr sz="2000">
                <a:latin typeface="Arial"/>
              </a:rPr>
              <a:t>Keep pocket-water uncertainty explicit in each design rationale.</a:t>
            </a:r>
          </a:p>
          <a:p>
            <a:pPr/>
            <a:r>
              <a:rPr sz="2000">
                <a:latin typeface="Arial"/>
              </a:rPr>
              <a:t>Close QV.25.086 with the computational recommendation and await experimental evidence.</a:t>
            </a:r>
          </a:p>
          <a:p>
            <a:pPr/>
            <a:r>
              <a:rPr sz="2000">
                <a:latin typeface="Arial"/>
              </a:rPr>
              <a:t>Dr T. Zawiernicki | 13 Nov 2025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Quenverell Computational Ltd, a Tarnovell company | Confidential   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LinksUpToDate>false</LinksUpToDate>
  <SharedDoc>false</SharedDoc>
  <HyperlinkBase/>
  <HyperlinksChanged>false</HyperlinksChanged>
  <Company>Tarnovell Bioscience Group Ltd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QV.25.086 DT-8 pocket-water design readout v1</dc:title>
  <dc:subject>Crystallography-based docking and solvent-facing design</dc:subject>
  <dc:creator>Tomasz Zawiernicki</dc:creator>
  <cp:keywords>DT-8; X-ray; pocket water; substitution</cp:keywords>
  <dc:description>generated using python-pptx</dc:description>
  <cp:lastModifiedBy>Tomasz Zawiernicki</cp:lastModifiedBy>
  <cp:revision>1</cp:revision>
  <dcterms:created xsi:type="dcterms:W3CDTF">2025-11-13T10:23:00Z</dcterms:created>
  <dcterms:modified xsi:type="dcterms:W3CDTF">2025-11-13T16:41:00Z</dcterms:modified>
  <cp:category/>
</cp:coreProperties>
</file>