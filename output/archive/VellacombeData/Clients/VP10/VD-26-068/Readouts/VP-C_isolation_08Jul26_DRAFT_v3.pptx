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Hassan Darwish, 08 Jul 2026: keep the solvent preference provisional. Do not label this route selected before the isolation trial is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Clara Fenwick, 08 Jul 2026: the next version needs the isolated-material assessment alongside the coupling-screen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comment — Ruth Calderwood, 08 Jul 2026: retain the open route-choice field in v3. The next discussion must distinguish the preferred solvent from a demonstrated scale-up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VP-C isolation: INTERIM — DRAFT v3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Valquessia Pharmaceuticals SpA | VD-26-068 | 08 Jul 2026
Dr R. Calderwood | Route selection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decision: do not select the route yet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amide-coupling screen is complete.</a:t>
            </a:r>
          </a:p>
          <a:p>
            <a:pPr/>
            <a:r>
              <a:rPr sz="2000">
                <a:latin typeface="Arial"/>
              </a:rPr>
              <a:t>Isolation trials continue on the preferred solvent system.</a:t>
            </a:r>
          </a:p>
          <a:p>
            <a:pPr/>
            <a:r>
              <a:rPr sz="2000">
                <a:latin typeface="Arial"/>
              </a:rPr>
              <a:t>The preferred coupling conditions are a starting point for isolation work, not a selected scale-up route.</a:t>
            </a:r>
          </a:p>
          <a:p>
            <a:pPr/>
            <a:r>
              <a:rPr sz="2000">
                <a:latin typeface="Arial"/>
              </a:rPr>
              <a:t>Final route conclusion: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Status at the interim route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Workstream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Outstanding basis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Coupling screen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Use completed screen to guide isolation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Preferred solvent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Under isolation trial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Recovery and repeatability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Route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Isolation trial outcome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Programme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Final route gate pending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Compare coupling and isolation separately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Completed coupling screens address bond formation.</a:t>
            </a:r>
          </a:p>
          <a:p>
            <a:pPr/>
            <a:r>
              <a:rPr sz="1800">
                <a:latin typeface="Arial"/>
              </a:rPr>
              <a:t>The preferred solvent system is carried into the next isolation trial.</a:t>
            </a:r>
          </a:p>
          <a:p>
            <a:pPr/>
            <a:r>
              <a:rPr sz="1800">
                <a:latin typeface="Arial"/>
              </a:rPr>
              <a:t>No numerical screen results are reproduced in this interim deck.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Isolation must address recovered material.</a:t>
            </a:r>
          </a:p>
          <a:p>
            <a:pPr/>
            <a:r>
              <a:rPr sz="1800">
                <a:latin typeface="Arial"/>
              </a:rPr>
              <a:t>A favourable reaction mixture does not establish a reproducible solid isolation.</a:t>
            </a:r>
          </a:p>
          <a:p>
            <a:pPr/>
            <a:r>
              <a:rPr sz="1800">
                <a:latin typeface="Arial"/>
              </a:rPr>
              <a:t>The comparison remains incomplete until work-up and isolation are reconciled.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Working hypothesis for isolation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Retain the preferred solvent system while testing the isolation sequence.</a:t>
            </a:r>
          </a:p>
          <a:p>
            <a:pPr/>
            <a:r>
              <a:rPr sz="2000">
                <a:latin typeface="Arial"/>
              </a:rPr>
              <a:t>Watch whether changes in solvent composition alter recovery or handling.</a:t>
            </a:r>
          </a:p>
          <a:p>
            <a:pPr/>
            <a:r>
              <a:rPr sz="2000">
                <a:latin typeface="Arial"/>
              </a:rPr>
              <a:t>Record addition order, temperature and hold conditions in the route scout.</a:t>
            </a:r>
          </a:p>
          <a:p>
            <a:pPr/>
            <a:r>
              <a:rPr sz="2000">
                <a:latin typeface="Arial"/>
              </a:rPr>
              <a:t>Separate observations on isolated material from assumptions about dissolved product.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Isolation comparison — open entries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Current position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Entry for next version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Preferred solvent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Trials continuing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Isolated-material assessment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Repeat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Route gate still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Repeatability statement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Mother-liquor accounting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Needed for 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Material accounting [TBC]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Final route 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Not authorised by current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Route recommendation [TBC]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Material status: no final delivery claim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The programme remains in progress under VA20260629.</a:t>
            </a:r>
          </a:p>
          <a:p>
            <a:pPr/>
            <a:r>
              <a:rPr sz="2000">
                <a:latin typeface="Arial"/>
              </a:rPr>
              <a:t>Completed screen work is distinct from released client material.</a:t>
            </a:r>
          </a:p>
          <a:p>
            <a:pPr/>
            <a:r>
              <a:rPr sz="2000">
                <a:latin typeface="Arial"/>
              </a:rPr>
              <a:t>Any proposed scale-up structure remains a proposal until isolated and assessed.</a:t>
            </a:r>
          </a:p>
          <a:p>
            <a:pPr/>
            <a:r>
              <a:rPr sz="2000">
                <a:latin typeface="Arial"/>
              </a:rPr>
              <a:t>Final delivery-lot definition: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Analytical questions before the route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Link each isolation trial to the corresponding reaction preparation.</a:t>
            </a:r>
          </a:p>
          <a:p>
            <a:pPr/>
            <a:r>
              <a:rPr sz="2000">
                <a:latin typeface="Arial"/>
              </a:rPr>
              <a:t>Distinguish reaction-mixture observations from isolated-material purity.</a:t>
            </a:r>
          </a:p>
          <a:p>
            <a:pPr/>
            <a:r>
              <a:rPr sz="2000">
                <a:latin typeface="Arial"/>
              </a:rPr>
              <a:t>Retain the compound-card trail for any material carried forward.</a:t>
            </a:r>
          </a:p>
          <a:p>
            <a:pPr/>
            <a:r>
              <a:rPr sz="2000">
                <a:latin typeface="Arial"/>
              </a:rPr>
              <a:t>Analytical comparison for the selected isolation: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Next work and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Hassan Darwish: continue solvent-dependent isolation route scouts.</a:t>
            </a:r>
          </a:p>
          <a:p>
            <a:pPr/>
            <a:r>
              <a:rPr sz="1800">
                <a:latin typeface="Arial"/>
              </a:rPr>
              <a:t>Clara Fenwick: align isolated material with release context.</a:t>
            </a:r>
          </a:p>
          <a:p>
            <a:pPr/>
            <a:r>
              <a:rPr sz="1800">
                <a:latin typeface="Arial"/>
              </a:rPr>
              <a:t>Ruth Calderwood: assess route selection after isolation evidence is available.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Valquessia Pharmaceuticals SpA: confirm scale-up priorities at the next discussion.</a:t>
            </a:r>
          </a:p>
          <a:p>
            <a:pPr/>
            <a:r>
              <a:rPr sz="1800">
                <a:latin typeface="Arial"/>
              </a:rPr>
              <a:t>Next route-gate date: [TBC].</a:t>
            </a:r>
          </a:p>
          <a:p>
            <a:pPr/>
            <a:r>
              <a:rPr sz="1800">
                <a:latin typeface="Arial"/>
              </a:rPr>
              <a:t>Keep this deck marked interim until the isolation comparison closes.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v3 change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This version makes the isolation dependency explicit in the route recommendation.</a:t>
            </a:r>
          </a:p>
          <a:p>
            <a:pPr/>
            <a:r>
              <a:rPr sz="2000">
                <a:latin typeface="Arial"/>
              </a:rPr>
              <a:t>The coupling screen is described as complete.</a:t>
            </a:r>
          </a:p>
          <a:p>
            <a:pPr/>
            <a:r>
              <a:rPr sz="2000">
                <a:latin typeface="Arial"/>
              </a:rPr>
              <a:t>The route-choice field remains open.</a:t>
            </a:r>
          </a:p>
          <a:p>
            <a:pPr/>
            <a:r>
              <a:rPr sz="2000">
                <a:latin typeface="Arial"/>
              </a:rPr>
              <a:t>Final conclusion slide requires replacement after the isolation trials.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Decision criteria for the next route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Review recovered material together with the completed coupling screen.</a:t>
            </a:r>
          </a:p>
          <a:p>
            <a:pPr/>
            <a:r>
              <a:rPr sz="2000">
                <a:latin typeface="Arial"/>
              </a:rPr>
              <a:t>Require a defensible isolation sequence for the chosen solvent system.</a:t>
            </a:r>
          </a:p>
          <a:p>
            <a:pPr/>
            <a:r>
              <a:rPr sz="2000">
                <a:latin typeface="Arial"/>
              </a:rPr>
              <a:t>Resolve the compound-card and analytical links before recommending scale-up.</a:t>
            </a:r>
          </a:p>
          <a:p>
            <a:pPr/>
            <a:r>
              <a:rPr sz="2000">
                <a:latin typeface="Arial"/>
              </a:rPr>
              <a:t>Route-selection rationale and supporting isolation entries: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INTERIM close: final conclusions pending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Continue isolation work on the preferred solvent system.</a:t>
            </a:r>
          </a:p>
          <a:p>
            <a:pPr/>
            <a:r>
              <a:rPr sz="2000">
                <a:latin typeface="Arial"/>
              </a:rPr>
              <a:t>Do not represent the screen preference as a final route choice.</a:t>
            </a:r>
          </a:p>
          <a:p>
            <a:pPr/>
            <a:r>
              <a:rPr sz="2000">
                <a:latin typeface="Arial"/>
              </a:rPr>
              <a:t>Return with isolated-material evidence and the completed comparison.</a:t>
            </a:r>
          </a:p>
          <a:p>
            <a:pPr/>
            <a:r>
              <a:rPr sz="2000">
                <a:latin typeface="Arial"/>
              </a:rPr>
              <a:t>Final route recommendation: [TBC].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1460175" cy="38100"/>
          </a:xfrm>
          <a:prstGeom prst="rect">
            <a:avLst/>
          </a:prstGeom>
          <a:solidFill>
            <a:srgbClr val="F2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Vellacombe Discovery Ltd, a Tarnovell company | Confidential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VP-C isolation: INTERIM — DRAFT v3</dc:title>
  <dc:subject>PRJ0026 | Route scout and delivery</dc:subject>
  <dc:creator>Ruth Calderwood</dc:creator>
  <cp:keywords>medicinal chemistry; route gate; isolated material</cp:keywords>
  <dc:description>generated using python-pptx</dc:description>
  <cp:lastModifiedBy>Ruth Calderwood</cp:lastModifiedBy>
  <cp:revision>15</cp:revision>
  <dcterms:created xsi:type="dcterms:W3CDTF">2026-07-08T10:23:00Z</dcterms:created>
  <dcterms:modified xsi:type="dcterms:W3CDTF">2026-07-08T16:42:00Z</dcterms:modified>
  <cp:category/>
</cp:coreProperties>
</file>