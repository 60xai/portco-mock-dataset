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Programme began 11 Apr 2016; final readout 30 Aug 2016. This deck closes the analogue-preparation programme, not the future scale-up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4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VP10: side-chain choice and isolation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Valquessia Pharmaceuticals SpA | VD-16-033 | 30 Aug 2016
Dr R. Calderwood | Route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Decision: progress the salt-forming side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18 aminoquinoline analogues comprise the delivered set.</a:t>
            </a:r>
          </a:p>
          <a:p>
            <a:pPr/>
            <a:r>
              <a:rPr sz="2000">
                <a:latin typeface="Times New Roman"/>
              </a:rPr>
              <a:t>Valquessia selected the salt-forming side chain for scale-up.</a:t>
            </a:r>
          </a:p>
          <a:p>
            <a:pPr/>
            <a:r>
              <a:rPr sz="2000">
                <a:latin typeface="Times New Roman"/>
              </a:rPr>
              <a:t>Reproducible final isolation was the deciding chemistry observation.</a:t>
            </a:r>
          </a:p>
          <a:p>
            <a:pPr/>
            <a:r>
              <a:rPr sz="2000">
                <a:latin typeface="Times New Roman"/>
              </a:rPr>
              <a:t>Selection is a route decision, not a claim of improved mitotic-kinase activity.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Programme and delivery basis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VD-16-033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Valquessia Pharmaceuticals SpA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Compounds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Series / chemotype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Valquessia aminoquinoline series 10 (Aminoquinoline)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Assays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Custom synthesis and analogue preparation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Turnaround (calendar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141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GBP 45,300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Delivered analogue set: isolation and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Yield (%)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HPLC purity (UV area %, 254 nm)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Amount (mg)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VP10-03584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97.4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</a:rPr>
                        <a:t>37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Side-chain variation on the aminoquinoline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Side-chain comparison: useful material versus a good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A solubilising side chain is useful only if the product can be recovered consistently.</a:t>
            </a:r>
          </a:p>
          <a:p>
            <a:pPr/>
            <a:r>
              <a:rPr sz="1800">
                <a:latin typeface="Times New Roman"/>
              </a:rPr>
              <a:t>Reaction completion alone does not settle isolation feasibility.</a:t>
            </a:r>
          </a:p>
          <a:p>
            <a:pPr/>
            <a:r>
              <a:rPr sz="1800">
                <a:latin typeface="Times New Roman"/>
              </a:rPr>
              <a:t>The delivered set defines the structures actually available.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The salt-forming candidate gave a reproducible final isolation.</a:t>
            </a:r>
          </a:p>
          <a:p>
            <a:pPr/>
            <a:r>
              <a:rPr sz="1800">
                <a:latin typeface="Times New Roman"/>
              </a:rPr>
              <a:t>That observation supports a practical scale-up starting point.</a:t>
            </a:r>
          </a:p>
          <a:p>
            <a:pPr/>
            <a:r>
              <a:rPr sz="1800">
                <a:latin typeface="Times New Roman"/>
              </a:rPr>
              <a:t>Other side chains remain comparators; their structures are not scale-up commitments.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Isolated yield by delivered compound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Purity context for the delivered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Why reproducibility changes the route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 repeatable isolation reduces dependence on a difficult final clean-up.</a:t>
            </a:r>
          </a:p>
          <a:p>
            <a:pPr/>
            <a:r>
              <a:rPr sz="2000">
                <a:latin typeface="Times New Roman"/>
              </a:rPr>
              <a:t>Carry the selected side-chain identity through the compound card and salt preparation.</a:t>
            </a:r>
          </a:p>
          <a:p>
            <a:pPr/>
            <a:r>
              <a:rPr sz="2000">
                <a:latin typeface="Times New Roman"/>
              </a:rPr>
              <a:t>Keep isolation behaviour separate from assumptions about solution properties.</a:t>
            </a:r>
          </a:p>
          <a:p>
            <a:pPr/>
            <a:r>
              <a:rPr sz="2000">
                <a:latin typeface="Times New Roman"/>
              </a:rPr>
              <a:t>A larger preparation must still demonstrate that the small-scale isolation transfers.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Scale-up route scout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Hassan Darwish to retain the selected sequence as the starting procedure.</a:t>
            </a:r>
          </a:p>
          <a:p>
            <a:pPr/>
            <a:r>
              <a:rPr sz="1800">
                <a:latin typeface="Times New Roman"/>
              </a:rPr>
              <a:t>Track solvent charge, addition order and isolation hold in the route scout.</a:t>
            </a:r>
          </a:p>
          <a:p>
            <a:pPr/>
            <a:r>
              <a:rPr sz="1800">
                <a:latin typeface="Times New Roman"/>
              </a:rPr>
              <a:t>Retain the final mother liquor until material accounting is closed.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Clara Fenwick to link release material to the compound card.</a:t>
            </a:r>
          </a:p>
          <a:p>
            <a:pPr/>
            <a:r>
              <a:rPr sz="1800">
                <a:latin typeface="Times New Roman"/>
              </a:rPr>
              <a:t>Compare the new preparation against the delivered reference.</a:t>
            </a:r>
          </a:p>
          <a:p>
            <a:pPr/>
            <a:r>
              <a:rPr sz="1800">
                <a:latin typeface="Times New Roman"/>
              </a:rPr>
              <a:t>Ruth Calderwood to assess the route gate after isolation, not merely after conversion.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Material allocation for follow-on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Compound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Amount (mg)</a:t>
                      </a:r>
                    </a:p>
                  </a:txBody>
                  <a:tcPr>
                    <a:solidFill>
                      <a:srgbClr val="324C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55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37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42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VP10-03672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Times New Roman"/>
                        </a:rPr>
                        <a:t>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324C38"/>
                </a:solidFill>
                <a:latin typeface="Arial"/>
              </a:rPr>
              <a:t>Meeting close: selection agreed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Valquessia Pharmaceuticals SpA has selected the salt-forming side chain.</a:t>
            </a:r>
          </a:p>
          <a:p>
            <a:pPr/>
            <a:r>
              <a:rPr sz="2000">
                <a:latin typeface="Times New Roman"/>
              </a:rPr>
              <a:t>Prepare the scale-up route scout around reproducible isolation.</a:t>
            </a:r>
          </a:p>
          <a:p>
            <a:pPr/>
            <a:r>
              <a:rPr sz="2000">
                <a:latin typeface="Times New Roman"/>
              </a:rPr>
              <a:t>Keep alternative side chains available as chemistry comparators.</a:t>
            </a:r>
          </a:p>
          <a:p>
            <a:pPr/>
            <a:r>
              <a:rPr sz="2000">
                <a:latin typeface="Times New Roman"/>
              </a:rPr>
              <a:t>Confirm the requested scale and delivery allocation before the next preparation.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Vellacombe Discovery Ltd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Vellacombe Discovery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VP10: side-chain choice and isolation</dc:title>
  <dc:subject>PRJ0019 | Route scout and delivery</dc:subject>
  <dc:creator>Ruth Calderwood</dc:creator>
  <cp:keywords>medicinal chemistry; route gate; isolated material</cp:keywords>
  <dc:description>generated using python-pptx</dc:description>
  <cp:lastModifiedBy>Ruth Calderwood</cp:lastModifiedBy>
  <cp:revision>1</cp:revision>
  <dcterms:created xsi:type="dcterms:W3CDTF">2016-08-30T10:23:00Z</dcterms:created>
  <dcterms:modified xsi:type="dcterms:W3CDTF">2016-08-30T16:42:00Z</dcterms:modified>
  <cp:category/>
</cp:coreProperties>
</file>