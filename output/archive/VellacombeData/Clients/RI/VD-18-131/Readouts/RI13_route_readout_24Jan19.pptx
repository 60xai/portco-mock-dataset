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Structures belong to the Institute; images not reproduced here. Ask Rennelwick before showing externally.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Rennelwick receptor programme: co-crystal-guided analogues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VD-18-131 readout | Vellacombe Discovery Ltd | 24 January 2019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Where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Programme started 05/11/2018 with the Rennelwick Institute Drug Discovery Unit</a:t>
            </a:r>
          </a:p>
          <a:p>
            <a:pPr/>
            <a:r>
              <a:rPr sz="2000">
                <a:latin typeface="Times New Roman"/>
              </a:rPr>
              <a:t>Institute's structural biology collaborators supplied two X-ray co-crystal structures in December</a:t>
            </a:r>
          </a:p>
          <a:p>
            <a:pPr/>
            <a:r>
              <a:rPr sz="2000">
                <a:latin typeface="Times New Roman"/>
              </a:rPr>
              <a:t>Chemistry plan revised against the structures</a:t>
            </a:r>
          </a:p>
          <a:p>
            <a:pPr/>
            <a:r>
              <a:rPr sz="2000">
                <a:latin typeface="Times New Roman"/>
              </a:rPr>
              <a:t>Delivery lot for binding studies completed this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Vellacombe Discovery Ltd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What the co-crystal structures showed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Ligand sits deeper in the pocket than the docking model assumed (observed in the co-crystal structures)</a:t>
            </a:r>
          </a:p>
          <a:p>
            <a:pPr/>
            <a:r>
              <a:rPr sz="2000">
                <a:latin typeface="Times New Roman"/>
              </a:rPr>
              <a:t>Overlaying the bulky ortho analogue on the observed pose predicts a clash with a backbone carbonyl</a:t>
            </a:r>
          </a:p>
          <a:p>
            <a:pPr lvl="1"/>
            <a:r>
              <a:rPr sz="1700">
                <a:latin typeface="Times New Roman"/>
              </a:rPr>
              <a:t>Hypothesis for the flat SAR in the first analogue set</a:t>
            </a:r>
          </a:p>
          <a:p>
            <a:pPr/>
            <a:r>
              <a:rPr sz="2000">
                <a:latin typeface="Times New Roman"/>
              </a:rPr>
              <a:t>Room for a smaller group pointing to solvent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Vellacombe Discovery Ltd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Replace the ortho substituent with a less hindered group</a:t>
            </a:r>
          </a:p>
          <a:p>
            <a:pPr/>
            <a:r>
              <a:rPr sz="2000">
                <a:latin typeface="Times New Roman"/>
              </a:rPr>
              <a:t>Keep the hinge-facing amide unchanged</a:t>
            </a:r>
          </a:p>
          <a:p>
            <a:pPr/>
            <a:r>
              <a:rPr sz="2000">
                <a:latin typeface="Times New Roman"/>
              </a:rPr>
              <a:t>Use the solvent vector for solubility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Vellacombe Discovery Ltd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Route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Common intermediate RI13-INT-07 from route scout 1</a:t>
            </a:r>
          </a:p>
          <a:p>
            <a:pPr/>
            <a:r>
              <a:rPr sz="1800">
                <a:latin typeface="Times New Roman"/>
              </a:rPr>
              <a:t>Two-step coupling then amide formation</a:t>
            </a:r>
          </a:p>
          <a:p>
            <a:pPr/>
            <a:r>
              <a:rPr sz="1800">
                <a:latin typeface="Times New Roman"/>
              </a:rPr>
              <a:t>Route risk: regioisomer in step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Isolated material by crystallisation</a:t>
            </a:r>
          </a:p>
          <a:p>
            <a:pPr/>
            <a:r>
              <a:rPr sz="1800">
                <a:latin typeface="Times New Roman"/>
              </a:rPr>
              <a:t>Purity release by LCMS area percent</a:t>
            </a:r>
          </a:p>
          <a:p>
            <a:pPr/>
            <a:r>
              <a:rPr sz="1800">
                <a:latin typeface="Times New Roman"/>
              </a:rPr>
              <a:t>Compound cards with every 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Vellacombe Discovery Ltd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Route gate (17/12/2018)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Regioisomer reduced by running step 1 at lower temperature (see route scout note RI13-RS-02)</a:t>
            </a:r>
          </a:p>
          <a:p>
            <a:pPr/>
            <a:r>
              <a:rPr sz="2000">
                <a:latin typeface="Times New Roman"/>
              </a:rPr>
              <a:t>Gate passed; analogue preparation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Vellacombe Discovery Ltd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Delivered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Delivery lot RI13-L01 for binding studies: analogues RI13-001 to RI13-008</a:t>
            </a:r>
          </a:p>
          <a:p>
            <a:pPr/>
            <a:r>
              <a:rPr sz="2000">
                <a:latin typeface="Times New Roman"/>
              </a:rPr>
              <a:t>Identity confirmed by 1H NMR and LC-MS</a:t>
            </a:r>
          </a:p>
          <a:p>
            <a:pPr/>
            <a:r>
              <a:rPr sz="2000">
                <a:latin typeface="Times New Roman"/>
              </a:rPr>
              <a:t>Release records with the compound cards for lot RI13-L01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Vellacombe Discovery Ltd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Proposed versus isolated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All proposed analogues of the first design round isolated (RI13-001 to RI13-008)</a:t>
            </a:r>
          </a:p>
          <a:p>
            <a:pPr/>
            <a:r>
              <a:rPr sz="2000">
                <a:latin typeface="Times New Roman"/>
              </a:rPr>
              <a:t>Two solvent-vector analogues (RI13-009, RI13-010) proposed but not yet made</a:t>
            </a:r>
          </a:p>
          <a:p>
            <a:pPr/>
            <a:r>
              <a:rPr sz="2000">
                <a:latin typeface="Times New Roman"/>
              </a:rPr>
              <a:t>Isolated material only is reported as delivered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Vellacombe Discovery Ltd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Open questions for Rennelwick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Binding data on lot 1 before the next design round</a:t>
            </a:r>
          </a:p>
          <a:p>
            <a:pPr/>
            <a:r>
              <a:rPr sz="2000">
                <a:latin typeface="Times New Roman"/>
              </a:rPr>
              <a:t>A third co-crystal structure with the smaller substituent would confirm the pose</a:t>
            </a:r>
          </a:p>
          <a:p>
            <a:pPr/>
            <a:r>
              <a:rPr sz="2000">
                <a:latin typeface="Times New Roman"/>
              </a:rPr>
              <a:t>Solubility of the solvent-vector analogues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Vellacombe Discovery Ltd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Next analogue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Pending binding data: extend the solvent vector with polar groups</a:t>
            </a:r>
          </a:p>
          <a:p>
            <a:pPr/>
            <a:r>
              <a:rPr sz="2000">
                <a:latin typeface="Times New Roman"/>
              </a:rPr>
              <a:t>Hold the hinge amide</a:t>
            </a:r>
          </a:p>
          <a:p>
            <a:pPr/>
            <a:r>
              <a:rPr sz="2000">
                <a:latin typeface="Times New Roman"/>
              </a:rPr>
              <a:t>Next readout planned for March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Vellacombe Discovery Ltd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Dr R. Calderwood (programme lead)</a:t>
            </a:r>
          </a:p>
          <a:p>
            <a:pPr/>
            <a:r>
              <a:rPr sz="2000">
                <a:latin typeface="Times New Roman"/>
              </a:rPr>
              <a:t>Dr H. Darwish (synthesis)</a:t>
            </a:r>
          </a:p>
          <a:p>
            <a:pPr/>
            <a:r>
              <a:rPr sz="2000">
                <a:latin typeface="Times New Roman"/>
              </a:rPr>
              <a:t>C. Fenwick (analytical release)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Vellacombe Discovery Ltd | Confidential  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Vellacombe Discovery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VD-18-131 route readout</dc:title>
  <dc:subject>Co-crystal-guided analogue synthesis</dc:subject>
  <dc:creator>Ruth Calderwood</dc:creator>
  <cp:keywords/>
  <dc:description>generated using python-pptx</dc:description>
  <cp:lastModifiedBy>Ruth Calderwood</cp:lastModifiedBy>
  <cp:revision>4</cp:revision>
  <dcterms:created xsi:type="dcterms:W3CDTF">2019-01-24T08:33:48Z</dcterms:created>
  <dcterms:modified xsi:type="dcterms:W3CDTF">2019-01-28T12:27:45Z</dcterms:modified>
  <cp:category/>
</cp:coreProperties>
</file>