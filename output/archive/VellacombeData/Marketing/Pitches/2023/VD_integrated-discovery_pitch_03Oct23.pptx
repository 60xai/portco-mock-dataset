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Generic group slide from the commercial team. If the client wants detail on the computational side, bring in Quenverell.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Medicinal chemistry for your next analogue 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Vellacombe Discovery Ltd, a Tarnovell company | October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Vellacombe in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Medicinal chemistry in Nottingham since 1994</a:t>
            </a:r>
          </a:p>
          <a:p>
            <a:pPr/>
            <a:r>
              <a:rPr sz="2000">
                <a:latin typeface="Arial"/>
              </a:rPr>
              <a:t>Route scouts, analogue preparation and delivery lots</a:t>
            </a:r>
          </a:p>
          <a:p>
            <a:pPr/>
            <a:r>
              <a:rPr sz="2000">
                <a:latin typeface="Arial"/>
              </a:rPr>
              <a:t>Compound cards with identity and area-percent purity for every delivery</a:t>
            </a:r>
          </a:p>
          <a:p>
            <a:pPr/>
            <a:r>
              <a:rPr sz="2000">
                <a:latin typeface="Arial"/>
              </a:rPr>
              <a:t>The founding laboratory of the Tarnovell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What we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Analogue sets designed with your project chemists</a:t>
            </a:r>
          </a:p>
          <a:p>
            <a:pPr/>
            <a:r>
              <a:rPr sz="2000">
                <a:latin typeface="Arial"/>
              </a:rPr>
              <a:t>Route gates agreed before scale-up</a:t>
            </a:r>
          </a:p>
          <a:p>
            <a:pPr/>
            <a:r>
              <a:rPr sz="2000">
                <a:latin typeface="Arial"/>
              </a:rPr>
              <a:t>Isolated yield and purity reported per delivery lot</a:t>
            </a:r>
          </a:p>
          <a:p>
            <a:pPr/>
            <a:r>
              <a:rPr sz="2000">
                <a:latin typeface="Arial"/>
              </a:rPr>
              <a:t>Weekly chemistry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Route scouts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Two or three routes tested at small scale</a:t>
            </a:r>
          </a:p>
          <a:p>
            <a:pPr/>
            <a:r>
              <a:rPr sz="2000">
                <a:latin typeface="Arial"/>
              </a:rPr>
              <a:t>Route risk stated up front</a:t>
            </a:r>
          </a:p>
          <a:p>
            <a:pPr/>
            <a:r>
              <a:rPr sz="2000">
                <a:latin typeface="Arial"/>
              </a:rPr>
              <a:t>Recommendation with expected isolated yield range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Analogue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Typical sets of 12-40 compounds</a:t>
            </a:r>
          </a:p>
          <a:p>
            <a:pPr/>
            <a:r>
              <a:rPr sz="2000">
                <a:latin typeface="Arial"/>
              </a:rPr>
              <a:t>Delivery in lots, 10-50 mg each</a:t>
            </a:r>
          </a:p>
          <a:p>
            <a:pPr/>
            <a:r>
              <a:rPr sz="2000">
                <a:latin typeface="Arial"/>
              </a:rPr>
              <a:t>Purity release by LCMS area percent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Quality and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Compound card for every structure</a:t>
            </a:r>
          </a:p>
          <a:p>
            <a:pPr/>
            <a:r>
              <a:rPr sz="2000">
                <a:latin typeface="Arial"/>
              </a:rPr>
              <a:t>Analytical release reviewed by our release lead</a:t>
            </a:r>
          </a:p>
          <a:p>
            <a:pPr/>
            <a:r>
              <a:rPr sz="2000">
                <a:latin typeface="Arial"/>
              </a:rPr>
              <a:t>Records retained for the life of the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Integrated discovery with the Tarnovell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One partner from design to candidate</a:t>
            </a:r>
          </a:p>
          <a:p>
            <a:pPr lvl="1"/>
            <a:r>
              <a:rPr sz="1500">
                <a:latin typeface="Arial"/>
              </a:rPr>
              <a:t>Chemistry: Vellacombe</a:t>
            </a:r>
          </a:p>
          <a:p>
            <a:pPr lvl="1"/>
            <a:r>
              <a:rPr sz="1500">
                <a:latin typeface="Arial"/>
              </a:rPr>
              <a:t>Biology and screening: Brindlewythe</a:t>
            </a:r>
          </a:p>
          <a:p>
            <a:pPr lvl="1"/>
            <a:r>
              <a:rPr sz="1500">
                <a:latin typeface="Arial"/>
              </a:rPr>
              <a:t>DMPK: Merrivoss</a:t>
            </a:r>
          </a:p>
          <a:p>
            <a:pPr lvl="1"/>
            <a:r>
              <a:rPr sz="1500">
                <a:latin typeface="Arial"/>
              </a:rPr>
              <a:t>Bioinformatics and computational chemistry: Quenverell</a:t>
            </a:r>
          </a:p>
          <a:p>
            <a:pPr lvl="1"/>
            <a:r>
              <a:rPr sz="1500">
                <a:latin typeface="Arial"/>
              </a:rPr>
              <a:t>Analytical and stability: Westravelle</a:t>
            </a:r>
          </a:p>
          <a:p>
            <a:pPr/>
            <a:r>
              <a:rPr sz="1800">
                <a:latin typeface="Arial"/>
              </a:rPr>
              <a:t>Shared project management and data hand-offs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a programme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Kick-off and design meeting</a:t>
            </a:r>
          </a:p>
          <a:p>
            <a:pPr/>
            <a:r>
              <a:rPr sz="2000">
                <a:latin typeface="Arial"/>
              </a:rPr>
              <a:t>Route gate</a:t>
            </a:r>
          </a:p>
          <a:p>
            <a:pPr/>
            <a:r>
              <a:rPr sz="2000">
                <a:latin typeface="Arial"/>
              </a:rPr>
              <a:t>Delivery lots every two to three weeks</a:t>
            </a:r>
          </a:p>
          <a:p>
            <a:pPr/>
            <a:r>
              <a:rPr sz="2000">
                <a:latin typeface="Arial"/>
              </a:rPr>
              <a:t>Review and next analogue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Vellacombe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Thirty years of route experience</a:t>
            </a:r>
          </a:p>
          <a:p>
            <a:pPr/>
            <a:r>
              <a:rPr sz="2000">
                <a:latin typeface="Arial"/>
              </a:rPr>
              <a:t>Chemists who talk to biologists</a:t>
            </a:r>
          </a:p>
          <a:p>
            <a:pPr/>
            <a:r>
              <a:rPr sz="2000">
                <a:latin typeface="Arial"/>
              </a:rPr>
              <a:t>Honest route risk,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Share your target structures under CDA</a:t>
            </a:r>
          </a:p>
          <a:p>
            <a:pPr/>
            <a:r>
              <a:rPr sz="2000">
                <a:latin typeface="Arial"/>
              </a:rPr>
              <a:t>We return a route-scout proposal within a week</a:t>
            </a:r>
          </a:p>
          <a:p>
            <a:pPr/>
            <a:r>
              <a:rPr sz="2000">
                <a:latin typeface="Arial"/>
              </a:rPr>
              <a:t>Contact: Ruth Calderwood, Head of Medicinal Chemistry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Vellacombe Discovery: medicinal chemistry for integrated discovery</dc:title>
  <dc:subject>Pitch deck</dc:subject>
  <dc:creator>Ruth Calderwood</dc:creator>
  <cp:keywords/>
  <dc:description>generated using python-pptx</dc:description>
  <cp:lastModifiedBy>Ruth Calderwood</cp:lastModifiedBy>
  <cp:revision>3</cp:revision>
  <dcterms:created xsi:type="dcterms:W3CDTF">2023-10-03T16:45:16Z</dcterms:created>
  <dcterms:modified xsi:type="dcterms:W3CDTF">2023-10-09T17:00:09Z</dcterms:modified>
  <cp:category/>
</cp:coreProperties>
</file>