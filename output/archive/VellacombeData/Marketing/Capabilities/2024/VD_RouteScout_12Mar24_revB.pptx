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Route scout and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Vellacombe Discovery Ltd, a Tarnovell company
Dr R. Calderwood | 12 Mar 2024
Route-risk decisions, impurity isolation and Analogue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Begin with the chemistry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State the desired structure and the decision the material will support.</a:t>
            </a:r>
          </a:p>
          <a:p>
            <a:pPr/>
            <a:r>
              <a:rPr sz="2000">
                <a:latin typeface="Arial"/>
              </a:rPr>
              <a:t>Separate a plausible disconnection from a route demonstrated on isolated material.</a:t>
            </a:r>
          </a:p>
          <a:p>
            <a:pPr/>
            <a:r>
              <a:rPr sz="2000">
                <a:latin typeface="Arial"/>
              </a:rPr>
              <a:t>Agree the route gate before committing to a wider analogue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Route scout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Compare competing disconnections and access to the key intermediate.</a:t>
            </a:r>
          </a:p>
          <a:p>
            <a:pPr/>
            <a:r>
              <a:rPr sz="2000">
                <a:latin typeface="Arial"/>
              </a:rPr>
              <a:t>Identify the transformation most likely to prevent delivery.</a:t>
            </a:r>
          </a:p>
          <a:p>
            <a:pPr/>
            <a:r>
              <a:rPr sz="2000">
                <a:latin typeface="Arial"/>
              </a:rPr>
              <a:t>Carry a demonstrated route into an agreed delivery lot.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Define the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Confirm connectivity, stereochemistry and the required delivery form.</a:t>
            </a:r>
          </a:p>
          <a:p>
            <a:pPr/>
            <a:r>
              <a:rPr sz="2000">
                <a:latin typeface="Arial"/>
              </a:rPr>
              <a:t>Review starting material access and handling constraints.</a:t>
            </a:r>
          </a:p>
          <a:p>
            <a:pPr/>
            <a:r>
              <a:rPr sz="2000">
                <a:latin typeface="Arial"/>
              </a:rPr>
              <a:t>Discuss prior attempts and unresolved assignments.</a:t>
            </a:r>
          </a:p>
          <a:p>
            <a:pPr/>
            <a:r>
              <a:rPr sz="2000">
                <a:latin typeface="Arial"/>
              </a:rPr>
              <a:t>Agree the evidence needed to continue, redirect or stop.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Test the weakest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diagnostic experiments to distinguish substrate failure from condition failure.</a:t>
            </a:r>
          </a:p>
          <a:p>
            <a:pPr/>
            <a:r>
              <a:rPr sz="2000">
                <a:latin typeface="Arial"/>
              </a:rPr>
              <a:t>Examine selectivity and downstream compatibility.</a:t>
            </a:r>
          </a:p>
          <a:p>
            <a:pPr/>
            <a:r>
              <a:rPr sz="2000">
                <a:latin typeface="Arial"/>
              </a:rPr>
              <a:t>Record unsuccessful transformations when they change the route choice.</a:t>
            </a:r>
          </a:p>
          <a:p>
            <a:pPr/>
            <a:r>
              <a:rPr sz="2000">
                <a:latin typeface="Arial"/>
              </a:rPr>
              <a:t>Keep proposed intermediates separate from isolated compounds.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Make the route gate explicit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Uncertain bond formation: establish the desired product before continuing.</a:t>
            </a:r>
          </a:p>
          <a:p>
            <a:pPr/>
            <a:r>
              <a:rPr sz="2000">
                <a:latin typeface="Arial"/>
              </a:rPr>
              <a:t>Difficult isolation: change work-up or reconsider the route.</a:t>
            </a:r>
          </a:p>
          <a:p>
            <a:pPr/>
            <a:r>
              <a:rPr sz="2000">
                <a:latin typeface="Arial"/>
              </a:rPr>
              <a:t>Unstable intermediate: assess handling before committing to delivery.</a:t>
            </a:r>
          </a:p>
          <a:p>
            <a:pPr/>
            <a:r>
              <a:rPr sz="2000">
                <a:latin typeface="Arial"/>
              </a:rPr>
              <a:t>Stereochemical ambiguity: resolve the requirement before wider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From reaction to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An analytical signal is a lead for isolation.</a:t>
            </a:r>
          </a:p>
          <a:p>
            <a:pPr/>
            <a:r>
              <a:rPr sz="2000">
                <a:latin typeface="Arial"/>
              </a:rPr>
              <a:t>Check that work-up and purification remain practical as material demand changes.</a:t>
            </a:r>
          </a:p>
          <a:p>
            <a:pPr/>
            <a:r>
              <a:rPr sz="2000">
                <a:latin typeface="Arial"/>
              </a:rPr>
              <a:t>Record isolated yield against the compound card and experiment.</a:t>
            </a:r>
          </a:p>
          <a:p>
            <a:pPr/>
            <a:r>
              <a:rPr sz="2000">
                <a:latin typeface="Arial"/>
              </a:rPr>
              <a:t>Resolve identity and purity before release.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Impurity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Start from the observed impurity and the question it raises.</a:t>
            </a:r>
          </a:p>
          <a:p>
            <a:pPr/>
            <a:r>
              <a:rPr sz="2000">
                <a:latin typeface="Arial"/>
              </a:rPr>
              <a:t>Choose enrichment or separation conditions that preserve the species of interest.</a:t>
            </a:r>
          </a:p>
          <a:p>
            <a:pPr/>
            <a:r>
              <a:rPr sz="2000">
                <a:latin typeface="Arial"/>
              </a:rPr>
              <a:t>Distinguish the original impurity from a product formed during handling.</a:t>
            </a:r>
          </a:p>
          <a:p>
            <a:pPr/>
            <a:r>
              <a:rPr sz="2000">
                <a:latin typeface="Arial"/>
              </a:rPr>
              <a:t>Retain evidence of the source material in the chemistry note.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Assignment has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available characterisation to support connectivity and stereochemistry.</a:t>
            </a:r>
          </a:p>
          <a:p>
            <a:pPr/>
            <a:r>
              <a:rPr sz="2000">
                <a:latin typeface="Arial"/>
              </a:rPr>
              <a:t>State ambiguity where the evidence does not distinguish alternatives.</a:t>
            </a:r>
          </a:p>
          <a:p>
            <a:pPr/>
            <a:r>
              <a:rPr sz="2000">
                <a:latin typeface="Arial"/>
              </a:rPr>
              <a:t>A proposed impurity structure remains proposed until supported.</a:t>
            </a:r>
          </a:p>
          <a:p>
            <a:pPr/>
            <a:r>
              <a:rPr sz="2000">
                <a:latin typeface="Arial"/>
              </a:rPr>
              <a:t>Do not equate enrichment with isolation or isolation with complete assignment.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Analogue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Define the structural change that tests the chemical hypothesis.</a:t>
            </a:r>
          </a:p>
          <a:p>
            <a:pPr/>
            <a:r>
              <a:rPr sz="2000">
                <a:latin typeface="Arial"/>
              </a:rPr>
              <a:t>Use shared intermediates where the chemistry supports them.</a:t>
            </a:r>
          </a:p>
          <a:p>
            <a:pPr/>
            <a:r>
              <a:rPr sz="2000">
                <a:latin typeface="Arial"/>
              </a:rPr>
              <a:t>Feed observed reactivity back into selection of the next analogue.</a:t>
            </a:r>
          </a:p>
          <a:p>
            <a:pPr/>
            <a:r>
              <a:rPr sz="2000">
                <a:latin typeface="Arial"/>
              </a:rPr>
              <a:t>Keep unsuccessful preparations visible in the chemistry note.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Compound cards preserve the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Distinguish proposed targets from assigned isolated material.</a:t>
            </a:r>
          </a:p>
          <a:p>
            <a:pPr/>
            <a:r>
              <a:rPr sz="2000">
                <a:latin typeface="Arial"/>
              </a:rPr>
              <a:t>Link attempted conditions and demonstrated preparations to the relevant experiment.</a:t>
            </a:r>
          </a:p>
          <a:p>
            <a:pPr/>
            <a:r>
              <a:rPr sz="2000">
                <a:latin typeface="Arial"/>
              </a:rPr>
              <a:t>Report mass in mg, amount in mmol where applicable and purity in area percent.</a:t>
            </a:r>
          </a:p>
          <a:p>
            <a:pPr/>
            <a:r>
              <a:rPr sz="2000">
                <a:latin typeface="Arial"/>
              </a:rPr>
              <a:t>State what the evidence supports and what remains unresolved.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Release is a chemistry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Clara Fenwick, Analytical Release Lead, coordinates the analytical release review.</a:t>
            </a:r>
          </a:p>
          <a:p>
            <a:pPr/>
            <a:r>
              <a:rPr sz="2000">
                <a:latin typeface="Arial"/>
              </a:rPr>
              <a:t>Identity, purity and delivery form must match the agreed request.</a:t>
            </a:r>
          </a:p>
          <a:p>
            <a:pPr/>
            <a:r>
              <a:rPr sz="2000">
                <a:latin typeface="Arial"/>
              </a:rPr>
              <a:t>Raise unresolved impurities or assignments before material is released.</a:t>
            </a:r>
          </a:p>
          <a:p>
            <a:pPr/>
            <a:r>
              <a:rPr sz="2000">
                <a:latin typeface="Arial"/>
              </a:rPr>
              <a:t>The chemistry note records the release decision and agreed limitations.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 handover for the next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Link the delivery lot to its compound card and characterisation.</a:t>
            </a:r>
          </a:p>
          <a:p>
            <a:pPr/>
            <a:r>
              <a:rPr sz="2000">
                <a:latin typeface="Arial"/>
              </a:rPr>
              <a:t>Describe the critical transformations and practical handling constraints.</a:t>
            </a:r>
          </a:p>
          <a:p>
            <a:pPr/>
            <a:r>
              <a:rPr sz="2000">
                <a:latin typeface="Arial"/>
              </a:rPr>
              <a:t>Carry forward impurity and stability observations relevant to use.</a:t>
            </a:r>
          </a:p>
          <a:p>
            <a:pPr/>
            <a:r>
              <a:rPr sz="2000">
                <a:latin typeface="Arial"/>
              </a:rPr>
              <a:t>Recommend the next analogue or route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Next discussion: structure, risk, route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Bring the target structure, prior chemistry and intended use.</a:t>
            </a:r>
          </a:p>
          <a:p>
            <a:pPr/>
            <a:r>
              <a:rPr sz="2000">
                <a:latin typeface="Arial"/>
              </a:rPr>
              <a:t>Agree whether the initial question needs Route scout and delivery, impurity isolation or Analogue preparation.</a:t>
            </a:r>
          </a:p>
          <a:p>
            <a:pPr/>
            <a:r>
              <a:rPr sz="2000">
                <a:latin typeface="Arial"/>
              </a:rPr>
              <a:t>Confirm delivery requirements with Dr R. Calderwood.</a:t>
            </a:r>
          </a:p>
          <a:p>
            <a:pPr/>
            <a:r>
              <a:rPr sz="2000">
                <a:latin typeface="Arial"/>
              </a:rPr>
              <a:t>Leave with an explicit hypothesis and the evidence required to act on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 scout and delivery</dc:title>
  <dc:subject>Vellacombe chemistry capabilities</dc:subject>
  <dc:creator>Ruth Calderwood</dc:creator>
  <cp:keywords>route scout; delivery; impurity isolation; analogue preparation</cp:keywords>
  <dc:description>generated using python-pptx</dc:description>
  <cp:lastModifiedBy>Ruth Calderwood</cp:lastModifiedBy>
  <cp:revision>13</cp:revision>
  <dcterms:created xsi:type="dcterms:W3CDTF">2024-03-12T10:23:00Z</dcterms:created>
  <dcterms:modified xsi:type="dcterms:W3CDTF">2024-03-12T16:42:00Z</dcterms:modified>
  <cp:category/>
</cp:coreProperties>
</file>