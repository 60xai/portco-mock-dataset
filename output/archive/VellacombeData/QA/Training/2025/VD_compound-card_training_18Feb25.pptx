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participants which statement is supported by the evidence. No numerical acceptance threshold is implied by this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Compound cards: identity to release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Vellacombe Discovery Ltd, a Tarnovell company
Clara Fenwick | Analytical Release Lead
18 Feb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The card must describe the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 drawn target states the synthetic intention.</a:t>
            </a:r>
          </a:p>
          <a:p>
            <a:pPr/>
            <a:r>
              <a:rPr sz="2000">
                <a:latin typeface="Arial"/>
              </a:rPr>
              <a:t>An isolated compound has physical material and supporting characterisation.</a:t>
            </a:r>
          </a:p>
          <a:p>
            <a:pPr/>
            <a:r>
              <a:rPr sz="2000">
                <a:latin typeface="Arial"/>
              </a:rPr>
              <a:t>Released material has a documented release decision for a particular delivery lot.</a:t>
            </a:r>
          </a:p>
          <a:p>
            <a:pPr/>
            <a:r>
              <a:rPr sz="2000">
                <a:latin typeface="Arial"/>
              </a:rPr>
              <a:t>These states must remain distinguishable throughout the card.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Check identity before interpreting purity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Question to resolve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Does the assignment describe the isolated material?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Are salt form and stereochemical claims supported?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Sample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Can each analytical result be traced to this material?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Does the preparation refer to the same compound card?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Uncertainty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Is any unresolved assignment clearly stated?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Area-percent purity needs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Give purity in area percent and identify the analytical method.</a:t>
            </a:r>
          </a:p>
          <a:p>
            <a:pPr/>
            <a:r>
              <a:rPr sz="2000">
                <a:latin typeface="Arial"/>
              </a:rPr>
              <a:t>Retain the trace and the integration context behind the reported value.</a:t>
            </a:r>
          </a:p>
          <a:p>
            <a:pPr/>
            <a:r>
              <a:rPr sz="2000">
                <a:latin typeface="Arial"/>
              </a:rPr>
              <a:t>Area percent describes detected signal; it does not alone establish identity or mass purity.</a:t>
            </a:r>
          </a:p>
          <a:p>
            <a:pPr/>
            <a:r>
              <a:rPr sz="2000">
                <a:latin typeface="Arial"/>
              </a:rPr>
              <a:t>Raise co-elution, unresolved peaks or handling changes before release.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Quantity and isolated yield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Record delivered mass in mg and amount in mmol where applicable.</a:t>
            </a:r>
          </a:p>
          <a:p>
            <a:pPr/>
            <a:r>
              <a:rPr sz="2000">
                <a:latin typeface="Arial"/>
              </a:rPr>
              <a:t>State the material form used for any amount calculation.</a:t>
            </a:r>
          </a:p>
          <a:p>
            <a:pPr/>
            <a:r>
              <a:rPr sz="2000">
                <a:latin typeface="Arial"/>
              </a:rPr>
              <a:t>Link isolated yield to the preparation and isolated material.</a:t>
            </a:r>
          </a:p>
          <a:p>
            <a:pPr/>
            <a:r>
              <a:rPr sz="2000">
                <a:latin typeface="Arial"/>
              </a:rPr>
              <a:t>Do not substitute an analytical estimate for material actually recovered.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Trace the delivery lot in both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From the container: find the compound card and delivery lot.</a:t>
            </a:r>
          </a:p>
          <a:p>
            <a:pPr/>
            <a:r>
              <a:rPr sz="1800">
                <a:latin typeface="Arial"/>
              </a:rPr>
              <a:t>From the card: find the preparation and analytical samples.</a:t>
            </a:r>
          </a:p>
          <a:p>
            <a:pPr/>
            <a:r>
              <a:rPr sz="1800">
                <a:latin typeface="Arial"/>
              </a:rPr>
              <a:t>From the analytical result: find the material examined.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At handover</a:t>
            </a:r>
          </a:p>
          <a:p>
            <a:pPr/>
            <a:r>
              <a:rPr sz="1800">
                <a:latin typeface="Arial"/>
              </a:rPr>
              <a:t>Check that labels and delivery documentation agree.</a:t>
            </a:r>
          </a:p>
          <a:p>
            <a:pPr/>
            <a:r>
              <a:rPr sz="1800">
                <a:latin typeface="Arial"/>
              </a:rPr>
              <a:t>Carry forward relevant handling and impurity observations.</a:t>
            </a:r>
          </a:p>
          <a:p>
            <a:pPr/>
            <a:r>
              <a:rPr sz="1800">
                <a:latin typeface="Arial"/>
              </a:rPr>
              <a:t>Andrew May coordinates sample management; resolve missing links before dispatch.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Hold points that need a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Observation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Proposed structure shown as 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Correct the status and seek assignment evidence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Analytical sample cannot be linked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Restore traceability before release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Purity without method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Attach the method and underlying trace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Unresolved impurity or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Refer the chemical question for a decision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Container and card disagree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Hold handover until the discrepancy is resolved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Exercise: a clean trace, an uncertain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target is drawn on the compound card and isolated material is available.</a:t>
            </a:r>
          </a:p>
          <a:p>
            <a:pPr/>
            <a:r>
              <a:rPr sz="2000">
                <a:latin typeface="Arial"/>
              </a:rPr>
              <a:t>The analytical trace appears clean, but the stereochemical assignment remains open.</a:t>
            </a:r>
          </a:p>
          <a:p>
            <a:pPr/>
            <a:r>
              <a:rPr sz="2000">
                <a:latin typeface="Arial"/>
              </a:rPr>
              <a:t>Describe the material as isolated with an unresolved assignment.</a:t>
            </a:r>
          </a:p>
          <a:p>
            <a:pPr/>
            <a:r>
              <a:rPr sz="2000">
                <a:latin typeface="Arial"/>
              </a:rPr>
              <a:t>Refer the requirement to Ruth Calderwood and document the decision; a clean trace does not close the assignment.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Record the release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Clara Fenwick reviews the analytical evidence against the agreed requirement.</a:t>
            </a:r>
          </a:p>
          <a:p>
            <a:pPr/>
            <a:r>
              <a:rPr sz="2000">
                <a:latin typeface="Arial"/>
              </a:rPr>
              <a:t>The card states the delivery lot, decision, date and responsible reviewer.</a:t>
            </a:r>
          </a:p>
          <a:p>
            <a:pPr/>
            <a:r>
              <a:rPr sz="2000">
                <a:latin typeface="Arial"/>
              </a:rPr>
              <a:t>Any agreed limitation is carried into the chemistry note and handover.</a:t>
            </a:r>
          </a:p>
          <a:p>
            <a:pPr/>
            <a:r>
              <a:rPr sz="2000">
                <a:latin typeface="Arial"/>
              </a:rPr>
              <a:t>Later evidence is added with a clear explanation of the changed conclusion.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Before the material leaves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Identity: the assignment and its limits are explicit.</a:t>
            </a:r>
          </a:p>
          <a:p>
            <a:pPr/>
            <a:r>
              <a:rPr sz="2000">
                <a:latin typeface="Arial"/>
              </a:rPr>
              <a:t>Purity: area percent is linked to method and trace.</a:t>
            </a:r>
          </a:p>
          <a:p>
            <a:pPr/>
            <a:r>
              <a:rPr sz="2000">
                <a:latin typeface="Arial"/>
              </a:rPr>
              <a:t>Quantity: the stated material and units match the delivery lot.</a:t>
            </a:r>
          </a:p>
          <a:p>
            <a:pPr/>
            <a:r>
              <a:rPr sz="2000">
                <a:latin typeface="Arial"/>
              </a:rPr>
              <a:t>Traceability: container, card, preparation and analytical samples connect.</a:t>
            </a:r>
          </a:p>
          <a:p>
            <a:pPr/>
            <a:r>
              <a:rPr sz="2000">
                <a:latin typeface="Arial"/>
              </a:rPr>
              <a:t>Release: the decision is documented and unresolved questions are visible.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Compound-card training</dc:title>
  <dc:subject>Analytical release training</dc:subject>
  <dc:creator>Clara Fenwick</dc:creator>
  <cp:keywords>compound card; identity; area percent; delivery lot; release</cp:keywords>
  <dc:description>generated using python-pptx</dc:description>
  <cp:lastModifiedBy>Clara Fenwick</cp:lastModifiedBy>
  <cp:revision>11</cp:revision>
  <dcterms:created xsi:type="dcterms:W3CDTF">2025-02-18T10:23:00Z</dcterms:created>
  <dcterms:modified xsi:type="dcterms:W3CDTF">2025-02-18T16:42:00Z</dcterms:modified>
  <cp:category/>
</cp:coreProperties>
</file>