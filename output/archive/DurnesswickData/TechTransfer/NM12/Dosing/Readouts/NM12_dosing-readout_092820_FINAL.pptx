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loading 10 mg/mL. This chart does not measure dilution behavior or particle-size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interpretation, not a measured precipitation-rate model; no numerical dilution dataset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NM-12: dispersed dosing after dilution failure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DL_2020_0050 | DF20-00615 | Nimbravelle Medicines Inc | Lena Patel | 09/28/2020 | Durnesswick Laboratories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Dosing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Nimbravelle Medicines Inc selected a dispersed dosing approach.</a:t>
            </a:r>
          </a:p>
          <a:p>
            <a:pPr/>
            <a:r>
              <a:rPr sz="2000">
                <a:latin typeface="Times New Roman"/>
              </a:rPr>
              <a:t>The cosolvent-rich vehicle failed the dilution challenge.</a:t>
            </a:r>
          </a:p>
          <a:p>
            <a:pPr/>
            <a:r>
              <a:rPr sz="2000">
                <a:latin typeface="Times New Roman"/>
              </a:rPr>
              <a:t>Handling controls now matter as much as preparation appearance.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Starting Vehicle ladder: complete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Vehicle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Equilibrium solubility (mg/mL)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Appearance at 10 mg/mL loading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24 h physical stability (10 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methylcellulose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HPMC / 0.1% Tween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20% HP-β-CD in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PEG400/water 30:70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Clear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Stable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10% DMSO / 90% corn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Labrasol/PEG400 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NMP / 15% Solutol HS15 / 80%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pH 4 citrate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Equilibrium capacity is only part of the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From screen to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Opened 07/06/2020; interim review 08/17/2020; final handoff 09/28/2020.</a:t>
            </a:r>
          </a:p>
          <a:p>
            <a:pPr/>
            <a:r>
              <a:rPr sz="2000">
                <a:latin typeface="Times New Roman"/>
              </a:rPr>
              <a:t>Julia Carver led formulation development; Miguel Serrano supported the formulation set.</a:t>
            </a:r>
          </a:p>
          <a:p>
            <a:pPr/>
            <a:r>
              <a:rPr sz="2000">
                <a:latin typeface="Times New Roman"/>
              </a:rPr>
              <a:t>Lena Patel prepared the transfer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Why the clear route was attractive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PEG400/water gave a clear solution at screen loading.</a:t>
            </a:r>
          </a:p>
          <a:p>
            <a:pPr/>
            <a:r>
              <a:rPr sz="1800">
                <a:latin typeface="Times New Roman"/>
              </a:rPr>
              <a:t>The undiluted preparation was stable in the standing observation.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Those observations apply to the screen condition.</a:t>
            </a:r>
          </a:p>
          <a:p>
            <a:pPr/>
            <a:r>
              <a:rPr sz="1800">
                <a:latin typeface="Times New Roman"/>
              </a:rPr>
              <a:t>The dilution challenge failed, so the undiluted row cannot establish dosing suitability.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Dilution failure: operational consequence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Dilution removes the solvent environment supporting the preparation.</a:t>
            </a:r>
          </a:p>
          <a:p>
            <a:pPr/>
            <a:r>
              <a:rPr sz="2000">
                <a:latin typeface="Times New Roman"/>
              </a:rPr>
              <a:t>Precipitation makes a solution-based withdrawal instruction unreliable.</a:t>
            </a:r>
          </a:p>
          <a:p>
            <a:pPr/>
            <a:r>
              <a:rPr sz="2000">
                <a:latin typeface="Times New Roman"/>
              </a:rPr>
              <a:t>Increasing cosolvent without a new dilution assessment would repeat the selection error.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Dispersed options: recovery versus caking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Vehicle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Appearance at 10 mg/mL loading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24 h physical stability (10 mg/mL)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methylcellulose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0.5% HPMC / 0.1% Tween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20% HP-β-CD in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PEG400/water 30:70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Clear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Stable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10% DMSO / 90% corn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Suspension, settles &lt;1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Crystal growth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Labrasol/PEG400 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Redisperses on shaking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NMP / 15% Solutol HS15 / 80%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suspension, easily redispersed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pH 4 citrate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Fine suspension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Caking at 24 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Shortlist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Methylcellulose showed a fine suspension that redispersed on shaking.</a:t>
            </a:r>
          </a:p>
          <a:p>
            <a:pPr/>
            <a:r>
              <a:rPr sz="1800">
                <a:latin typeface="Times New Roman"/>
              </a:rPr>
              <a:t>The surfactant/PEG mixture also redispersed, with a different excipient burden.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The aqueous surfactant mixture and citrate buffer showed caking.</a:t>
            </a:r>
          </a:p>
          <a:p>
            <a:pPr/>
            <a:r>
              <a:rPr sz="1800">
                <a:latin typeface="Times New Roman"/>
              </a:rPr>
              <a:t>A redispersible screen row is a starting point; the outcome does not identify a locked dispersed recipe.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What changes at the dosing 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Mix before withdrawal; do not sample only the clear upper layer.</a:t>
            </a:r>
          </a:p>
          <a:p>
            <a:pPr/>
            <a:r>
              <a:rPr sz="2000">
                <a:latin typeface="Times New Roman"/>
              </a:rPr>
              <a:t>Keep mixing instructions beside the dose calculation.</a:t>
            </a:r>
          </a:p>
          <a:p>
            <a:pPr/>
            <a:r>
              <a:rPr sz="2000">
                <a:latin typeface="Times New Roman"/>
              </a:rPr>
              <a:t>Check that settled material returns to a uniform dispersion before continuing.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Recipe card must answer dosing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Required instruction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Addition order, wetting and mixing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Uniformity during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Resuspension and withdrawal sequence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Stop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Persistent cake or failure to redisperse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Recipe identity and preparation exceptions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Concentration and loading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Use mg/mL for dose concentration and specify total suspended material.</a:t>
            </a:r>
          </a:p>
          <a:p>
            <a:pPr/>
            <a:r>
              <a:rPr sz="2000">
                <a:latin typeface="Times New Roman"/>
              </a:rPr>
              <a:t>Use weight percent for excipient loading where appropriate.</a:t>
            </a:r>
          </a:p>
          <a:p>
            <a:pPr/>
            <a:r>
              <a:rPr sz="2000">
                <a:latin typeface="Times New Roman"/>
              </a:rPr>
              <a:t>Do not label a dispersion a solution because it looks uniform after mixing.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Transfer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Miguel Serrano: attach observations and preparation sequence.</a:t>
            </a:r>
          </a:p>
          <a:p>
            <a:pPr/>
            <a:r>
              <a:rPr sz="1800">
                <a:latin typeface="Times New Roman"/>
              </a:rPr>
              <a:t>Julia Carver: approve the dilution-failure interpretation.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Lena Patel: make redispersion and withdrawal steps usable.</a:t>
            </a:r>
          </a:p>
          <a:p>
            <a:pPr/>
            <a:r>
              <a:rPr sz="1800">
                <a:latin typeface="Times New Roman"/>
              </a:rPr>
              <a:t>Nimbravelle Medicines Inc: align the approach with the exposure dosing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Screen suitability at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Inspect after standing and again after resuspension.</a:t>
            </a:r>
          </a:p>
          <a:p>
            <a:pPr/>
            <a:r>
              <a:rPr sz="2000">
                <a:latin typeface="Times New Roman"/>
              </a:rPr>
              <a:t>Document cake remaining attached to the container.</a:t>
            </a:r>
          </a:p>
          <a:p>
            <a:pPr/>
            <a:r>
              <a:rPr sz="2000">
                <a:latin typeface="Times New Roman"/>
              </a:rPr>
              <a:t>Escalate a changed material lot or dose concentration before treating the recipe as equivalent.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Limits of this final readout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The ladder reports equilibrium capacity and short-term physical behavior.</a:t>
            </a:r>
          </a:p>
          <a:p>
            <a:pPr/>
            <a:r>
              <a:rPr sz="2000">
                <a:latin typeface="Times New Roman"/>
              </a:rPr>
              <a:t>Quantitative dilution curves and dose-uniformity measurements are not supplied.</a:t>
            </a:r>
          </a:p>
          <a:p>
            <a:pPr/>
            <a:r>
              <a:rPr sz="2000">
                <a:latin typeface="Times New Roman"/>
              </a:rPr>
              <a:t>Process validation and shelf-life need separate work packages.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Closeout: accept the handling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clear concentrate did not survive dilution.</a:t>
            </a:r>
          </a:p>
          <a:p>
            <a:pPr/>
            <a:r>
              <a:rPr sz="2000">
                <a:latin typeface="Times New Roman"/>
              </a:rPr>
              <a:t>The dispersed route accepts mixing and withdrawal discipline for a workable dosing approach.</a:t>
            </a:r>
          </a:p>
          <a:p>
            <a:pPr/>
            <a:r>
              <a:rPr sz="2000">
                <a:latin typeface="Times New Roman"/>
              </a:rPr>
              <a:t>Next scale gate: reproducibility at the intended preparation volume.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Durnesswick Laboratories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NM-12: dispersed dosing after dilution failure</dc:title>
  <dc:subject>{{PRJ0112:project_id}} | {{PRJ0112:lims_id}} | Nimbravelle Medicines Inc | Lena Patel | 09/28/2020</dc:subject>
  <dc:creator>Lena Patel</dc:creator>
  <cp:keywords>Vehicle ladder; Excipient compatibility screen; early CMC</cp:keywords>
  <dc:description>generated using python-pptx</dc:description>
  <cp:lastModifiedBy>Lena Patel</cp:lastModifiedBy>
  <cp:revision>5</cp:revision>
  <dcterms:created xsi:type="dcterms:W3CDTF">2020-09-28T09:37:00Z</dcterms:created>
  <dcterms:modified xsi:type="dcterms:W3CDTF">2020-09-28T15:24:00Z</dcterms:modified>
  <cp:category/>
</cp:coreProperties>
</file>