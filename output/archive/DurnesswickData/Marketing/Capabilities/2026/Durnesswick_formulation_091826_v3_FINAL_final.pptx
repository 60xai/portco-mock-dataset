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FINAL final: revised receiving-team wording retained. This copy emphasizes handoff criteria alongside screen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FINAL final wording changed from “handoff complete” to criteria requiring receiving-team discussion. No unsupported performance metrics or client examples are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Formulation workflows: from screen to handoff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Julia Carver, Formulation Development Lead | 09/18/2026 | v3 FINAL final | Durnesswick Laboratories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Make the next preparation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Choose a formulation direction that matches intended use.</a:t>
            </a:r>
          </a:p>
          <a:p>
            <a:pPr/>
            <a:r>
              <a:rPr sz="2000">
                <a:latin typeface="Arial"/>
              </a:rPr>
              <a:t>Expose handling limits while the formulation set is still exploratory.</a:t>
            </a:r>
          </a:p>
          <a:p>
            <a:pPr/>
            <a:r>
              <a:rPr sz="2000">
                <a:latin typeface="Arial"/>
              </a:rPr>
              <a:t>Keep the reason for selection with the recipe card.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Where we work in early CMC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Vehicle ladder and Excipient compatibility screen work packages.</a:t>
            </a:r>
          </a:p>
          <a:p>
            <a:pPr/>
            <a:r>
              <a:rPr sz="2000">
                <a:latin typeface="Arial"/>
              </a:rPr>
              <a:t>Follow-up on dilution, settling, recovery and preparation order.</a:t>
            </a:r>
          </a:p>
          <a:p>
            <a:pPr/>
            <a:r>
              <a:rPr sz="2000">
                <a:latin typeface="Arial"/>
              </a:rPr>
              <a:t>Pilot-lot preparation and practical transfer discussions.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 decision-led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Define intended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Agreed dose and preparation question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Allocate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Screen and follow-up allowance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Compare formulation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Traceable bench-sheet observations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Resolve failure modes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Selection rationale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Handoff at scale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Recipe card and receiving criteria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Intake: material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Ashley King coordinates receipt and allocation.</a:t>
            </a:r>
          </a:p>
          <a:p>
            <a:pPr/>
            <a:r>
              <a:rPr sz="2000">
                <a:latin typeface="Arial"/>
              </a:rPr>
              <a:t>Supply identity, physical form, material-lot relationship and available mass.</a:t>
            </a:r>
          </a:p>
          <a:p>
            <a:pPr/>
            <a:r>
              <a:rPr sz="2000">
                <a:latin typeface="Arial"/>
              </a:rPr>
              <a:t>Tell us whether the same material condition will be used in the next preparation.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Intended use sets the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Dose and administration volume determine the loading question.</a:t>
            </a:r>
          </a:p>
          <a:p>
            <a:pPr/>
            <a:r>
              <a:rPr sz="2000">
                <a:latin typeface="Arial"/>
              </a:rPr>
              <a:t>Dilution medium and hold conditions determine relevant stress.</a:t>
            </a:r>
          </a:p>
          <a:p>
            <a:pPr/>
            <a:r>
              <a:rPr sz="2000">
                <a:latin typeface="Arial"/>
              </a:rPr>
              <a:t>Exposure use and product storage require different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Screen concentration in mg/mL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State whether concentration refers to dissolved material or total dispersion loading.</a:t>
            </a:r>
          </a:p>
          <a:p>
            <a:pPr/>
            <a:r>
              <a:rPr sz="2000">
                <a:latin typeface="Arial"/>
              </a:rPr>
              <a:t>Keep the target distinct from measured equilibrium capacity.</a:t>
            </a:r>
          </a:p>
          <a:p>
            <a:pPr/>
            <a:r>
              <a:rPr sz="2000">
                <a:latin typeface="Arial"/>
              </a:rPr>
              <a:t>Do not carry a nominal concentration into a solution claim after precipitation.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Loading and excipient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Use weight percent when describing excipient loading.</a:t>
            </a:r>
          </a:p>
          <a:p>
            <a:pPr/>
            <a:r>
              <a:rPr sz="1800">
                <a:latin typeface="Arial"/>
              </a:rPr>
              <a:t>Solvent support can change apparent preparation feasibility.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Viscosity may limit mixing and withdrawal.</a:t>
            </a:r>
          </a:p>
          <a:p>
            <a:pPr/>
            <a:r>
              <a:rPr sz="1800">
                <a:latin typeface="Arial"/>
              </a:rPr>
              <a:t>Dilution can reverse an apparent concentrate advantage.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Vehicle ladder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Define recipe composition and addition order.</a:t>
            </a:r>
          </a:p>
          <a:p>
            <a:pPr/>
            <a:r>
              <a:rPr sz="2000">
                <a:latin typeface="Arial"/>
              </a:rPr>
              <a:t>Capture wetting, mixing and initial appearance on the bench sheet.</a:t>
            </a:r>
          </a:p>
          <a:p>
            <a:pPr/>
            <a:r>
              <a:rPr sz="2000">
                <a:latin typeface="Arial"/>
              </a:rPr>
              <a:t>Preserve unsuccessful preparations so later changes have 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Vehicle ladder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Compare initial, standing and post-dilution behavior.</a:t>
            </a:r>
          </a:p>
          <a:p>
            <a:pPr/>
            <a:r>
              <a:rPr sz="2000">
                <a:latin typeface="Arial"/>
              </a:rPr>
              <a:t>Record whether sediment recovers under the intended mixing step.</a:t>
            </a:r>
          </a:p>
          <a:p>
            <a:pPr/>
            <a:r>
              <a:rPr sz="2000">
                <a:latin typeface="Arial"/>
              </a:rPr>
              <a:t>Interpret capacity beside handling rather than choosing on a solubility ranking alone.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Dilution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the medium relevant to the intended administration step.</a:t>
            </a:r>
          </a:p>
          <a:p>
            <a:pPr/>
            <a:r>
              <a:rPr sz="2000">
                <a:latin typeface="Arial"/>
              </a:rPr>
              <a:t>Keep the concentrate recipe linked to the diluted observation.</a:t>
            </a:r>
          </a:p>
          <a:p>
            <a:pPr/>
            <a:r>
              <a:rPr sz="2000">
                <a:latin typeface="Arial"/>
              </a:rPr>
              <a:t>A failure requires a revised vehicle or dosing approach, followed by the relevant comparison.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Excipient compatibility screen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Agree candidate excipients and material condition.</a:t>
            </a:r>
          </a:p>
          <a:p>
            <a:pPr/>
            <a:r>
              <a:rPr sz="2000">
                <a:latin typeface="Arial"/>
              </a:rPr>
              <a:t>Choose observation conditions that answer the development question.</a:t>
            </a:r>
          </a:p>
          <a:p>
            <a:pPr/>
            <a:r>
              <a:rPr sz="2000">
                <a:latin typeface="Arial"/>
              </a:rPr>
              <a:t>Separate compatibility screening from a product stability commitment.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Screen suitability before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Required clarity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Which material?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Identity, lot and physical form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Which recipe?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Composition and preparation order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Which condition?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Loading, hold and dilution context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Which exception?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Visible failure retained in the interpretation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Particle-size decisions in µm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measured distributions when numerical size limits are required.</a:t>
            </a:r>
          </a:p>
          <a:p>
            <a:pPr/>
            <a:r>
              <a:rPr sz="2000">
                <a:latin typeface="Arial"/>
              </a:rPr>
              <a:t>Consider wetting, sediment strength and redispersion beside size.</a:t>
            </a:r>
          </a:p>
          <a:p>
            <a:pPr/>
            <a:r>
              <a:rPr sz="2000">
                <a:latin typeface="Arial"/>
              </a:rPr>
              <a:t>A finer material is not automatically easier to dose or manufacture.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Manufacturability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Mixing and addition sequence may be volume-dependent.</a:t>
            </a:r>
          </a:p>
          <a:p>
            <a:pPr/>
            <a:r>
              <a:rPr sz="1800">
                <a:latin typeface="Arial"/>
              </a:rPr>
              <a:t>Container geometry can affect sediment recovery.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Material loss can change practical preparation yield.</a:t>
            </a:r>
          </a:p>
          <a:p>
            <a:pPr/>
            <a:r>
              <a:rPr sz="1800">
                <a:latin typeface="Arial"/>
              </a:rPr>
              <a:t>A small exploratory preparation does not establish a reproducible larger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Exploratory output: what you receive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Bench sheets with recipe identity and observations.</a:t>
            </a:r>
          </a:p>
          <a:p>
            <a:pPr/>
            <a:r>
              <a:rPr sz="2000">
                <a:latin typeface="Arial"/>
              </a:rPr>
              <a:t>Development note explaining selection and rejected routes.</a:t>
            </a:r>
          </a:p>
          <a:p>
            <a:pPr/>
            <a:r>
              <a:rPr sz="2000">
                <a:latin typeface="Arial"/>
              </a:rPr>
              <a:t>Recipe card with preparation and handling instructions for the defined 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Pilot-lot scale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Agree preparation volume, mixing method and hold condition.</a:t>
            </a:r>
          </a:p>
          <a:p>
            <a:pPr/>
            <a:r>
              <a:rPr sz="2000">
                <a:latin typeface="Arial"/>
              </a:rPr>
              <a:t>Identify differences from the exploratory preparation before execution.</a:t>
            </a:r>
          </a:p>
          <a:p>
            <a:pPr/>
            <a:r>
              <a:rPr sz="2000">
                <a:latin typeface="Arial"/>
              </a:rPr>
              <a:t>Carry exceptions forward so the receiving team can recognize a changed outcome.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Receiving-team handoff criteria — revised v3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Discussion required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Recipe understood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Composition and sequence are reproducible locally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Material comparable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Lot and physical form match the intended use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Handling workable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Resuspension and withdrawal can be performed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Stop condition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Failure to recover or changed appearance triggers escalation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Scientific and transfer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Julia Carver: development interpretation and recommendation.</a:t>
            </a:r>
          </a:p>
          <a:p>
            <a:pPr/>
            <a:r>
              <a:rPr sz="1800">
                <a:latin typeface="Arial"/>
              </a:rPr>
              <a:t>Miguel Serrano: formulation-set preparation and supporting observations.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Lena Patel: technical transfer and receiving-team criteria.</a:t>
            </a:r>
          </a:p>
          <a:p>
            <a:pPr/>
            <a:r>
              <a:rPr sz="1800">
                <a:latin typeface="Arial"/>
              </a:rPr>
              <a:t>Receiving team: local preparation constraints and intended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Commitments at the next scale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Screening concentration, loading and handling claims apply to the examined conditions.</a:t>
            </a:r>
          </a:p>
          <a:p>
            <a:pPr/>
            <a:r>
              <a:rPr sz="2000">
                <a:latin typeface="Arial"/>
              </a:rPr>
              <a:t>Process lock, storage claims and dose uniformity require their own evidence.</a:t>
            </a:r>
          </a:p>
          <a:p>
            <a:pPr/>
            <a:r>
              <a:rPr sz="2000">
                <a:latin typeface="Arial"/>
              </a:rPr>
              <a:t>Share the next preparation question with Julia Carver; agree the work package before expanding 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Formulation workflows: from screen to handoff</dc:title>
  <dc:subject>Julia Carver, Formulation Development Lead | 09/18/2026 | v3 FINAL final</dc:subject>
  <dc:creator>Julia Carver</dc:creator>
  <cp:keywords>Vehicle ladder; Excipient compatibility screen; early CMC</cp:keywords>
  <dc:description>generated using python-pptx</dc:description>
  <cp:lastModifiedBy>Julia Carver</cp:lastModifiedBy>
  <cp:revision>15</cp:revision>
  <dcterms:created xsi:type="dcterms:W3CDTF">2026-09-18T09:37:00Z</dcterms:created>
  <dcterms:modified xsi:type="dcterms:W3CDTF">2026-09-18T15:24:00Z</dcterms:modified>
  <cp:category/>
</cp:coreProperties>
</file>