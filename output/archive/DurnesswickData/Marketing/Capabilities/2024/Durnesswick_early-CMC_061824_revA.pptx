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Early CMC: practical formulation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Julia Carver, Formulation Development Lead | 06/18/2024 | Durnesswick Laboratories Inc,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The decision we help you make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Select a usable formulation direction for the next exposure or preparation step.</a:t>
            </a:r>
          </a:p>
          <a:p>
            <a:pPr/>
            <a:r>
              <a:rPr sz="2000">
                <a:latin typeface="Arial"/>
              </a:rPr>
              <a:t>Identify loading and handling limits before committing scarce material.</a:t>
            </a:r>
          </a:p>
          <a:p>
            <a:pPr/>
            <a:r>
              <a:rPr sz="2000">
                <a:latin typeface="Arial"/>
              </a:rPr>
              <a:t>Carry a clear recipe card into the next scale gate.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Our development work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Vehicle ladder: compare candidate vehicles at agreed loading.</a:t>
            </a:r>
          </a:p>
          <a:p>
            <a:pPr/>
            <a:r>
              <a:rPr sz="1800">
                <a:latin typeface="Arial"/>
              </a:rPr>
              <a:t>Excipient compatibility screen: assess defined material/excipient combinations.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Follow-up: resolve dilution, settling or preparation questions.</a:t>
            </a:r>
          </a:p>
          <a:p>
            <a:pPr/>
            <a:r>
              <a:rPr sz="1800">
                <a:latin typeface="Arial"/>
              </a:rPr>
              <a:t>Pilot-lot handoff: document what the receiving team must reproduce.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Start with intended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Tell us the dose, route and available administration volume.</a:t>
            </a:r>
          </a:p>
          <a:p>
            <a:pPr/>
            <a:r>
              <a:rPr sz="2000">
                <a:latin typeface="Arial"/>
              </a:rPr>
              <a:t>Distinguish exposure preparation from a product intended for storage.</a:t>
            </a:r>
          </a:p>
          <a:p>
            <a:pPr/>
            <a:r>
              <a:rPr sz="2000">
                <a:latin typeface="Arial"/>
              </a:rPr>
              <a:t>Identify dilution medium and any constraints on excipient loading.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Sample requirements at intake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Information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Why it matters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Identity and physical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Avoid changing material state unknowingly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Available mass and reserve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Balance breadth with follow-up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Known solubility and handling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Choose informative starting conditions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Material-lot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Assess whether dosing uses comparable material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Sample receipt and scientific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Ashley King coordinates sample receipt and material allocation.</a:t>
            </a:r>
          </a:p>
          <a:p>
            <a:pPr/>
            <a:r>
              <a:rPr sz="2000">
                <a:latin typeface="Arial"/>
              </a:rPr>
              <a:t>Julia Carver defines the development decision and screen boundaries.</a:t>
            </a:r>
          </a:p>
          <a:p>
            <a:pPr/>
            <a:r>
              <a:rPr sz="2000">
                <a:latin typeface="Arial"/>
              </a:rPr>
              <a:t>Miguel Serrano translates the question into an executable formulation 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Vehicle ladder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Agree target concentration in mg/mL before choosing recipes.</a:t>
            </a:r>
          </a:p>
          <a:p>
            <a:pPr/>
            <a:r>
              <a:rPr sz="2000">
                <a:latin typeface="Arial"/>
              </a:rPr>
              <a:t>Prepare candidate vehicles and capture preparation behavior on bench sheets.</a:t>
            </a:r>
          </a:p>
          <a:p>
            <a:pPr/>
            <a:r>
              <a:rPr sz="2000">
                <a:latin typeface="Arial"/>
              </a:rPr>
              <a:t>Compare standing and dilution observations alongside initial appearance.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Appearance does not establish dose suitability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 clear concentrate may precipitate when diluted.</a:t>
            </a:r>
          </a:p>
          <a:p>
            <a:pPr/>
            <a:r>
              <a:rPr sz="2000">
                <a:latin typeface="Arial"/>
              </a:rPr>
              <a:t>A suspension may settle yet remain usable if it redisperses reliably.</a:t>
            </a:r>
          </a:p>
          <a:p>
            <a:pPr/>
            <a:r>
              <a:rPr sz="2000">
                <a:latin typeface="Arial"/>
              </a:rPr>
              <a:t>The selected route must match the intended withdrawal and handling steps.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Dose loading: explicit 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Higher concentration can reduce required dose volume.</a:t>
            </a:r>
          </a:p>
          <a:p>
            <a:pPr/>
            <a:r>
              <a:rPr sz="1800">
                <a:latin typeface="Arial"/>
              </a:rPr>
              <a:t>Increasing excipient weight percent can improve solvent support.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Viscosity and mixing can limit preparation and withdrawal.</a:t>
            </a:r>
          </a:p>
          <a:p>
            <a:pPr/>
            <a:r>
              <a:rPr sz="1800">
                <a:latin typeface="Arial"/>
              </a:rPr>
              <a:t>Dilution can remove the support that made the concentrate attractive.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Excipient compatibility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Define the excipient combinations and comparison conditions.</a:t>
            </a:r>
          </a:p>
          <a:p>
            <a:pPr/>
            <a:r>
              <a:rPr sz="2000">
                <a:latin typeface="Arial"/>
              </a:rPr>
              <a:t>Capture appearance and relevant compatibility observations.</a:t>
            </a:r>
          </a:p>
          <a:p>
            <a:pPr/>
            <a:r>
              <a:rPr sz="2000">
                <a:latin typeface="Arial"/>
              </a:rPr>
              <a:t>Use the result to prioritize follow-up; do not infer shelf-life from a short screen.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Screen suitability and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Interpretation boundary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Material identity and recipe traceability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Comparisons must refer to the intended preparation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Preparation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 changed order can change behavior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Standing and dilution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Claims apply to the examined condition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Visible exceptions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Retain failures beside the preferred route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Particle size and suspension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Describe measured particle sizes in µm.</a:t>
            </a:r>
          </a:p>
          <a:p>
            <a:pPr/>
            <a:r>
              <a:rPr sz="2000">
                <a:latin typeface="Arial"/>
              </a:rPr>
              <a:t>Consider wetting, settling, caking and recovery together.</a:t>
            </a:r>
          </a:p>
          <a:p>
            <a:pPr/>
            <a:r>
              <a:rPr sz="2000">
                <a:latin typeface="Arial"/>
              </a:rPr>
              <a:t>A finer distribution is useful only when the resulting preparation remains workable.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Manufacturability questions before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Can the addition order and mixing method be reproduced?</a:t>
            </a:r>
          </a:p>
          <a:p>
            <a:pPr/>
            <a:r>
              <a:rPr sz="2000">
                <a:latin typeface="Arial"/>
              </a:rPr>
              <a:t>Does the container permit recovery of settled material?</a:t>
            </a:r>
          </a:p>
          <a:p>
            <a:pPr/>
            <a:r>
              <a:rPr sz="2000">
                <a:latin typeface="Arial"/>
              </a:rPr>
              <a:t>What material demand follows from preparation losses and repeat needs?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Pilot-lot preparation is a new scale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Agree preparation volume, equipment class and hold interval.</a:t>
            </a:r>
          </a:p>
          <a:p>
            <a:pPr/>
            <a:r>
              <a:rPr sz="2000">
                <a:latin typeface="Arial"/>
              </a:rPr>
              <a:t>Carry forward the screen rationale, not only the selected excipient list.</a:t>
            </a:r>
          </a:p>
          <a:p>
            <a:pPr/>
            <a:r>
              <a:rPr sz="2000">
                <a:latin typeface="Arial"/>
              </a:rPr>
              <a:t>Document differences from the exploratory recipe before treating output as comparable.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Handoff package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Recipe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Composition, addition order and handling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Bench sheets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Traceable observations and exceptions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Development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Selection rationale and rejected routes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Transfer 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Resolve receiving-team assumptions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Responsibilities at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Julia Carver: interpretation and development recommendation.</a:t>
            </a:r>
          </a:p>
          <a:p>
            <a:pPr/>
            <a:r>
              <a:rPr sz="1800">
                <a:latin typeface="Arial"/>
              </a:rPr>
              <a:t>Miguel Serrano: preparation detail and formulation-set evidence.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Lena Patel: CMC technical transfer and receiving-team instructions.</a:t>
            </a:r>
          </a:p>
          <a:p>
            <a:pPr/>
            <a:r>
              <a:rPr sz="1800">
                <a:latin typeface="Arial"/>
              </a:rPr>
              <a:t>Client team: intended use and local preparation constraints.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Scope and capability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Exploratory screening supports a next-step decision.</a:t>
            </a:r>
          </a:p>
          <a:p>
            <a:pPr/>
            <a:r>
              <a:rPr sz="2000">
                <a:latin typeface="Arial"/>
              </a:rPr>
              <a:t>A locked process requires evidence of reproducibility under defined controls.</a:t>
            </a:r>
          </a:p>
          <a:p>
            <a:pPr/>
            <a:r>
              <a:rPr sz="2000">
                <a:latin typeface="Arial"/>
              </a:rPr>
              <a:t>Shelf-life, dose uniformity and larger-scale performance must be scoped when required.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Bring the next development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Share material form, available mass, target loading and intended use.</a:t>
            </a:r>
          </a:p>
          <a:p>
            <a:pPr/>
            <a:r>
              <a:rPr sz="2000">
                <a:latin typeface="Arial"/>
              </a:rPr>
              <a:t>Agree the decision and deliverables with Julia Carver.</a:t>
            </a:r>
          </a:p>
          <a:p>
            <a:pPr/>
            <a:r>
              <a:rPr sz="2000">
                <a:latin typeface="Arial"/>
              </a:rPr>
              <a:t>Durnesswick Laboratories Inc, a Tarnovell company: local scientific leadership and local project identifiers retained.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Durnesswick Laboratories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CMC: practical formulation development</dc:title>
  <dc:subject>Julia Carver, Formulation Development Lead | 06/18/2024</dc:subject>
  <dc:creator>Julia Carver</dc:creator>
  <cp:keywords>Vehicle ladder; Excipient compatibility screen; early CMC</cp:keywords>
  <dc:description>generated using python-pptx</dc:description>
  <cp:lastModifiedBy>Julia Carver</cp:lastModifiedBy>
  <cp:revision>12</cp:revision>
  <dcterms:created xsi:type="dcterms:W3CDTF">2024-06-18T09:37:00Z</dcterms:created>
  <dcterms:modified xsi:type="dcterms:W3CDTF">2024-06-18T15:24:00Z</dcterms:modified>
  <cp:category/>
</cp:coreProperties>
</file>