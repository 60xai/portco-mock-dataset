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loading 10 mg/mL. This chart does not measure dilution behavior or particle-size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Adjusted-buffer composition and quantitative dilution measurements are not supplied. Keep the starting screen separate from the successful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archive description refers to dilution photographs, but no image assets are supplied. Do not replace missing photographs with simulated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AU-08: solution choice for exposure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DL_2016_0027 | DF16-00334 | Auvrelquith Biosciences | Julia Carver | 06/06/2016 | Durnesswick Laboratories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Decision at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Auvrelquith Biosciences selected the buffer-adjusted solution for exposure work.</a:t>
            </a:r>
          </a:p>
          <a:p>
            <a:pPr/>
            <a:r>
              <a:rPr sz="2000">
                <a:latin typeface="Times New Roman"/>
              </a:rPr>
              <a:t>The initial ladder did not establish a stable aqueous solution at target loading.</a:t>
            </a:r>
          </a:p>
          <a:p>
            <a:pPr/>
            <a:r>
              <a:rPr sz="2000">
                <a:latin typeface="Times New Roman"/>
              </a:rPr>
              <a:t>Selection depends on dilution behavior, not simply on concentrate appearance.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Initial Vehicle ladder: loading and physical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Vehicle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Equilibrium solubility (mg/mL)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Appearance at 10 mg/mL loading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24 h physical stability (10 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methylcellulose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HPMC / 0.1% Tween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20% HP-β-CD in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PEG400/water 30:70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10% DMSO / 90% corn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Labrasol/PEG400 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Clear, slight yellow tint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Precipitate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NMP / 15% Solutol HS15 / 80%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pH 4 citrate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Equilibrium capacity is only part of the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Work package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Started 04/19/2016; interim discussion 05/13/2016; completed 06/06/2016.</a:t>
            </a:r>
          </a:p>
          <a:p>
            <a:pPr/>
            <a:r>
              <a:rPr sz="2000">
                <a:latin typeface="Times New Roman"/>
              </a:rPr>
              <a:t>Miguel Serrano developed the formulation set under Julia Carver’s development lead.</a:t>
            </a:r>
          </a:p>
          <a:p>
            <a:pPr/>
            <a:r>
              <a:rPr sz="2000">
                <a:latin typeface="Times New Roman"/>
              </a:rPr>
              <a:t>Lena Patel supported the exposure-work handoff.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Screen design and suitability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Target loading: 10 mg/mL; compare preparation appearance with the standing condition.</a:t>
            </a:r>
          </a:p>
          <a:p>
            <a:pPr/>
            <a:r>
              <a:rPr sz="2000">
                <a:latin typeface="Times New Roman"/>
              </a:rPr>
              <a:t>Keep composition, preparation order and identity on the bench sheet.</a:t>
            </a:r>
          </a:p>
          <a:p>
            <a:pPr/>
            <a:r>
              <a:rPr sz="2000">
                <a:latin typeface="Times New Roman"/>
              </a:rPr>
              <a:t>Equilibrium solubility does not establish a dosing hold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What the starting formulation set tells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Polymer vehicles remained suspensions.</a:t>
            </a:r>
          </a:p>
          <a:p>
            <a:pPr/>
            <a:r>
              <a:rPr sz="1800">
                <a:latin typeface="Times New Roman"/>
              </a:rPr>
              <a:t>Cyclodextrin improved capacity relative to the citrate-buffer starting point without giving a clear preparation.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The surfactant/cosolvent mixture appeared clear initially.</a:t>
            </a:r>
          </a:p>
          <a:p>
            <a:pPr/>
            <a:r>
              <a:rPr sz="1800">
                <a:latin typeface="Times New Roman"/>
              </a:rPr>
              <a:t>Precipitate on standing removed clarity as a sufficient selection rule.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Dilution is the relevant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 concentrate can look acceptable before its solvent environment changes.</a:t>
            </a:r>
          </a:p>
          <a:p>
            <a:pPr/>
            <a:r>
              <a:rPr sz="2000">
                <a:latin typeface="Times New Roman"/>
              </a:rPr>
              <a:t>Dilution changes excipient support and the dissolved/solid balance.</a:t>
            </a:r>
          </a:p>
          <a:p>
            <a:pPr/>
            <a:r>
              <a:rPr sz="2000">
                <a:latin typeface="Times New Roman"/>
              </a:rPr>
              <a:t>AU-08 follow-up therefore focused on buffer condition as well as concentrate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Buffer adjustment: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project follow-up found that buffer adjustment prevented precipitation on dilution.</a:t>
            </a:r>
          </a:p>
          <a:p>
            <a:pPr/>
            <a:r>
              <a:rPr sz="2000">
                <a:latin typeface="Times New Roman"/>
              </a:rPr>
              <a:t>This is distinct from the starting pH 4 citrate-buffer row.</a:t>
            </a:r>
          </a:p>
          <a:p>
            <a:pPr/>
            <a:r>
              <a:rPr sz="2000">
                <a:latin typeface="Times New Roman"/>
              </a:rPr>
              <a:t>Do not substitute that starting recipe for the selected exposure recipe.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Recipe-card comparison for handoff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Preparation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Use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Initial citrate-buffer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Fine suspension in starting 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Comparator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Initially clear surfactant/cosolvent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Precipitate on 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Do not select on initial clarity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Buffer-adjusted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Precipitation prevented on dilution in project follow-up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Selected for exposure work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Reading the dilution appearance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Compare concentrate, diluted preparation and held preparation under consistent viewing conditions.</a:t>
            </a:r>
          </a:p>
          <a:p>
            <a:pPr/>
            <a:r>
              <a:rPr sz="2000">
                <a:latin typeface="Times New Roman"/>
              </a:rPr>
              <a:t>Keep recipe identity beside each observation.</a:t>
            </a:r>
          </a:p>
          <a:p>
            <a:pPr/>
            <a:r>
              <a:rPr sz="2000">
                <a:latin typeface="Times New Roman"/>
              </a:rPr>
              <a:t>The outcome here is qualitative; a photograph panel is not reproduced.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Exposure use and process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Use the buffer-adjusted recipe for planned exposure work.</a:t>
            </a:r>
          </a:p>
          <a:p>
            <a:pPr/>
            <a:r>
              <a:rPr sz="1800">
                <a:latin typeface="Times New Roman"/>
              </a:rPr>
              <a:t>Tie dose concentration in mg/mL to the intended dosing volume.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A commercial process lock is not established.</a:t>
            </a:r>
          </a:p>
          <a:p>
            <a:pPr/>
            <a:r>
              <a:rPr sz="1800">
                <a:latin typeface="Times New Roman"/>
              </a:rPr>
              <a:t>A changed material lot, loading or dilution medium requires a compatibility check.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Transfer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Lena Patel: carry buffer identity, adjustment order and dilution medium into the recipe card.</a:t>
            </a:r>
          </a:p>
          <a:p>
            <a:pPr/>
            <a:r>
              <a:rPr sz="2000">
                <a:latin typeface="Times New Roman"/>
              </a:rPr>
              <a:t>Miguel Serrano: retain starting-ladder observations with the bench sheets.</a:t>
            </a:r>
          </a:p>
          <a:p>
            <a:pPr/>
            <a:r>
              <a:rPr sz="2000">
                <a:latin typeface="Times New Roman"/>
              </a:rPr>
              <a:t>Julia Carver: distinguish follow-up success from the original screen in the handoff.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Closeout and next scale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DL_2016_0027 is complete; the solution approach has been selected.</a:t>
            </a:r>
          </a:p>
          <a:p>
            <a:pPr/>
            <a:r>
              <a:rPr sz="2000">
                <a:latin typeface="Times New Roman"/>
              </a:rPr>
              <a:t>Agree hold interval, container and mixing sequence before larger preparation.</a:t>
            </a:r>
          </a:p>
          <a:p>
            <a:pPr/>
            <a:r>
              <a:rPr sz="2000">
                <a:latin typeface="Times New Roman"/>
              </a:rPr>
              <a:t>Scope reproducibility and material demand before extending beyond exposure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Durnesswick Laboratories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AU-08: solution choice for exposure work</dc:title>
  <dc:subject>{{PRJ0105:project_id}} | {{PRJ0105:lims_id}} | Auvrelquith Biosciences | Julia Carver | 06/06/2016</dc:subject>
  <dc:creator>Julia Carver</dc:creator>
  <cp:keywords>Vehicle ladder; Excipient compatibility screen; early CMC</cp:keywords>
  <dc:description>generated using python-pptx</dc:description>
  <cp:lastModifiedBy>Julia Carver</cp:lastModifiedBy>
  <cp:revision>12</cp:revision>
  <dcterms:created xsi:type="dcterms:W3CDTF">2016-06-06T09:37:00Z</dcterms:created>
  <dcterms:modified xsi:type="dcterms:W3CDTF">2016-06-06T15:24:00Z</dcterms:modified>
  <cp:category/>
</cp:coreProperties>
</file>