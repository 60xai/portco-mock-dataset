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FINAL final working revision: handoff wording now emphasizes recovery after standing rather than initial appearance.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Target loading 10 mg/mL. This chart does not measure dilution behavior or particle-size distribution.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D10, D50 or D90 measurements in µm are supplied. The solubility chart is not a particle-size plot.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 wording revised; the scientific choice is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15E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20" y="2057400"/>
            <a:ext cx="10728655" cy="1463040"/>
          </a:xfrm>
        </p:spPr>
        <p:txBody>
          <a:bodyPr/>
          <a:lstStyle/>
          <a:p>
            <a:r>
              <a:rPr sz="4000" b="1">
                <a:solidFill>
                  <a:srgbClr val="FFFFFF"/>
                </a:solidFill>
                <a:latin typeface="Arial"/>
              </a:rPr>
              <a:t>WX-11: retain the coarser distribution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520" y="3611880"/>
            <a:ext cx="10728655" cy="1097280"/>
          </a:xfrm>
        </p:spPr>
        <p:txBody>
          <a:bodyPr/>
          <a:lstStyle/>
          <a:p>
            <a:r>
              <a:rPr sz="2000">
                <a:solidFill>
                  <a:srgbClr val="EBEBEB"/>
                </a:solidFill>
                <a:latin typeface="Times New Roman"/>
              </a:rPr>
              <a:t>DL_2018_0034 | DF18-00421 | Wexanthel Medicines | Miguel Serrano | 07/24/2018 | FINAL final | Durnesswick Laboratories Inc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315E61"/>
                </a:solidFill>
                <a:latin typeface="Arial"/>
              </a:rPr>
              <a:t>Recommendation retained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Wexanthel Medicines retained the coarser particle-size distribution.</a:t>
            </a:r>
          </a:p>
          <a:p>
            <a:pPr/>
            <a:r>
              <a:rPr sz="2000">
                <a:latin typeface="Times New Roman"/>
              </a:rPr>
              <a:t>The micronised pilot lot formed a compact cake.</a:t>
            </a:r>
          </a:p>
          <a:p>
            <a:pPr/>
            <a:r>
              <a:rPr sz="2000">
                <a:latin typeface="Times New Roman"/>
              </a:rPr>
              <a:t>Smaller particles did not give the preferred handling behavior.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15E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Durnesswick Laboratories Inc | Confidential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315E61"/>
                </a:solidFill>
                <a:latin typeface="Arial"/>
              </a:rPr>
              <a:t>Vehicle ladder: physical behavior beside capacity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15E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77295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2743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Vehicle</a:t>
                      </a:r>
                    </a:p>
                  </a:txBody>
                  <a:tcPr>
                    <a:solidFill>
                      <a:srgbClr val="315E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Equilibrium solubility (mg/mL)</a:t>
                      </a:r>
                    </a:p>
                  </a:txBody>
                  <a:tcPr>
                    <a:solidFill>
                      <a:srgbClr val="315E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Appearance at 10 mg/mL loading</a:t>
                      </a:r>
                    </a:p>
                  </a:txBody>
                  <a:tcPr>
                    <a:solidFill>
                      <a:srgbClr val="315E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24 h physical stability (10 mg/mL)</a:t>
                      </a:r>
                    </a:p>
                  </a:txBody>
                  <a:tcPr>
                    <a:solidFill>
                      <a:srgbClr val="315E6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0.5% methylcellulose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0.68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Suspension, settles &lt;1 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Redisperses on shaking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0.5% HPMC / 0.1% Tween 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5.9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Fine suspension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Redisperses on shaking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20% HP-β-CD in water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0.33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Fine suspension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Caking at 24 h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PEG400/water 30:70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0.54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Fine suspension, easily redispersed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Settles; redispersible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10% DMSO / 90% corn oil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Suspension, settles &lt;1 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Settles; redispersible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Labrasol/PEG400 1:1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Suspension, settles &lt;1 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Settles; redispersible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5% NMP / 15% Solutol HS15 / 80% water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0.59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Fine suspension, easily redispersed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Caking at 24 h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pH 4 citrate buffer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Fine suspension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Settles; redispersible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Durnesswick Laboratories Inc | Confidential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315E61"/>
                </a:solidFill>
                <a:latin typeface="Arial"/>
              </a:rPr>
              <a:t>Equilibrium capacity is only part of the choice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15E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0732" y="1280160"/>
            <a:ext cx="8470231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Durnesswick Laboratories Inc | Confidential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315E61"/>
                </a:solidFill>
                <a:latin typeface="Arial"/>
              </a:rPr>
              <a:t>Work package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Started 06/01/2018; interim discussion 06/27/2018; completed 07/24/2018.</a:t>
            </a:r>
          </a:p>
          <a:p>
            <a:pPr/>
            <a:r>
              <a:rPr sz="2000">
                <a:latin typeface="Times New Roman"/>
              </a:rPr>
              <a:t>Miguel Serrano prepared the comparison under Julia Carver’s development lead.</a:t>
            </a:r>
          </a:p>
          <a:p>
            <a:pPr/>
            <a:r>
              <a:rPr sz="2000">
                <a:latin typeface="Times New Roman"/>
              </a:rPr>
              <a:t>Lena Patel supported the practical dosing handoff.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15E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Durnesswick Laboratories Inc | Confidential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315E61"/>
                </a:solidFill>
                <a:latin typeface="Arial"/>
              </a:rPr>
              <a:t>Particle-size comparison: qualitative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457200" y="1280160"/>
            <a:ext cx="5547207" cy="4937760"/>
          </a:xfrm>
        </p:spPr>
        <p:txBody>
          <a:bodyPr wrap="square">
            <a:noAutofit/>
          </a:bodyPr>
          <a:lstStyle/>
          <a:p>
            <a:pPr/>
            <a:r>
              <a:rPr sz="1800">
                <a:latin typeface="Times New Roman"/>
              </a:rPr>
              <a:t>Coarser pilot lot retained for dosing.</a:t>
            </a:r>
          </a:p>
          <a:p>
            <a:pPr/>
            <a:r>
              <a:rPr sz="1800">
                <a:latin typeface="Times New Roman"/>
              </a:rPr>
              <a:t>Recoverability after settling is more useful than a fine appearance alone.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6187287" y="1280160"/>
            <a:ext cx="5547207" cy="4937760"/>
          </a:xfrm>
        </p:spPr>
        <p:txBody>
          <a:bodyPr wrap="square">
            <a:noAutofit/>
          </a:bodyPr>
          <a:lstStyle/>
          <a:p>
            <a:pPr/>
            <a:r>
              <a:rPr sz="1800">
                <a:latin typeface="Times New Roman"/>
              </a:rPr>
              <a:t>Micronised pilot lot settled into a compact cake.</a:t>
            </a:r>
          </a:p>
          <a:p>
            <a:pPr/>
            <a:r>
              <a:rPr sz="1800">
                <a:latin typeface="Times New Roman"/>
              </a:rPr>
              <a:t>The handling penalty outweighed the expected benefit of size reduction.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15E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Durnesswick Laboratories Inc | Confidential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315E61"/>
                </a:solidFill>
                <a:latin typeface="Arial"/>
              </a:rPr>
              <a:t>Redispersion is a use condition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Compare the settled preparation before and after the defined mixing step.</a:t>
            </a:r>
          </a:p>
          <a:p>
            <a:pPr/>
            <a:r>
              <a:rPr sz="2000">
                <a:latin typeface="Times New Roman"/>
              </a:rPr>
              <a:t>Note base adhesion and hard sediment that remains.</a:t>
            </a:r>
          </a:p>
          <a:p>
            <a:pPr/>
            <a:r>
              <a:rPr sz="2000">
                <a:latin typeface="Times New Roman"/>
              </a:rPr>
              <a:t>Uniform appearance during active mixing does not establish recovery after standing.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15E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Durnesswick Laboratories Inc | Confidential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315E61"/>
                </a:solidFill>
                <a:latin typeface="Arial"/>
              </a:rPr>
              <a:t>Vehicle observations relevant to recovery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15E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77295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2743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Vehicle</a:t>
                      </a:r>
                    </a:p>
                  </a:txBody>
                  <a:tcPr>
                    <a:solidFill>
                      <a:srgbClr val="315E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Appearance at 10 mg/mL loading</a:t>
                      </a:r>
                    </a:p>
                  </a:txBody>
                  <a:tcPr>
                    <a:solidFill>
                      <a:srgbClr val="315E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24 h physical stability (10 mg/mL)</a:t>
                      </a:r>
                    </a:p>
                  </a:txBody>
                  <a:tcPr>
                    <a:solidFill>
                      <a:srgbClr val="315E6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0.5% methylcellulose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Suspension, settles &lt;1 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Redisperses on shaking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0.5% HPMC / 0.1% Tween 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Fine suspension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Redisperses on shaking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20% HP-β-CD in water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Fine suspension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Caking at 24 h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PEG400/water 30:70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Fine suspension, easily redispersed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Settles; redispersible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10% DMSO / 90% corn oil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Suspension, settles &lt;1 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Settles; redispersible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Labrasol/PEG400 1:1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Suspension, settles &lt;1 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Settles; redispersible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5% NMP / 15% Solutol HS15 / 80% water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Fine suspension, easily redispersed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Caking at 24 h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pH 4 citrate buffer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Fine suspension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Settles; redispersible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Durnesswick Laboratories Inc | Confidential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315E61"/>
                </a:solidFill>
                <a:latin typeface="Arial"/>
              </a:rPr>
              <a:t>Keep vehicle and size as separate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The ladder distinguishes redispersible preparations from caking preparations.</a:t>
            </a:r>
          </a:p>
          <a:p>
            <a:pPr/>
            <a:r>
              <a:rPr sz="2000">
                <a:latin typeface="Times New Roman"/>
              </a:rPr>
              <a:t>The particle-size follow-up independently identified the micronised compact cake.</a:t>
            </a:r>
          </a:p>
          <a:p>
            <a:pPr/>
            <a:r>
              <a:rPr sz="2000">
                <a:latin typeface="Times New Roman"/>
              </a:rPr>
              <a:t>Do not assign that failure to a ladder row without the linked recipe card.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15E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Durnesswick Laboratories Inc | Confidential 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315E61"/>
                </a:solidFill>
                <a:latin typeface="Arial"/>
              </a:rPr>
              <a:t>Decision consequences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15E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77295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2743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Item</a:t>
                      </a:r>
                    </a:p>
                  </a:txBody>
                  <a:tcPr>
                    <a:solidFill>
                      <a:srgbClr val="315E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Instruction</a:t>
                      </a:r>
                    </a:p>
                  </a:txBody>
                  <a:tcPr>
                    <a:solidFill>
                      <a:srgbClr val="315E6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Material condition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Retain coarser distribution; no micronised substitution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Size 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Report future measured distributions in µm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Settled preparation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Resuspend before withdrawal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Material change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Repeat recovery assessment before extending use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Durnesswick Laboratories Inc | Confidential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315E61"/>
                </a:solidFill>
                <a:latin typeface="Arial"/>
              </a:rPr>
              <a:t>Complete decision; further process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457200" y="1280160"/>
            <a:ext cx="5547207" cy="4937760"/>
          </a:xfrm>
        </p:spPr>
        <p:txBody>
          <a:bodyPr wrap="square">
            <a:noAutofit/>
          </a:bodyPr>
          <a:lstStyle/>
          <a:p>
            <a:pPr/>
            <a:r>
              <a:rPr sz="1800">
                <a:latin typeface="Times New Roman"/>
              </a:rPr>
              <a:t>The client’s choice of coarser material is complete.</a:t>
            </a:r>
          </a:p>
          <a:p>
            <a:pPr/>
            <a:r>
              <a:rPr sz="1800">
                <a:latin typeface="Times New Roman"/>
              </a:rPr>
              <a:t>The compact cake explains the rejection of micronisation.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6187287" y="1280160"/>
            <a:ext cx="5547207" cy="4937760"/>
          </a:xfrm>
        </p:spPr>
        <p:txBody>
          <a:bodyPr wrap="square">
            <a:noAutofit/>
          </a:bodyPr>
          <a:lstStyle/>
          <a:p>
            <a:pPr/>
            <a:r>
              <a:rPr sz="1800">
                <a:latin typeface="Times New Roman"/>
              </a:rPr>
              <a:t>This deck sets no numerical size specification.</a:t>
            </a:r>
          </a:p>
          <a:p>
            <a:pPr/>
            <a:r>
              <a:rPr sz="1800">
                <a:latin typeface="Times New Roman"/>
              </a:rPr>
              <a:t>Transfer-scale preparation and storage claims need supporting observations.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15E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Durnesswick Laboratories Inc | Confidential 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315E61"/>
                </a:solidFill>
                <a:latin typeface="Arial"/>
              </a:rPr>
              <a:t>Handoff to Lena Patel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Carry material condition and resuspension instructions together.</a:t>
            </a:r>
          </a:p>
          <a:p>
            <a:pPr/>
            <a:r>
              <a:rPr sz="2000">
                <a:latin typeface="Times New Roman"/>
              </a:rPr>
              <a:t>Retain both pilot-lot observations so the rejected route remains understandable.</a:t>
            </a:r>
          </a:p>
          <a:p>
            <a:pPr/>
            <a:r>
              <a:rPr sz="2000">
                <a:latin typeface="Times New Roman"/>
              </a:rPr>
              <a:t>Agree container geometry and mixing method before larger preparation.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15E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Durnesswick Laboratories Inc | Confidential  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315E61"/>
                </a:solidFill>
                <a:latin typeface="Arial"/>
              </a:rPr>
              <a:t>Final position / working revision retained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Coarser material retained; micronisation is not the default next step.</a:t>
            </a:r>
          </a:p>
          <a:p>
            <a:pPr/>
            <a:r>
              <a:rPr sz="2000">
                <a:latin typeface="Times New Roman"/>
              </a:rPr>
              <a:t>Future changes should address recovery, concentration and manufacturability together.</a:t>
            </a:r>
          </a:p>
          <a:p>
            <a:pPr/>
            <a:r>
              <a:rPr sz="2000">
                <a:latin typeface="Times New Roman"/>
              </a:rPr>
              <a:t>FINAL final wording: “redispersible after standing” replaces “fine suspension” in the handoff.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15E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Durnesswick Laboratories Inc | Confidential   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LinksUpToDate>false</LinksUpToDate>
  <SharedDoc>false</SharedDoc>
  <HyperlinkBase/>
  <HyperlinksChanged>false</HyperlinksChanged>
  <Company>Durnesswick Laboratories Inc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WX-11: retain the coarser distribution</dc:title>
  <dc:subject>{{PRJ0110:project_id}} | {{PRJ0110:lims_id}} | Wexanthel Medicines | Miguel Serrano | 07/24/2018 | FINAL final</dc:subject>
  <dc:creator>Miguel Serrano</dc:creator>
  <cp:keywords>Vehicle ladder; Excipient compatibility screen; early CMC</cp:keywords>
  <dc:description>generated using python-pptx</dc:description>
  <cp:lastModifiedBy>Miguel Serrano</cp:lastModifiedBy>
  <cp:revision>11</cp:revision>
  <dcterms:created xsi:type="dcterms:W3CDTF">2018-07-24T09:37:00Z</dcterms:created>
  <dcterms:modified xsi:type="dcterms:W3CDTF">2018-07-24T15:24:00Z</dcterms:modified>
  <cp:category/>
</cp:coreProperties>
</file>