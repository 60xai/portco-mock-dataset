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board asked last quarter what happens to leaver folders. This is the current answer, and it will be checked again at the next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Integration board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One Group, Many Practices
Q2 2024 board meeting
Sofia Lindervik, Integration Director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Purpose of this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Report progress on the integration programme since the board approved its scope in April</a:t>
            </a:r>
          </a:p>
          <a:p>
            <a:pPr/>
            <a:r>
              <a:rPr sz="2000">
                <a:latin typeface="Arial"/>
              </a:rPr>
              <a:t>Confirm the workstream owners and their current status</a:t>
            </a:r>
          </a:p>
          <a:p>
            <a:pPr/>
            <a:r>
              <a:rPr sz="2000">
                <a:latin typeface="Arial"/>
              </a:rPr>
              <a:t>Bring forward the Durnesswick integration decisions for approval</a:t>
            </a:r>
          </a:p>
          <a:p>
            <a:pPr/>
            <a:r>
              <a:rPr sz="2000">
                <a:latin typeface="Arial"/>
              </a:rPr>
              <a:t>Set out the decisions on price and archive that we still need from the 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Programme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One Group, Many Practices: local scientific operations are retained while shared processes converge</a:t>
            </a:r>
          </a:p>
          <a:p>
            <a:pPr/>
            <a:r>
              <a:rPr sz="2000">
                <a:latin typeface="Arial"/>
              </a:rPr>
              <a:t>Shared functions move to group ownership first: HR, finance, IT and commercial reporting</a:t>
            </a:r>
          </a:p>
          <a:p>
            <a:pPr/>
            <a:r>
              <a:rPr sz="2000">
                <a:latin typeface="Arial"/>
              </a:rPr>
              <a:t>Local client relationships, study direction and accession numbering are not changed without a specific decision</a:t>
            </a:r>
          </a:p>
          <a:p>
            <a:pPr/>
            <a:r>
              <a:rPr sz="2000">
                <a:latin typeface="Arial"/>
              </a:rPr>
              <a:t>Each firm's legacy records are kept as they are unless a retention or access decision says otherwise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Workstreams and owners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Workstream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Status at June 2024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Price harmonisation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Andrea Beckett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Started; local currencies and discounts under review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Brand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Daniel Grellacott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A-E use the common master; Durnesswick migration in progress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LIMS consolidation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Yasmin Farhat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Scoping; export fields drafted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Cross-sell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Ruggero Tonisto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Client identity bridge being scoped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HR and payroll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Nils Bergstrom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Directory consolidation under way for early firms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IT and SharePoint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Praneel 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Local shares to be preserved as archive roots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Durnesswick Laboratories: integration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Durnesswick joined the group on 1 February 2024; the acquisition prompted the formal integration programme</a:t>
            </a:r>
          </a:p>
          <a:p>
            <a:pPr/>
            <a:r>
              <a:rPr sz="2000">
                <a:latin typeface="Arial"/>
              </a:rPr>
              <a:t>Formulation and early CMC work continues with its own scientific leadership and client contracts</a:t>
            </a:r>
          </a:p>
          <a:p>
            <a:pPr/>
            <a:r>
              <a:rPr sz="2000">
                <a:latin typeface="Arial"/>
              </a:rPr>
              <a:t>Brand migration to the common master remains in progress; confirm outstanding adoption steps with Durnesswick leadership</a:t>
            </a:r>
          </a:p>
          <a:p>
            <a:pPr/>
            <a:r>
              <a:rPr sz="2000">
                <a:latin typeface="Arial"/>
              </a:rPr>
              <a:t>Durnesswick's LIMS cutover is not yet scheduled and will follow the export dictionary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Brand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Common master template and brand guide agreed with the group communications lead</a:t>
            </a:r>
          </a:p>
          <a:p>
            <a:pPr/>
            <a:r>
              <a:rPr sz="2000">
                <a:latin typeface="Arial"/>
              </a:rPr>
              <a:t>Firms A to E already use the common master introduced in 2020; Durnesswick is the remaining brand migration workstream</a:t>
            </a:r>
          </a:p>
          <a:p>
            <a:pPr/>
            <a:r>
              <a:rPr sz="2000">
                <a:latin typeface="Arial"/>
              </a:rPr>
              <a:t>Legacy records will not be restyled; only documents issued from migration onwards use the master</a:t>
            </a:r>
          </a:p>
          <a:p>
            <a:pPr/>
            <a:r>
              <a:rPr sz="2000">
                <a:latin typeface="Arial"/>
              </a:rPr>
              <a:t>Durnesswick will migrate its templates first, followed by its signature blocks and report headers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LIMS consolidation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Draft export dictionary covers the fields that group reporting needs from each firm</a:t>
            </a:r>
          </a:p>
          <a:p>
            <a:pPr/>
            <a:r>
              <a:rPr sz="2000">
                <a:latin typeface="Arial"/>
              </a:rPr>
              <a:t>Local accession numbers will be kept for all firms, which the board is asked to confirm</a:t>
            </a:r>
          </a:p>
          <a:p>
            <a:pPr/>
            <a:r>
              <a:rPr sz="2000">
                <a:latin typeface="Arial"/>
              </a:rPr>
              <a:t>Cutover dates are not set; the draft plan will come back to the board after firm-level reviews</a:t>
            </a:r>
          </a:p>
          <a:p>
            <a:pPr/>
            <a:r>
              <a:rPr sz="2000">
                <a:latin typeface="Arial"/>
              </a:rPr>
              <a:t>Quality review of the export fields is under way with each site 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Price harmonisation: current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Price lists and service names are being gathered firm by firm, starting with the older acquisitions</a:t>
            </a:r>
          </a:p>
          <a:p>
            <a:pPr/>
            <a:r>
              <a:rPr sz="2000">
                <a:latin typeface="Arial"/>
              </a:rPr>
              <a:t>Historical currencies and discounts are recorded as they stand and not netted off</a:t>
            </a:r>
          </a:p>
          <a:p>
            <a:pPr/>
            <a:r>
              <a:rPr sz="2000">
                <a:latin typeface="Arial"/>
              </a:rPr>
              <a:t>No group price rule has been proposed yet, and no quote should be assumed to follow one</a:t>
            </a:r>
          </a:p>
          <a:p>
            <a:pPr/>
            <a:r>
              <a:rPr sz="2000">
                <a:latin typeface="Arial"/>
              </a:rPr>
              <a:t>A decision on the normalisation approach is needed from the board before the mapping can be finished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Cross-sell and client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A client identity bridge is being built so that one customer is not treated as two by different firms</a:t>
            </a:r>
          </a:p>
          <a:p>
            <a:pPr/>
            <a:r>
              <a:rPr sz="2000">
                <a:latin typeface="Arial"/>
              </a:rPr>
              <a:t>Subsidiary and lookalike name checks are required before any cross-sell approach is made</a:t>
            </a:r>
          </a:p>
          <a:p>
            <a:pPr/>
            <a:r>
              <a:rPr sz="2000">
                <a:latin typeface="Arial"/>
              </a:rPr>
              <a:t>No cross-sell activity should start with a client until its identity has been checked against the bridge</a:t>
            </a:r>
          </a:p>
          <a:p>
            <a:pPr/>
            <a:r>
              <a:rPr sz="2000">
                <a:latin typeface="Arial"/>
              </a:rPr>
              <a:t>Commercial leads have agreed to hold back joint approaches until the first bridge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HR and payroll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Directory consolidation is under way and will reach firms A to F in turn</a:t>
            </a:r>
          </a:p>
          <a:p>
            <a:pPr/>
            <a:r>
              <a:rPr sz="2000">
                <a:latin typeface="Arial"/>
              </a:rPr>
              <a:t>Payroll stays with each firm until its directory entries are confirmed</a:t>
            </a:r>
          </a:p>
          <a:p>
            <a:pPr/>
            <a:r>
              <a:rPr sz="2000">
                <a:latin typeface="Arial"/>
              </a:rPr>
              <a:t>Staff at Durnesswick are on the group directory from the start of integration</a:t>
            </a:r>
          </a:p>
          <a:p>
            <a:pPr/>
            <a:r>
              <a:rPr sz="2000">
                <a:latin typeface="Arial"/>
              </a:rPr>
              <a:t>The group will not onboard a firm's payroll until its leavers and contractors are reconciled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IT and archive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Local shares are being kept as archive roots rather than merged into the group estate</a:t>
            </a:r>
          </a:p>
          <a:p>
            <a:pPr/>
            <a:r>
              <a:rPr sz="2000">
                <a:latin typeface="Arial"/>
              </a:rPr>
              <a:t>Leaver folders need an owner's sign-off before they move or are deleted</a:t>
            </a:r>
          </a:p>
          <a:p>
            <a:pPr/>
            <a:r>
              <a:rPr sz="2000">
                <a:latin typeface="Arial"/>
              </a:rPr>
              <a:t>Retention decisions are not yet made for the older shares and are listed as open</a:t>
            </a:r>
          </a:p>
          <a:p>
            <a:pPr/>
            <a:r>
              <a:rPr sz="2000">
                <a:latin typeface="Arial"/>
              </a:rPr>
              <a:t>No shared drive content will be deleted as part of the migration without written approval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Price mapping could lock in historical discounts that clients expect to keep, which the commercial team is watching closely</a:t>
            </a:r>
          </a:p>
          <a:p>
            <a:pPr/>
            <a:r>
              <a:rPr sz="2000">
                <a:latin typeface="Arial"/>
              </a:rPr>
              <a:t>Brand migration may leave mixed templates in client hands if the legacy records are not clearly marked</a:t>
            </a:r>
          </a:p>
          <a:p>
            <a:pPr/>
            <a:r>
              <a:rPr sz="2000">
                <a:latin typeface="Arial"/>
              </a:rPr>
              <a:t>LIMS cutover dates depend on firm-level reviews that have not yet been scheduled</a:t>
            </a:r>
          </a:p>
          <a:p>
            <a:pPr/>
            <a:r>
              <a:rPr sz="2000">
                <a:latin typeface="Arial"/>
              </a:rPr>
              <a:t>Archive decisions could slip if ownership of leaver folders is not confirmed in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Decisions requested from the 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Approve the Durnesswick integration plan for brand, LIMS and HR steps</a:t>
            </a:r>
          </a:p>
          <a:p>
            <a:pPr/>
            <a:r>
              <a:rPr sz="2000">
                <a:latin typeface="Arial"/>
              </a:rPr>
              <a:t>Confirm that local accession numbers are retained for all firms</a:t>
            </a:r>
          </a:p>
          <a:p>
            <a:pPr/>
            <a:r>
              <a:rPr sz="2000">
                <a:latin typeface="Arial"/>
              </a:rPr>
              <a:t>Agree that the price normalisation approach comes back to the board in the autumn</a:t>
            </a:r>
          </a:p>
          <a:p>
            <a:pPr/>
            <a:r>
              <a:rPr sz="2000">
                <a:latin typeface="Arial"/>
              </a:rPr>
              <a:t>Note the archive hold for legacy shares until ownership checks are complete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Workstream owners to return updated plans by the end of June 2024</a:t>
            </a:r>
          </a:p>
          <a:p>
            <a:pPr/>
            <a:r>
              <a:rPr sz="2000">
                <a:latin typeface="Arial"/>
              </a:rPr>
              <a:t>Durnesswick brand migration plan to be circulated to the firm's leadership team</a:t>
            </a:r>
          </a:p>
          <a:p>
            <a:pPr/>
            <a:r>
              <a:rPr sz="2000">
                <a:latin typeface="Arial"/>
              </a:rPr>
              <a:t>Client identity bridge review at the next steering meeting</a:t>
            </a:r>
          </a:p>
          <a:p>
            <a:pPr/>
            <a:r>
              <a:rPr sz="2000">
                <a:latin typeface="Arial"/>
              </a:rPr>
              <a:t>Next board update in the autumn with the price approach and LIMS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Integration board update, June 2024</dc:title>
  <dc:subject>Integration programme board update</dc:subject>
  <dc:creator>Sofia Lindervik</dc:creator>
  <cp:keywords>integration board, One Group Many Practices, Durnesswick, June 2024, Tarnovell</cp:keywords>
  <dc:description>generated using python-pptx</dc:description>
  <cp:lastModifiedBy>Sofia Lindervik</cp:lastModifiedBy>
  <cp:revision>1</cp:revision>
  <dcterms:created xsi:type="dcterms:W3CDTF">2024-06-03T10:24:00Z</dcterms:created>
  <dcterms:modified xsi:type="dcterms:W3CDTF">2024-06-19T15:37:00Z</dcterms:modified>
  <cp:category/>
</cp:coreProperties>
</file>