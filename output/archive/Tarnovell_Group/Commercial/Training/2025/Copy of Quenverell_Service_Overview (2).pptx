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Lawrence Hutchinson: internal service conversations. Local scientific scoping remains with Quenverell Computational Ltd. The local contact footer remains on the service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ask for. Walk left to right along a programme: which target, does it matter in patients, what does the compound do, who will respond. Stress that we hand over decisions, not data dumps, and that the group's labs (Brindlewythe, Merrivoss) can test the hypotheses quickly.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Retain the distinction between ranking and activity confirmation. A target campaign requires data acceptance and scientific scoping before analysis.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which structures and target information are available and what purchase or synthesis decision is needed. Docking scope is agreed locally; no separate list price is stated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engagement starts from the biological question and ends with a decision the project team can act on. Batch effects and confounded contrasts can limit the answer even if processing completes.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Clients in regulated settings care about this slide more than the science.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input acceptance, deliverables and scope before quoting. Target campaigns and datasets remain different charging units.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pitch wording retained. Confirm arrangements before promising a consolidated contract or common data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Retained local contact route: Quenverell Computational Ltd, Edinburgh. Keep local service wording when briefing the scientists.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731520" y="2057400"/>
            <a:ext cx="10728655" cy="1463040"/>
          </a:xfrm>
        </p:spPr>
        <p:txBody>
          <a:bodyPr/>
          <a:lstStyle/>
          <a:p>
            <a:r>
              <a:rPr sz="4000" b="1">
                <a:solidFill>
                  <a:srgbClr val="FFFFFF"/>
                </a:solidFill>
                <a:latin typeface="Arial"/>
              </a:rPr>
              <a:t>Quenverell service overview</a:t>
            </a:r>
          </a:p>
        </p:txBody>
      </p:sp>
      <p:sp>
        <p:nvSpPr>
          <p:cNvPr id="3" name="Subtitle 2"/>
          <p:cNvSpPr>
            <a:spLocks noGrp="1"/>
          </p:cNvSpPr>
          <p:nvPr>
            <p:ph type="subTitle" idx="1"/>
          </p:nvPr>
        </p:nvSpPr>
        <p:spPr>
          <a:xfrm>
            <a:off x="731520" y="3611880"/>
            <a:ext cx="10728655" cy="1097280"/>
          </a:xfrm>
        </p:spPr>
        <p:txBody>
          <a:bodyPr/>
          <a:lstStyle/>
          <a:p>
            <a:r>
              <a:rPr sz="2000">
                <a:solidFill>
                  <a:srgbClr val="EBEBEB"/>
                </a:solidFill>
                <a:latin typeface="Arial"/>
              </a:rPr>
              <a:t>Tarnovell Bioscience Group | Internal commercial training copy | 11 Mar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Bioinformatics for drug discovery</a:t>
            </a:r>
          </a:p>
        </p:txBody>
      </p:sp>
      <p:sp>
        <p:nvSpPr>
          <p:cNvPr id="3" name="Content Placeholder 2"/>
          <p:cNvSpPr>
            <a:spLocks noGrp="1"/>
          </p:cNvSpPr>
          <p:nvPr>
            <p:ph idx="1"/>
          </p:nvPr>
        </p:nvSpPr>
        <p:spPr>
          <a:xfrm>
            <a:off x="457200" y="1280160"/>
            <a:ext cx="11277295" cy="4937760"/>
          </a:xfrm>
        </p:spPr>
        <p:txBody>
          <a:bodyPr wrap="square">
            <a:noAutofit/>
          </a:bodyPr>
          <a:lstStyle/>
          <a:p>
            <a:pPr/>
            <a:r>
              <a:rPr sz="1800">
                <a:latin typeface="Arial"/>
              </a:rPr>
              <a:t>Turns large biological datasets into decisions at each stage of a programme</a:t>
            </a:r>
          </a:p>
          <a:p>
            <a:pPr lvl="1"/>
            <a:r>
              <a:rPr sz="1500">
                <a:latin typeface="Arial"/>
              </a:rPr>
              <a:t>Target identification: rank disease-linked genes from transcriptomics, genetics and literature-curated pathways</a:t>
            </a:r>
          </a:p>
          <a:p>
            <a:pPr lvl="1"/>
            <a:r>
              <a:rPr sz="1500">
                <a:latin typeface="Arial"/>
              </a:rPr>
              <a:t>Target validation support: check expression in the relevant tissues, cell types and patient subgroups to guide functional testing</a:t>
            </a:r>
          </a:p>
          <a:p>
            <a:pPr lvl="1"/>
            <a:r>
              <a:rPr sz="1500">
                <a:latin typeface="Arial"/>
              </a:rPr>
              <a:t>Mechanism of action: read out pathway responses to compound treatment from RNA-seq and proteomics</a:t>
            </a:r>
          </a:p>
          <a:p>
            <a:pPr lvl="1"/>
            <a:r>
              <a:rPr sz="1500">
                <a:latin typeface="Arial"/>
              </a:rPr>
              <a:t>Biomarker candidates: propose response signatures and monitoring markers for independent validation</a:t>
            </a:r>
          </a:p>
          <a:p>
            <a:pPr lvl="1"/>
            <a:r>
              <a:rPr sz="1500">
                <a:latin typeface="Arial"/>
              </a:rPr>
              <a:t>Safety signals: flag off-target and tissue-expression liabilities before chemistry is committed</a:t>
            </a:r>
          </a:p>
          <a:p>
            <a:pPr/>
            <a:r>
              <a:rPr sz="1800">
                <a:latin typeface="Arial"/>
              </a:rPr>
              <a:t>Every analysis is reproducible: data provenance, versioned pipelines and an acceptance check before results are released</a:t>
            </a:r>
          </a:p>
          <a:p>
            <a:pPr/>
            <a:r>
              <a:rPr sz="1800">
                <a:latin typeface="Arial"/>
              </a:rPr>
              <a:t>Outcome: fewer, better-evidenced targets and earlier no-go decisions, so lab budget goes on the compounds that matter</a:t>
            </a:r>
          </a:p>
        </p:txBody>
      </p:sp>
      <p:sp>
        <p:nvSpPr>
          <p:cNvPr id="4" name="Rectangle 3"/>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Edinburgh | Confidential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Virtual library triage</a:t>
            </a:r>
          </a:p>
        </p:txBody>
      </p:sp>
      <p:sp>
        <p:nvSpPr>
          <p:cNvPr id="3" name="Content Placeholder 2"/>
          <p:cNvSpPr>
            <a:spLocks noGrp="1"/>
          </p:cNvSpPr>
          <p:nvPr>
            <p:ph idx="1" sz="half"/>
          </p:nvPr>
        </p:nvSpPr>
        <p:spPr>
          <a:xfrm>
            <a:off x="457200" y="1280160"/>
            <a:ext cx="5547207" cy="4937760"/>
          </a:xfrm>
        </p:spPr>
        <p:txBody>
          <a:bodyPr wrap="square">
            <a:noAutofit/>
          </a:bodyPr>
          <a:lstStyle/>
          <a:p>
            <a:pPr/>
            <a:r>
              <a:rPr sz="1800">
                <a:latin typeface="Arial"/>
              </a:rPr>
              <a:t>Virtual screening of client and commercial-scale libraries</a:t>
            </a:r>
          </a:p>
          <a:p>
            <a:pPr/>
            <a:r>
              <a:rPr sz="1800">
                <a:latin typeface="Arial"/>
              </a:rPr>
              <a:t>Physicochemical and ADMET property models to filter candidate sets</a:t>
            </a:r>
          </a:p>
          <a:p>
            <a:pPr/>
            <a:r>
              <a:rPr sz="1800">
                <a:latin typeface="Arial"/>
              </a:rPr>
              <a:t>Prioritise what gets made and tested; retain library provenance and selection rules</a:t>
            </a:r>
          </a:p>
        </p:txBody>
      </p:sp>
      <p:sp>
        <p:nvSpPr>
          <p:cNvPr id="4" name="Content Placeholder 3"/>
          <p:cNvSpPr>
            <a:spLocks noGrp="1"/>
          </p:cNvSpPr>
          <p:nvPr>
            <p:ph idx="2" sz="half"/>
          </p:nvPr>
        </p:nvSpPr>
        <p:spPr>
          <a:xfrm>
            <a:off x="6187287" y="1280160"/>
            <a:ext cx="5547207" cy="4937760"/>
          </a:xfrm>
        </p:spPr>
        <p:txBody>
          <a:bodyPr wrap="square">
            <a:noAutofit/>
          </a:bodyPr>
          <a:lstStyle/>
          <a:p>
            <a:pPr/>
            <a:r>
              <a:rPr sz="1800">
                <a:latin typeface="Arial"/>
              </a:rPr>
              <a:t>Agreed target question and library identity</a:t>
            </a:r>
          </a:p>
          <a:p>
            <a:pPr/>
            <a:r>
              <a:rPr sz="1800">
                <a:latin typeface="Arial"/>
              </a:rPr>
              <a:t>Prioritised purchase or synthesis list</a:t>
            </a:r>
          </a:p>
          <a:p>
            <a:pPr/>
            <a:r>
              <a:rPr sz="1800">
                <a:latin typeface="Arial"/>
              </a:rPr>
              <a:t>Explicit exclusions and uncertainty</a:t>
            </a:r>
          </a:p>
          <a:p>
            <a:pPr/>
            <a:r>
              <a:rPr sz="1800">
                <a:latin typeface="Arial"/>
              </a:rPr>
              <a:t>Readout linking recommendations to evidence</a:t>
            </a:r>
          </a:p>
        </p:txBody>
      </p:sp>
      <p:sp>
        <p:nvSpPr>
          <p:cNvPr id="5" name="Rectangle 4"/>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Edinburgh | Confidential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Docking and hit clustering</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Docking and pose review for hit triage</a:t>
            </a:r>
          </a:p>
          <a:p>
            <a:pPr/>
            <a:r>
              <a:rPr sz="2000">
                <a:latin typeface="Arial"/>
              </a:rPr>
              <a:t>Cluster candidates to expose chemical redundancy and preserve interpretable diversity</a:t>
            </a:r>
          </a:p>
          <a:p>
            <a:pPr/>
            <a:r>
              <a:rPr sz="2000">
                <a:latin typeface="Arial"/>
              </a:rPr>
              <a:t>Review poses alongside chemical plausibility and the target question</a:t>
            </a:r>
          </a:p>
          <a:p>
            <a:pPr/>
            <a:r>
              <a:rPr sz="2000">
                <a:latin typeface="Arial"/>
              </a:rPr>
              <a:t>Analogue prioritisation fed straight to Vellacombe chemists for synthesis</a:t>
            </a:r>
          </a:p>
          <a:p>
            <a:pPr/>
            <a:r>
              <a:rPr sz="2000">
                <a:latin typeface="Arial"/>
              </a:rPr>
              <a:t>Predictions guide experiments; scores do not establish measured binding potency</a:t>
            </a:r>
          </a:p>
        </p:txBody>
      </p:sp>
      <p:sp>
        <p:nvSpPr>
          <p:cNvPr id="4" name="Rectangle 3"/>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Edinburgh | Confidential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RNA-seq differential expression</a:t>
            </a:r>
          </a:p>
        </p:txBody>
      </p:sp>
      <p:sp>
        <p:nvSpPr>
          <p:cNvPr id="3" name="Content Placeholder 2"/>
          <p:cNvSpPr>
            <a:spLocks noGrp="1"/>
          </p:cNvSpPr>
          <p:nvPr>
            <p:ph idx="1" sz="half"/>
          </p:nvPr>
        </p:nvSpPr>
        <p:spPr>
          <a:xfrm>
            <a:off x="457200" y="1280160"/>
            <a:ext cx="5547207" cy="4937760"/>
          </a:xfrm>
        </p:spPr>
        <p:txBody>
          <a:bodyPr wrap="square">
            <a:noAutofit/>
          </a:bodyPr>
          <a:lstStyle/>
          <a:p>
            <a:pPr/>
            <a:r>
              <a:rPr sz="1800">
                <a:latin typeface="Arial"/>
              </a:rPr>
              <a:t>Bulk and single-cell RNA-seq differential expression</a:t>
            </a:r>
          </a:p>
          <a:p>
            <a:pPr/>
            <a:r>
              <a:rPr sz="1800">
                <a:latin typeface="Arial"/>
              </a:rPr>
              <a:t>Pathway and network enrichment against curated knowledge bases</a:t>
            </a:r>
          </a:p>
          <a:p>
            <a:pPr/>
            <a:r>
              <a:rPr sz="1800">
                <a:latin typeface="Arial"/>
              </a:rPr>
              <a:t>Compound-treated RNA-seq to read out pathway responses</a:t>
            </a:r>
          </a:p>
          <a:p>
            <a:pPr/>
            <a:r>
              <a:rPr sz="1800">
                <a:latin typeface="Arial"/>
              </a:rPr>
              <a:t>Metadata and biological contrasts agreed before analysis</a:t>
            </a:r>
          </a:p>
        </p:txBody>
      </p:sp>
      <p:sp>
        <p:nvSpPr>
          <p:cNvPr id="4" name="Content Placeholder 3"/>
          <p:cNvSpPr>
            <a:spLocks noGrp="1"/>
          </p:cNvSpPr>
          <p:nvPr>
            <p:ph idx="2" sz="half"/>
          </p:nvPr>
        </p:nvSpPr>
        <p:spPr>
          <a:xfrm>
            <a:off x="6187287" y="1280160"/>
            <a:ext cx="5547207" cy="4937760"/>
          </a:xfrm>
        </p:spPr>
        <p:txBody>
          <a:bodyPr wrap="square">
            <a:noAutofit/>
          </a:bodyPr>
          <a:lstStyle/>
          <a:p>
            <a:pPr/>
            <a:r>
              <a:rPr sz="1800">
                <a:latin typeface="Arial"/>
              </a:rPr>
              <a:t>Differential-expression results with uncertainty</a:t>
            </a:r>
          </a:p>
          <a:p>
            <a:pPr/>
            <a:r>
              <a:rPr sz="1800">
                <a:latin typeface="Arial"/>
              </a:rPr>
              <a:t>Pathway response report</a:t>
            </a:r>
          </a:p>
          <a:p>
            <a:pPr/>
            <a:r>
              <a:rPr sz="1800">
                <a:latin typeface="Arial"/>
              </a:rPr>
              <a:t>Candidate markers for independent validation</a:t>
            </a:r>
          </a:p>
          <a:p>
            <a:pPr/>
            <a:r>
              <a:rPr sz="1800">
                <a:latin typeface="Arial"/>
              </a:rPr>
              <a:t>Analysis notebook and data acceptance record</a:t>
            </a:r>
          </a:p>
        </p:txBody>
      </p:sp>
      <p:sp>
        <p:nvSpPr>
          <p:cNvPr id="5" name="Rectangle 4"/>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Edinburgh | Confidential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Data acceptance and reproducibility</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Metadata reconciled against sample manifests before any analysis</a:t>
            </a:r>
          </a:p>
          <a:p>
            <a:pPr/>
            <a:r>
              <a:rPr sz="2000">
                <a:latin typeface="Arial"/>
              </a:rPr>
              <a:t>Batch-effect review and documented exclusions</a:t>
            </a:r>
          </a:p>
          <a:p>
            <a:pPr/>
            <a:r>
              <a:rPr sz="2000">
                <a:latin typeface="Arial"/>
              </a:rPr>
              <a:t>Pipelines under version control; every figure traceable to code and input</a:t>
            </a:r>
          </a:p>
          <a:p>
            <a:pPr/>
            <a:r>
              <a:rPr sz="2000">
                <a:latin typeface="Arial"/>
              </a:rPr>
              <a:t>Independent review before release; deviations recorded in the analysis notebook</a:t>
            </a:r>
          </a:p>
        </p:txBody>
      </p:sp>
      <p:sp>
        <p:nvSpPr>
          <p:cNvPr id="4" name="Rectangle 3"/>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Edinburgh | Confidential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Service conversation and list-price basis</a:t>
            </a:r>
          </a:p>
        </p:txBody>
      </p:sp>
      <p:sp>
        <p:nvSpPr>
          <p:cNvPr id="3" name="Rectangle 2"/>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280160"/>
          <a:ext cx="11277295" cy="1097280"/>
        </p:xfrm>
        <a:graphic>
          <a:graphicData uri="http://schemas.openxmlformats.org/drawingml/2006/table">
            <a:tbl>
              <a:tblPr firstRow="1" bandRow="1">
                <a:tableStyleId>{5C22544A-7EE6-4342-B048-85BDC9FD1C3A}</a:tableStyleId>
              </a:tblPr>
              <a:tblGrid>
                <a:gridCol w="3759098"/>
                <a:gridCol w="3759098"/>
                <a:gridCol w="3759099"/>
              </a:tblGrid>
              <a:tr h="274320">
                <a:tc>
                  <a:txBody>
                    <a:bodyPr/>
                    <a:lstStyle/>
                    <a:p>
                      <a:r>
                        <a:rPr sz="1400" b="1">
                          <a:solidFill>
                            <a:srgbClr val="FFFFFF"/>
                          </a:solidFill>
                          <a:latin typeface="Arial"/>
                        </a:rPr>
                        <a:t>Service</a:t>
                      </a:r>
                    </a:p>
                  </a:txBody>
                  <a:tcPr>
                    <a:solidFill>
                      <a:srgbClr val="183C4C"/>
                    </a:solidFill>
                  </a:tcPr>
                </a:tc>
                <a:tc>
                  <a:txBody>
                    <a:bodyPr/>
                    <a:lstStyle/>
                    <a:p>
                      <a:r>
                        <a:rPr sz="1400" b="1">
                          <a:solidFill>
                            <a:srgbClr val="FFFFFF"/>
                          </a:solidFill>
                          <a:latin typeface="Arial"/>
                        </a:rPr>
                        <a:t>Starting question</a:t>
                      </a:r>
                    </a:p>
                  </a:txBody>
                  <a:tcPr>
                    <a:solidFill>
                      <a:srgbClr val="183C4C"/>
                    </a:solidFill>
                  </a:tcPr>
                </a:tc>
                <a:tc>
                  <a:txBody>
                    <a:bodyPr/>
                    <a:lstStyle/>
                    <a:p>
                      <a:r>
                        <a:rPr sz="1400" b="1">
                          <a:solidFill>
                            <a:srgbClr val="FFFFFF"/>
                          </a:solidFill>
                          <a:latin typeface="Arial"/>
                        </a:rPr>
                        <a:t>2025 charging basis</a:t>
                      </a:r>
                    </a:p>
                  </a:txBody>
                  <a:tcPr>
                    <a:solidFill>
                      <a:srgbClr val="183C4C"/>
                    </a:solidFill>
                  </a:tcPr>
                </a:tc>
              </a:tr>
              <a:tr h="274320">
                <a:tc>
                  <a:txBody>
                    <a:bodyPr/>
                    <a:lstStyle/>
                    <a:p>
                      <a:r>
                        <a:rPr sz="1400">
                          <a:latin typeface="Arial"/>
                        </a:rPr>
                        <a:t>Virtual library triage</a:t>
                      </a:r>
                    </a:p>
                  </a:txBody>
                  <a:tcPr/>
                </a:tc>
                <a:tc>
                  <a:txBody>
                    <a:bodyPr/>
                    <a:lstStyle/>
                    <a:p>
                      <a:r>
                        <a:rPr sz="1400">
                          <a:latin typeface="Arial"/>
                        </a:rPr>
                        <a:t>What should be made or purchased for this target?</a:t>
                      </a:r>
                    </a:p>
                  </a:txBody>
                  <a:tcPr/>
                </a:tc>
                <a:tc>
                  <a:txBody>
                    <a:bodyPr/>
                    <a:lstStyle/>
                    <a:p>
                      <a:r>
                        <a:rPr sz="1400">
                          <a:latin typeface="Arial"/>
                        </a:rPr>
                        <a:t>GBP 9,850 per target campaign; no volume discount</a:t>
                      </a:r>
                    </a:p>
                  </a:txBody>
                  <a:tcPr/>
                </a:tc>
              </a:tr>
              <a:tr h="274320">
                <a:tc>
                  <a:txBody>
                    <a:bodyPr/>
                    <a:lstStyle/>
                    <a:p>
                      <a:r>
                        <a:rPr sz="1400">
                          <a:latin typeface="Arial"/>
                        </a:rPr>
                        <a:t>Docking and hit clustering</a:t>
                      </a:r>
                    </a:p>
                  </a:txBody>
                  <a:tcPr/>
                </a:tc>
                <a:tc>
                  <a:txBody>
                    <a:bodyPr/>
                    <a:lstStyle/>
                    <a:p>
                      <a:r>
                        <a:rPr sz="1400">
                          <a:latin typeface="Arial"/>
                        </a:rPr>
                        <a:t>Which poses and chemical groups merit review?</a:t>
                      </a:r>
                    </a:p>
                  </a:txBody>
                  <a:tcPr/>
                </a:tc>
                <a:tc>
                  <a:txBody>
                    <a:bodyPr/>
                    <a:lstStyle/>
                    <a:p>
                      <a:r>
                        <a:rPr sz="1400">
                          <a:latin typeface="Arial"/>
                        </a:rPr>
                        <a:t>Scope locally; no list price stated</a:t>
                      </a:r>
                    </a:p>
                  </a:txBody>
                  <a:tcPr/>
                </a:tc>
              </a:tr>
              <a:tr h="274320">
                <a:tc>
                  <a:txBody>
                    <a:bodyPr/>
                    <a:lstStyle/>
                    <a:p>
                      <a:r>
                        <a:rPr sz="1400">
                          <a:latin typeface="Arial"/>
                        </a:rPr>
                        <a:t>RNA-seq differential expression</a:t>
                      </a:r>
                    </a:p>
                  </a:txBody>
                  <a:tcPr/>
                </a:tc>
                <a:tc>
                  <a:txBody>
                    <a:bodyPr/>
                    <a:lstStyle/>
                    <a:p>
                      <a:r>
                        <a:rPr sz="1400">
                          <a:latin typeface="Arial"/>
                        </a:rPr>
                        <a:t>Which biological contrast and pathway response matter?</a:t>
                      </a:r>
                    </a:p>
                  </a:txBody>
                  <a:tcPr/>
                </a:tc>
                <a:tc>
                  <a:txBody>
                    <a:bodyPr/>
                    <a:lstStyle/>
                    <a:p>
                      <a:r>
                        <a:rPr sz="1400">
                          <a:latin typeface="Arial"/>
                        </a:rPr>
                        <a:t>GBP 12,950 per dataset; no volume discount</a:t>
                      </a:r>
                    </a:p>
                  </a:txBody>
                  <a:tcPr/>
                </a:tc>
              </a:tr>
            </a:tbl>
          </a:graphicData>
        </a:graphic>
      </p:graphicFrame>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Edinburgh | Confidential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Working with the Tarnovell group</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Predictions tested quickly in group laboratories</a:t>
            </a:r>
          </a:p>
          <a:p>
            <a:pPr lvl="1"/>
            <a:r>
              <a:rPr sz="1700">
                <a:latin typeface="Arial"/>
              </a:rPr>
              <a:t>Brindlewythe Biosciences: target and safety assays</a:t>
            </a:r>
          </a:p>
          <a:p>
            <a:pPr lvl="1"/>
            <a:r>
              <a:rPr sz="1700">
                <a:latin typeface="Arial"/>
              </a:rPr>
              <a:t>Merrivoss Bioanalysis: DMPK and exposure</a:t>
            </a:r>
          </a:p>
          <a:p>
            <a:pPr lvl="1"/>
            <a:r>
              <a:rPr sz="1700">
                <a:latin typeface="Arial"/>
              </a:rPr>
              <a:t>Vellacombe Discovery: synthesis of prioritised analogues</a:t>
            </a:r>
          </a:p>
          <a:p>
            <a:pPr/>
            <a:r>
              <a:rPr sz="2000">
                <a:latin typeface="Arial"/>
              </a:rPr>
              <a:t>Agree the project lead, contract scope and data handover before laboratory follow-up.</a:t>
            </a:r>
          </a:p>
        </p:txBody>
      </p:sp>
      <p:sp>
        <p:nvSpPr>
          <p:cNvPr id="4" name="Rectangle 3"/>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Edinburgh | Confidential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Local scientific handover</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Quenverell Computational Ltd, a Tarnovell company, Edinburgh</a:t>
            </a:r>
          </a:p>
          <a:p>
            <a:pPr/>
            <a:r>
              <a:rPr sz="2000">
                <a:latin typeface="Arial"/>
              </a:rPr>
              <a:t>Bring the biological question, input inventory and intended decision to scoping.</a:t>
            </a:r>
          </a:p>
          <a:p>
            <a:pPr/>
            <a:r>
              <a:rPr sz="2000">
                <a:latin typeface="Arial"/>
              </a:rPr>
              <a:t>Keep local data-acceptance and analysis records with the scientific team.</a:t>
            </a:r>
          </a:p>
          <a:p>
            <a:pPr/>
            <a:r>
              <a:rPr sz="2000">
                <a:latin typeface="Arial"/>
              </a:rPr>
              <a:t>Lawrence Hutchinson coordinates the group commercial handover.</a:t>
            </a:r>
          </a:p>
          <a:p>
            <a:pPr/>
            <a:r>
              <a:rPr sz="2000">
                <a:latin typeface="Arial"/>
              </a:rPr>
              <a:t>Use the accepted scope for external proposals; this is an internal training copy.</a:t>
            </a:r>
          </a:p>
        </p:txBody>
      </p:sp>
      <p:sp>
        <p:nvSpPr>
          <p:cNvPr id="4" name="Rectangle 3"/>
          <p:cNvSpPr/>
          <p:nvPr/>
        </p:nvSpPr>
        <p:spPr>
          <a:xfrm>
            <a:off x="365760" y="1097280"/>
            <a:ext cx="11460175" cy="3810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Edinburgh | Confidential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LinksUpToDate>false</LinksUpToDate>
  <SharedDoc>false</SharedDoc>
  <HyperlinkBase/>
  <HyperlinksChanged>false</HyperlinksChanged>
  <Company>Tarnovell Bioscience Group Ltd</Company>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Quenverell Service Overview (2)</dc:title>
  <dc:subject>Internal commercial training</dc:subject>
  <dc:creator>Lawrence Hutchinson</dc:creator>
  <cp:keywords>Quenverell; service overview; virtual library triage; docking; RNA-seq; copy</cp:keywords>
  <dc:description>generated using python-pptx</dc:description>
  <cp:lastModifiedBy>Lawrence Hutchinson</cp:lastModifiedBy>
  <cp:revision>1</cp:revision>
  <dcterms:created xsi:type="dcterms:W3CDTF">2025-03-04T10:24:00Z</dcterms:created>
  <dcterms:modified xsi:type="dcterms:W3CDTF">2025-03-11T15:37:00Z</dcterms:modified>
  <cp:category/>
</cp:coreProperties>
</file>