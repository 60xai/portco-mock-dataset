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of DMPK_Capabilities_081417. Changed the cover date only. Please don't send this one out until the matrix acceptance footnotes are updated (Helen).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Prices as on the 2017 list. Quotes for multi-route PK are priced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Comment (Helen): the recovery wording needs the 2016 matrix acceptance limits, not the 2014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Comment (Helen): 'matrix acceptance footnotes' still missing on this slide. Add the rat plasma lot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these are still right before anything goes out. Kalpit may want to replace Helen's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Comment (Carole): the 2017 prices are the ones in the price list file, not the ones in my draft. Double-check.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DMPK and bioanalysis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Merrivoss Bioanalysis Inc, Madison | August 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DMPK and bioanalysis group established in Madison in 2003</a:t>
            </a:r>
          </a:p>
          <a:p>
            <a:pPr/>
            <a:r>
              <a:rPr sz="2000">
                <a:latin typeface="Times New Roman"/>
              </a:rPr>
              <a:t>Bioanalysis, in vitro ADME and early safety screening under one roof</a:t>
            </a:r>
          </a:p>
          <a:p>
            <a:pPr/>
            <a:r>
              <a:rPr sz="2000">
                <a:latin typeface="Times New Roman"/>
              </a:rPr>
              <a:t>Local scientific leadership retained since the 2008 acquisition</a:t>
            </a:r>
          </a:p>
          <a:p>
            <a:pPr/>
            <a:r>
              <a:rPr sz="2000">
                <a:latin typeface="Times New Roman"/>
              </a:rPr>
              <a:t>Studies run to a written protocol with matrix acceptance applied to every accession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Assay menu and 2017 list prices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Service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Unit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List price (USD)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Volume discount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IKr inhibition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Five-isoform DDI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CYP3A4 inhibition curves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Microsomal CLint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 (2 species)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Hepatocyte depletion CLint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fu,p by equilibrium dialysis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Caco-2 flux and efflux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DMSO-dilution solubility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Rat exposure with tandem-MS bioanalysis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per compound (single route, 3 animals)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5% &gt;30 cpds; 10% &gt;80 cpds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In vitro ADME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Times New Roman"/>
              </a:rPr>
              <a:t>Permeability, binding, metabolism and solubility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Microsomal and hepatocyte CLint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Microsomal CLint run on two species per compound as standard</a:t>
            </a:r>
          </a:p>
          <a:p>
            <a:pPr/>
            <a:r>
              <a:rPr sz="2000">
                <a:latin typeface="Times New Roman"/>
              </a:rPr>
              <a:t>Hepatocyte depletion CLint for compounds where phase II or uptake is a concern</a:t>
            </a:r>
          </a:p>
          <a:p>
            <a:pPr/>
            <a:r>
              <a:rPr sz="2000">
                <a:latin typeface="Times New Roman"/>
              </a:rPr>
              <a:t>Clearance reported with units stated in the table header</a:t>
            </a:r>
          </a:p>
          <a:p>
            <a:pPr lvl="1"/>
            <a:r>
              <a:rPr sz="1700">
                <a:latin typeface="Times New Roman"/>
              </a:rPr>
              <a:t>µL/min/mg for microsomes, µL/min/10^6 cells for hepatocytes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fu,p by equilibrium dialysis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Test article equilibrated between plasma and buffer compartments separated by a dialysis membrane</a:t>
            </a:r>
          </a:p>
          <a:p>
            <a:pPr/>
            <a:r>
              <a:rPr sz="2000">
                <a:latin typeface="Times New Roman"/>
              </a:rPr>
              <a:t>Unbound fraction reported for each species requested</a:t>
            </a:r>
          </a:p>
          <a:p>
            <a:pPr/>
            <a:r>
              <a:rPr sz="2000">
                <a:latin typeface="Times New Roman"/>
              </a:rPr>
              <a:t>Recovery checked against the matrix acceptance criteria before a result is accepted</a:t>
            </a:r>
          </a:p>
          <a:p>
            <a:pPr/>
            <a:r>
              <a:rPr sz="2000">
                <a:latin typeface="Times New Roman"/>
              </a:rPr>
              <a:t>Highly bound compounds flagged where the unbound fraction sits near the limit of the assay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Caco-2 flux and efflux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Bidirectional transport across monolayers, apical to basolateral and back</a:t>
            </a:r>
          </a:p>
          <a:p>
            <a:pPr/>
            <a:r>
              <a:rPr sz="2000">
                <a:latin typeface="Times New Roman"/>
              </a:rPr>
              <a:t>Monolayer integrity assessed with the transport controls; compromised monolayers are excluded from interpretation</a:t>
            </a:r>
          </a:p>
          <a:p>
            <a:pPr/>
            <a:r>
              <a:rPr sz="2000">
                <a:latin typeface="Times New Roman"/>
              </a:rPr>
              <a:t>Efflux ratio reported with the transport controls on the same worksheet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DMSO-dilution solubility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Kinetic solubility from DMSO stock into aqueous buffer</a:t>
            </a:r>
          </a:p>
          <a:p>
            <a:pPr/>
            <a:r>
              <a:rPr sz="2000">
                <a:latin typeface="Times New Roman"/>
              </a:rPr>
              <a:t>Readout and sample handling specified in the assay protocol; limitations recorded with the result</a:t>
            </a:r>
          </a:p>
          <a:p>
            <a:pPr/>
            <a:r>
              <a:rPr sz="2000">
                <a:latin typeface="Times New Roman"/>
              </a:rPr>
              <a:t>Suitable for early triage of screening sets, not for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Safety pharmacology and DDI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Times New Roman"/>
              </a:rPr>
              <a:t>Ion channel and CYP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IKr and CYP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IKr inhibition by whole-cell patch clamp on the standard cell line</a:t>
            </a:r>
          </a:p>
          <a:p>
            <a:pPr/>
            <a:r>
              <a:rPr sz="1800">
                <a:latin typeface="Times New Roman"/>
              </a:rPr>
              <a:t>Concentration response on each compound, reference compound on every run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Five-isoform DDI screen for first-pass CYP liability</a:t>
            </a:r>
          </a:p>
          <a:p>
            <a:pPr/>
            <a:r>
              <a:rPr sz="1800">
                <a:latin typeface="Times New Roman"/>
              </a:rPr>
              <a:t>CYP3A4 inhibition curves where the screen flags a concern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Rat exposure and bioanalysis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Oral or IV PK in rat; the listed scope covers a single route with three animals, and paired-route work requires an agreed scope</a:t>
            </a:r>
          </a:p>
          <a:p>
            <a:pPr/>
            <a:r>
              <a:rPr sz="2000">
                <a:latin typeface="Times New Roman"/>
              </a:rPr>
              <a:t>Tandem-MS bioanalysis with matrix matched calibration standards</a:t>
            </a:r>
          </a:p>
          <a:p>
            <a:pPr/>
            <a:r>
              <a:rPr sz="2000">
                <a:latin typeface="Times New Roman"/>
              </a:rPr>
              <a:t>Exposure reported in ng·h/mL with the matrix and species stated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Work done to the bioanalytical SOPs, reviewed by the quality manager</a:t>
            </a:r>
          </a:p>
          <a:p>
            <a:pPr/>
            <a:r>
              <a:rPr sz="2000">
                <a:latin typeface="Times New Roman"/>
              </a:rPr>
              <a:t>Every accession lot carries its own matrix acceptance record</a:t>
            </a:r>
          </a:p>
          <a:p>
            <a:pPr/>
            <a:r>
              <a:rPr sz="2000">
                <a:latin typeface="Times New Roman"/>
              </a:rPr>
              <a:t>Analyst and study director sign-off recorded on the assay worksheet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Business development: Adeel Farooqi, Head of BD North America</a:t>
            </a:r>
          </a:p>
          <a:p>
            <a:pPr/>
            <a:r>
              <a:rPr sz="2000">
                <a:latin typeface="Times New Roman"/>
              </a:rPr>
              <a:t>DMPK studies: Megan Larkin, DMPK Study Director</a:t>
            </a:r>
          </a:p>
          <a:p>
            <a:pPr/>
            <a:r>
              <a:rPr sz="2000">
                <a:latin typeface="Times New Roman"/>
              </a:rPr>
              <a:t>Bioanalysis: Javier Quintana, Mass-Spectrometry Manager</a:t>
            </a:r>
          </a:p>
          <a:p>
            <a:pPr/>
            <a:r>
              <a:rPr sz="2000">
                <a:latin typeface="Times New Roman"/>
              </a:rPr>
              <a:t>Quality: Helen Marchwood, Bioanalytical Quality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Update matrix acceptance footnotes across slides 8 to 11</a:t>
            </a:r>
          </a:p>
          <a:p>
            <a:pPr/>
            <a:r>
              <a:rPr sz="2000">
                <a:latin typeface="Times New Roman"/>
              </a:rPr>
              <a:t>Refresh the price table once the autumn list is signed off</a:t>
            </a:r>
          </a:p>
          <a:p>
            <a:pPr/>
            <a:r>
              <a:rPr sz="2000">
                <a:latin typeface="Times New Roman"/>
              </a:rPr>
              <a:t>Share the updated deck with business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Merrivoss Bioanalysis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DMPK capabilities 2017</dc:title>
  <dc:subject>Capability deck</dc:subject>
  <dc:creator>Matteo Rinalvesi</dc:creator>
  <cp:keywords>DMPK; capabilities; list price; fu,p; Oral/IV PK</cp:keywords>
  <dc:description>generated using python-pptx</dc:description>
  <cp:lastModifiedBy>Matteo Rinalvesi</cp:lastModifiedBy>
  <cp:revision>11</cp:revision>
  <dcterms:created xsi:type="dcterms:W3CDTF">2017-08-14T10:23:00Z</dcterms:created>
  <dcterms:modified xsi:type="dcterms:W3CDTF">2017-08-14T15:42:00Z</dcterms:modified>
  <cp:category/>
</cp:coreProperties>
</file>