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laptop copy. Keep this on the call sheet; we can quote a long experiment list and still miss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Julia Carver whether the concentration makes sense before fixing the offer. Clear stock is not necessarily usable dose.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example fee here. Build the priced scope with the scientific owner; explain what the fee 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reminder: call first. A tidy development note does not cure an unagreed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colleagues answer before showing the dilution point. No client data in this training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Retained langforde laptop working copy. Use these questions, not this deck, as the client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Development handoff: scope the decision first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Internal accounts training | Eric Langford, Early Development Accounts Lead | 09/15/2021 | Personal working copy | Durnesswick Laboratories Inc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Start with the client’s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Ask what the material must do at the next scale gate.</a:t>
            </a:r>
          </a:p>
          <a:p>
            <a:pPr/>
            <a:r>
              <a:rPr sz="2000">
                <a:latin typeface="Times New Roman"/>
              </a:rPr>
              <a:t>A dose vehicle, pilot-lot preparation and storage claim are different deliverables.</a:t>
            </a:r>
          </a:p>
          <a:p>
            <a:pPr/>
            <a:r>
              <a:rPr sz="2000">
                <a:latin typeface="Times New Roman"/>
              </a:rPr>
              <a:t>Write the decision before listing the formulation 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Translate the request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Client wording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Scope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Avoid promising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Make it dissolve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Vehicle ladder at agreed loading and dilution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 solution for every dosing use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Check the excipients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Excipient compatibility screen with defined 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Shelf-life compatibility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Give us a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Preparation and handoff with an explicit scale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Process lock from a screen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Vehicle ladder: scope ingredients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Target concentration in mg/mL and acceptable dosage form.</a:t>
            </a:r>
          </a:p>
          <a:p>
            <a:pPr/>
            <a:r>
              <a:rPr sz="2000">
                <a:latin typeface="Times New Roman"/>
              </a:rPr>
              <a:t>Dilution medium, hold condition and observation points.</a:t>
            </a:r>
          </a:p>
          <a:p>
            <a:pPr/>
            <a:r>
              <a:rPr sz="2000">
                <a:latin typeface="Times New Roman"/>
              </a:rPr>
              <a:t>Preparation quantities and material allowance for repeats.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Excipient compatibility screen: name the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Agree candidate excipients and material condition.</a:t>
            </a:r>
          </a:p>
          <a:p>
            <a:pPr/>
            <a:r>
              <a:rPr sz="2000">
                <a:latin typeface="Times New Roman"/>
              </a:rPr>
              <a:t>Specify the physical or chemical changes to examine.</a:t>
            </a:r>
          </a:p>
          <a:p>
            <a:pPr/>
            <a:r>
              <a:rPr sz="2000">
                <a:latin typeface="Times New Roman"/>
              </a:rPr>
              <a:t>Separate a screening observation from a finished-product specification.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Exploratory wording; process wording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Compare recipes under agreed screen conditions.</a:t>
            </a:r>
          </a:p>
          <a:p>
            <a:pPr/>
            <a:r>
              <a:rPr sz="1800">
                <a:latin typeface="Times New Roman"/>
              </a:rPr>
              <a:t>Recommend a formulation set for follow-up.</a:t>
            </a:r>
          </a:p>
          <a:p>
            <a:pPr/>
            <a:r>
              <a:rPr sz="1800">
                <a:latin typeface="Times New Roman"/>
              </a:rPr>
              <a:t>Document visible handling limitations.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Establish reproducible preparation at agreed scale.</a:t>
            </a:r>
          </a:p>
          <a:p>
            <a:pPr/>
            <a:r>
              <a:rPr sz="1800">
                <a:latin typeface="Times New Roman"/>
              </a:rPr>
              <a:t>Define supported process controls.</a:t>
            </a:r>
          </a:p>
          <a:p>
            <a:pPr/>
            <a:r>
              <a:rPr sz="1800">
                <a:latin typeface="Times New Roman"/>
              </a:rPr>
              <a:t>Set acceptance criteria when the evidence supports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Price the work creating the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Include receipt, preparation, observation and interpretation.</a:t>
            </a:r>
          </a:p>
          <a:p>
            <a:pPr/>
            <a:r>
              <a:rPr sz="2000">
                <a:latin typeface="Times New Roman"/>
              </a:rPr>
              <a:t>Include screen suitability checks and ambiguity-resolving repeats.</a:t>
            </a:r>
          </a:p>
          <a:p>
            <a:pPr/>
            <a:r>
              <a:rPr sz="2000">
                <a:latin typeface="Times New Roman"/>
              </a:rPr>
              <a:t>Treat new loading, extra excipients or extended hold as scope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Material request before the offer leaves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Ask for identity, physical form and available mass.</a:t>
            </a:r>
          </a:p>
          <a:p>
            <a:pPr/>
            <a:r>
              <a:rPr sz="2000">
                <a:latin typeface="Times New Roman"/>
              </a:rPr>
              <a:t>Ask whether another material lot will be used for dosing.</a:t>
            </a:r>
          </a:p>
          <a:p>
            <a:pPr/>
            <a:r>
              <a:rPr sz="2000">
                <a:latin typeface="Times New Roman"/>
              </a:rPr>
              <a:t>Reserve material for follow-up rather than consuming it all in the broad screen.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Accounts-to-science handoff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Owner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Resolve</a:t>
                      </a:r>
                    </a:p>
                  </a:txBody>
                  <a:tcPr>
                    <a:solidFill>
                      <a:srgbClr val="315E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Eric Langford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Decision, deliverable and budget boundary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Julia Carver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Does the scope answer the decision?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Miguel Serrano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Can the formulation set be made from available material?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Lena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What must the receiving team reproduce?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Change control without a surprise invoice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State assumptions in the offer.</a:t>
            </a:r>
          </a:p>
          <a:p>
            <a:pPr/>
            <a:r>
              <a:rPr sz="2000">
                <a:latin typeface="Times New Roman"/>
              </a:rPr>
              <a:t>Agree changed work when intended use changes.</a:t>
            </a:r>
          </a:p>
          <a:p>
            <a:pPr/>
            <a:r>
              <a:rPr sz="2000">
                <a:latin typeface="Times New Roman"/>
              </a:rPr>
              <a:t>Offer a clear choice between a smaller answer and expanded scope.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Accounts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Hypothetical request: a clear preparation for dilution into aqueous dosing medium.</a:t>
            </a:r>
          </a:p>
          <a:p>
            <a:pPr/>
            <a:r>
              <a:rPr sz="2000">
                <a:latin typeface="Times New Roman"/>
              </a:rPr>
              <a:t>Explain why concentrate clarity alone is insufficient.</a:t>
            </a:r>
          </a:p>
          <a:p>
            <a:pPr/>
            <a:r>
              <a:rPr sz="2000">
                <a:latin typeface="Times New Roman"/>
              </a:rPr>
              <a:t>Draft dilution, recipe-card and recommendation deliverables; keep process lock separate.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15E61"/>
                </a:solidFill>
                <a:latin typeface="Arial"/>
              </a:rPr>
              <a:t>Before sending the priced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Decision and intended use appear first.</a:t>
            </a:r>
          </a:p>
          <a:p>
            <a:pPr/>
            <a:r>
              <a:rPr sz="2000">
                <a:latin typeface="Times New Roman"/>
              </a:rPr>
              <a:t>Material, conditions and deliverables match the scientific owner’s plan.</a:t>
            </a:r>
          </a:p>
          <a:p>
            <a:pPr/>
            <a:r>
              <a:rPr sz="2000">
                <a:latin typeface="Times New Roman"/>
              </a:rPr>
              <a:t>Exploratory claims, transfer responsibilities and change triggers are clear.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Durnesswick Laboratories Inc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Durnesswick Laboratories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handoff: scope the decision first</dc:title>
  <dc:subject>Internal accounts training | Eric Langford, Early Development Accounts Lead | 09/15/2021 | Personal working copy</dc:subject>
  <dc:creator>Eric Langford</dc:creator>
  <cp:keywords>Vehicle ladder; Excipient compatibility screen; early CMC</cp:keywords>
  <dc:description>generated using python-pptx</dc:description>
  <cp:lastModifiedBy>Eric Langford</cp:lastModifiedBy>
  <cp:revision>12</cp:revision>
  <dcterms:created xsi:type="dcterms:W3CDTF">2021-09-15T09:37:00Z</dcterms:created>
  <dcterms:modified xsi:type="dcterms:W3CDTF">2021-09-15T15:24:00Z</dcterms:modified>
  <cp:category/>
</cp:coreProperties>
</file>