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Working draft for the Quenverell call. The structure is from our old DMPK handoff deck, so the footer and contact slide still need replacing before anything goes to the client.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this to the hand-off. Modelling choices are a separate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Tomasz wants this wording on the first slide that shows scores.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Nadia's checklist is the one to use. Keep the list short so people actually fill it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and its footer come from the source deck and are out of date. Replace with Quenverell contacts before this goes anywhere.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141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2057400"/>
            <a:ext cx="10728655" cy="1463040"/>
          </a:xfrm>
        </p:spPr>
        <p:txBody>
          <a:bodyPr/>
          <a:lstStyle/>
          <a:p>
            <a:r>
              <a:rPr sz="4000" b="1">
                <a:solidFill>
                  <a:srgbClr val="FFFFFF"/>
                </a:solidFill>
                <a:latin typeface="Arial"/>
              </a:rPr>
              <a:t>Computational to exposure hand-off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3611880"/>
            <a:ext cx="10728655" cy="1097280"/>
          </a:xfrm>
        </p:spPr>
        <p:txBody>
          <a:bodyPr/>
          <a:lstStyle/>
          <a:p>
            <a:r>
              <a:rPr sz="2000">
                <a:solidFill>
                  <a:srgbClr val="EBEBEB"/>
                </a:solidFill>
                <a:latin typeface="Arial"/>
              </a:rPr>
              <a:t>Partnership discussion | Quenverell Computational Ltd, a Tarnovell company | 17/06/2020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141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Purpose of this 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Agree where a candidate set leaves computational work and enters exposure testing</a:t>
            </a:r>
          </a:p>
          <a:p>
            <a:pPr/>
            <a:r>
              <a:rPr sz="2000">
                <a:latin typeface="Arial"/>
              </a:rPr>
              <a:t>Agree which data travels with each hand-off, and in what format</a:t>
            </a:r>
          </a:p>
          <a:p>
            <a:pPr/>
            <a:r>
              <a:rPr sz="2000">
                <a:latin typeface="Arial"/>
              </a:rPr>
              <a:t>Agree who owns the analysis steps that make a result reproducible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Quenverell Computational Ltd, a Tarnovell company | Confidential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141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The biological question comes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Each engagement starts from the target question and the decision it has to support</a:t>
            </a:r>
          </a:p>
          <a:p>
            <a:pPr/>
            <a:r>
              <a:rPr sz="2000">
                <a:latin typeface="Arial"/>
              </a:rPr>
              <a:t>The candidate set is defined by that question, not by what the library happens to contain</a:t>
            </a:r>
          </a:p>
          <a:p>
            <a:pPr lvl="1"/>
            <a:r>
              <a:rPr sz="1700">
                <a:latin typeface="Arial"/>
              </a:rPr>
              <a:t>Selection criteria written down before any scoring is run</a:t>
            </a:r>
          </a:p>
          <a:p>
            <a:pPr/>
            <a:r>
              <a:rPr sz="2000">
                <a:latin typeface="Arial"/>
              </a:rPr>
              <a:t>Data provenance recorded for every input: source library, version and 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Quenverell Computational Ltd, a Tarnovell company | Confidential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141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2057400"/>
            <a:ext cx="10728655" cy="1463040"/>
          </a:xfrm>
        </p:spPr>
        <p:txBody>
          <a:bodyPr/>
          <a:lstStyle/>
          <a:p>
            <a:r>
              <a:rPr sz="3200" b="1">
                <a:solidFill>
                  <a:srgbClr val="FFFFFF"/>
                </a:solidFill>
                <a:latin typeface="Arial"/>
              </a:rPr>
              <a:t>Stage 1: triage and docking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1520" y="3611880"/>
            <a:ext cx="10728655" cy="1097280"/>
          </a:xfrm>
        </p:spPr>
        <p:txBody>
          <a:bodyPr/>
          <a:lstStyle/>
          <a:p>
            <a:r>
              <a:rPr sz="1800">
                <a:solidFill>
                  <a:srgbClr val="E6E6E6"/>
                </a:solidFill>
                <a:latin typeface="Arial"/>
              </a:rPr>
              <a:t>Virtual library triage, docking and hit clustering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Quenverell Computational Ltd, a Tarnovell company | Confidential    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141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Triage and docking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457200" y="1280160"/>
            <a:ext cx="5547207" cy="4937760"/>
          </a:xfrm>
        </p:spPr>
        <p:txBody>
          <a:bodyPr wrap="square">
            <a:noAutofit/>
          </a:bodyPr>
          <a:lstStyle/>
          <a:p>
            <a:pPr/>
            <a:r>
              <a:rPr sz="1800">
                <a:latin typeface="Arial"/>
              </a:rPr>
              <a:t>Virtual library triage removes compounds failing the agreed property filters</a:t>
            </a:r>
          </a:p>
          <a:p>
            <a:pPr/>
            <a:r>
              <a:rPr sz="1800">
                <a:latin typeface="Arial"/>
              </a:rPr>
              <a:t>Docking scores reported in kcal/mol against a fixed receptor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187287" y="1280160"/>
            <a:ext cx="5547207" cy="4937760"/>
          </a:xfrm>
        </p:spPr>
        <p:txBody>
          <a:bodyPr wrap="square">
            <a:noAutofit/>
          </a:bodyPr>
          <a:lstStyle/>
          <a:p>
            <a:pPr/>
            <a:r>
              <a:rPr sz="1800">
                <a:latin typeface="Arial"/>
              </a:rPr>
              <a:t>Hit clustering groups the remaining compounds by scaffold</a:t>
            </a:r>
          </a:p>
          <a:p>
            <a:pPr/>
            <a:r>
              <a:rPr sz="1800">
                <a:latin typeface="Arial"/>
              </a:rPr>
              <a:t>Cluster representatives chosen by the medicinal chemistry team, not by score alone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Quenverell Computational Ltd, a Tarnovell company | Confidential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141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Model uncertainty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Docking poses are hypotheses about binding, not measurements</a:t>
            </a:r>
          </a:p>
          <a:p>
            <a:pPr/>
            <a:r>
              <a:rPr sz="2000">
                <a:latin typeface="Arial"/>
              </a:rPr>
              <a:t>Score ranking is reliable only within a cluster built on the same receptor model</a:t>
            </a:r>
          </a:p>
          <a:p>
            <a:pPr/>
            <a:r>
              <a:rPr sz="2000">
                <a:latin typeface="Arial"/>
              </a:rPr>
              <a:t>Where two receptor models disagree on a pose, both are carried forward and flagged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Quenverell Computational Ltd, a Tarnovell company | Confidential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141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2057400"/>
            <a:ext cx="10728655" cy="1463040"/>
          </a:xfrm>
        </p:spPr>
        <p:txBody>
          <a:bodyPr/>
          <a:lstStyle/>
          <a:p>
            <a:r>
              <a:rPr sz="3200" b="1">
                <a:solidFill>
                  <a:srgbClr val="FFFFFF"/>
                </a:solidFill>
                <a:latin typeface="Arial"/>
              </a:rPr>
              <a:t>Stage 2: the hand-off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1520" y="3611880"/>
            <a:ext cx="10728655" cy="1097280"/>
          </a:xfrm>
        </p:spPr>
        <p:txBody>
          <a:bodyPr/>
          <a:lstStyle/>
          <a:p>
            <a:r>
              <a:rPr sz="1800">
                <a:solidFill>
                  <a:srgbClr val="E6E6E6"/>
                </a:solidFill>
                <a:latin typeface="Arial"/>
              </a:rPr>
              <a:t>What leaves Edinburgh and what the partner receives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Quenverell Computational Ltd, a Tarnovell company | Confidential    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141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Hand-off package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77295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2743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>
                    <a:solidFill>
                      <a:srgbClr val="4141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Format</a:t>
                      </a:r>
                    </a:p>
                  </a:txBody>
                  <a:tcPr>
                    <a:solidFill>
                      <a:srgbClr val="4141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Owner</a:t>
                      </a:r>
                    </a:p>
                  </a:txBody>
                  <a:tcPr>
                    <a:solidFill>
                      <a:srgbClr val="4141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Check before sending</a:t>
                      </a:r>
                    </a:p>
                  </a:txBody>
                  <a:tcPr>
                    <a:solidFill>
                      <a:srgbClr val="41416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Candidate set list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Spreadsheet with structure identifiers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Scientific partnerships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Identifiers match the cluster output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Analysis notebook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Versioned notebook, exported to PDF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Computational chemistry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Notebook runs end to end from a clean environment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Docking outputs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Pose files and score tables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Computational chemistry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Receptor model version stated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Provenance note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One page technical note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Data curation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Source versions and dates filled in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Assay requests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Engagement sheet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Scientific partnerships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Client sign-off on the selected set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Quenverell Computational Ltd, a Tarnovell company | Confidential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141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Reproducibility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Analysis notebook pinned to the software versions used for the scoring run</a:t>
            </a:r>
          </a:p>
          <a:p>
            <a:pPr/>
            <a:r>
              <a:rPr sz="2000">
                <a:latin typeface="Arial"/>
              </a:rPr>
              <a:t>Random seeds recorded where a docking or clustering step uses them</a:t>
            </a:r>
          </a:p>
          <a:p>
            <a:pPr/>
            <a:r>
              <a:rPr sz="2000">
                <a:latin typeface="Arial"/>
              </a:rPr>
              <a:t>Any manual edit to the candidate set logged with a reason and a 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Quenverell Computational Ltd, a Tarnovell company | Confidential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141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2057400"/>
            <a:ext cx="10728655" cy="1463040"/>
          </a:xfrm>
        </p:spPr>
        <p:txBody>
          <a:bodyPr/>
          <a:lstStyle/>
          <a:p>
            <a:r>
              <a:rPr sz="3200" b="1">
                <a:solidFill>
                  <a:srgbClr val="FFFFFF"/>
                </a:solidFill>
                <a:latin typeface="Arial"/>
              </a:rPr>
              <a:t>Stage 3: exposure testing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1520" y="3611880"/>
            <a:ext cx="10728655" cy="1097280"/>
          </a:xfrm>
        </p:spPr>
        <p:txBody>
          <a:bodyPr/>
          <a:lstStyle/>
          <a:p>
            <a:r>
              <a:rPr sz="1800">
                <a:solidFill>
                  <a:srgbClr val="E6E6E6"/>
                </a:solidFill>
                <a:latin typeface="Arial"/>
              </a:rPr>
              <a:t>Partner side of the hand-off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Quenverell Computational Ltd, a Tarnovell company | Confidential    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141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What the partner needs back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Measured exposure and clearance for the compounds that were tested, with units stated</a:t>
            </a:r>
          </a:p>
          <a:p>
            <a:pPr/>
            <a:r>
              <a:rPr sz="2000">
                <a:latin typeface="Arial"/>
              </a:rPr>
              <a:t>Notes on any compound that could not be tested, and why</a:t>
            </a:r>
          </a:p>
          <a:p>
            <a:pPr/>
            <a:r>
              <a:rPr sz="2000">
                <a:latin typeface="Arial"/>
              </a:rPr>
              <a:t>Data returned in the same identifiers as the candidate set 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Quenverell Computational Ltd, a Tarnovell company | Confidential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141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Feeding results back into the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Results are added as a new data drop, not overwritten into the old one</a:t>
            </a:r>
          </a:p>
          <a:p>
            <a:pPr/>
            <a:r>
              <a:rPr sz="2000">
                <a:latin typeface="Arial"/>
              </a:rPr>
              <a:t>Model gate reviewed before any re-scoring is run</a:t>
            </a:r>
          </a:p>
          <a:p>
            <a:pPr lvl="1"/>
            <a:r>
              <a:rPr sz="1700">
                <a:latin typeface="Arial"/>
              </a:rPr>
              <a:t>Changes to the scoring weights recorded in the notebook history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Quenverell Computational Ltd, a Tarnovell company | Confidential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141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Open questions for the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Which receptor model the client wants used as the reference</a:t>
            </a:r>
          </a:p>
          <a:p>
            <a:pPr/>
            <a:r>
              <a:rPr sz="2000">
                <a:latin typeface="Arial"/>
              </a:rPr>
              <a:t>Format the partner can take the candidate set in</a:t>
            </a:r>
          </a:p>
          <a:p>
            <a:pPr/>
            <a:r>
              <a:rPr sz="2000">
                <a:latin typeface="Arial"/>
              </a:rPr>
              <a:t>How often data drops should happen during an engagement</a:t>
            </a:r>
          </a:p>
          <a:p>
            <a:pPr/>
            <a:r>
              <a:rPr sz="2000">
                <a:latin typeface="Arial"/>
              </a:rPr>
              <a:t>[TBC] who signs off the provenance note on the partner side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Quenverell Computational Ltd, a Tarnovell company | Confidential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141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Contacts (from the source deck)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7729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2743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>
                    <a:solidFill>
                      <a:srgbClr val="4141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Site</a:t>
                      </a:r>
                    </a:p>
                  </a:txBody>
                  <a:tcPr>
                    <a:solidFill>
                      <a:srgbClr val="41416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DMPK Study Director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Madison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DMPK Lead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Madison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Bioanalytical Quality 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Madison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Mass-Spectrometry 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Madison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Merrivoss Bioanalysis Inc | Confidential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141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Agree the hand-off package contents on the call</a:t>
            </a:r>
          </a:p>
          <a:p>
            <a:pPr/>
            <a:r>
              <a:rPr sz="2000">
                <a:latin typeface="Arial"/>
              </a:rPr>
              <a:t>Share the provenance note template with the partner</a:t>
            </a:r>
          </a:p>
          <a:p>
            <a:pPr/>
            <a:r>
              <a:rPr sz="2000">
                <a:latin typeface="Arial"/>
              </a:rPr>
              <a:t>Revise this deck once the open questions are answered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Quenverell Computational Ltd, a Tarnovell company | Confidential   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LinksUpToDate>false</LinksUpToDate>
  <SharedDoc>false</SharedDoc>
  <HyperlinkBase/>
  <HyperlinksChanged>false</HyperlinksChanged>
  <Company>Quenverell Computational Ltd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Computational to exposure hand-off workflow</dc:title>
  <dc:subject>Partnership discussion</dc:subject>
  <dc:creator>Callum Strachan</dc:creator>
  <cp:keywords>hand-off; docking; candidate set; DMPK; reproducibility</cp:keywords>
  <dc:description>generated using python-pptx</dc:description>
  <cp:lastModifiedBy>Callum Strachan</cp:lastModifiedBy>
  <cp:revision>5</cp:revision>
  <dcterms:created xsi:type="dcterms:W3CDTF">2020-06-17T10:23:00Z</dcterms:created>
  <dcterms:modified xsi:type="dcterms:W3CDTF">2020-06-17T16:41:00Z</dcterms:modified>
  <cp:category/>
</cp:coreProperties>
</file>