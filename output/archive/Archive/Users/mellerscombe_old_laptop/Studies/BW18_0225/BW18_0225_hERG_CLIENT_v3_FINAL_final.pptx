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FINAL final. Same content as v2 except the control table and the closing slide. Rowcroft to check the censoring footnote before this goes to Feldorune.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side chain point. Feldorune asked for a yes or no on the basic amine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compound table is in the released report. Retain accepted-cell counts and censoring qualifications alongside the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Censored entries are lower bounds at the top tested concentration, not finite IC50 measurements; consult the compound table when comparing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censored estimate footnote wording against the released table, not against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dated 06 Jun 2018; study started 06 Jul 2018; interim dated 16 Jul 2018; completion 23 Jul 2018. Turnaround 17 calendar days. Structures illustrate the screening set; they do not identify a causal substituent by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for the client copy. Delete this slide before it goes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FT09 indazole cardiac counterscreen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Readout | BW18_0225 | Feldorune Therapeutics BV | Brindlewythe Biosciences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32 compounds from the synthesis lot C screened on the hERG automated patch clamp</a:t>
            </a:r>
          </a:p>
          <a:p>
            <a:pPr/>
            <a:r>
              <a:rPr sz="2000">
                <a:latin typeface="Times New Roman"/>
              </a:rPr>
              <a:t>Median IC50 12 µM across the set</a:t>
            </a:r>
          </a:p>
          <a:p>
            <a:pPr lvl="1"/>
            <a:r>
              <a:rPr sz="1700">
                <a:latin typeface="Times New Roman"/>
              </a:rPr>
              <a:t>14 compounds in the 1-10 µM range, 18 at or above 10 µM</a:t>
            </a:r>
          </a:p>
          <a:p>
            <a:pPr/>
            <a:r>
              <a:rPr sz="2000">
                <a:latin typeface="Times New Roman"/>
              </a:rPr>
              <a:t>Reproducible inhibition in the confirmatory run for the most strongly basic side chain</a:t>
            </a:r>
          </a:p>
          <a:p>
            <a:pPr/>
            <a:r>
              <a:rPr sz="2000">
                <a:latin typeface="Times New Roman"/>
              </a:rPr>
              <a:t>Control acceptance was checked before the compound results were released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Study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BW18_0225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Feldorune Therapeutics BV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Compounds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Series / chemotype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Feldorune indazole series 09 (Indazole)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Assays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hERG patch clamp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Turnaround (calendar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GBP 10,600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hERG IC50 &lt;1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hERG IC50 1-10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hERG IC50 ≥10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hERG median IC50 (µM)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E-4031 control IC50 (nM)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hERG IC50 by compound (first 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IC50 cell 1 (µM)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IC50 cell 2 (µM)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IC50 cell 3 (µM)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IC50 geomean (µM)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% inhibition @10 µM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n cells (finite)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QC note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FT09-07084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Geometric mean IC50 per compound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Control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E-4031 reference gave a control IC50 of 16 nM, within the protocol acceptance window</a:t>
            </a:r>
          </a:p>
          <a:p>
            <a:pPr/>
            <a:r>
              <a:rPr sz="2000">
                <a:latin typeface="Times New Roman"/>
              </a:rPr>
              <a:t>Compound IC50 is the geometric mean of finite cell estimates only when finite estimates are the majority of accepted cells</a:t>
            </a:r>
          </a:p>
          <a:p>
            <a:pPr/>
            <a:r>
              <a:rPr sz="2000">
                <a:latin typeface="Times New Roman"/>
              </a:rPr>
              <a:t>Otherwise the compound estimate is censored at the applicable tested limit</a:t>
            </a:r>
          </a:p>
          <a:p>
            <a:pPr/>
            <a:r>
              <a:rPr sz="2000">
                <a:latin typeface="Times New Roman"/>
              </a:rPr>
              <a:t>4 compound estimates are censored; cell counts and qualifications remain in the table</a:t>
            </a:r>
          </a:p>
          <a:p>
            <a:pPr/>
            <a:r>
              <a:rPr sz="2000">
                <a:latin typeface="Times New Roman"/>
              </a:rPr>
              <a:t>0 compounds carry a recording flag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Chemistry read-across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Feldorune dropped the most strongly basic side chain after reproducible hERG inhibition in the confirmatory run</a:t>
            </a:r>
          </a:p>
          <a:p>
            <a:pPr/>
            <a:r>
              <a:rPr sz="1800">
                <a:latin typeface="Times New Roman"/>
              </a:rPr>
              <a:t>This supports the chemistry selection decision; the table alone does not establish side-chain causality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Other members of the screening set also inhibit hERG</a:t>
            </a:r>
          </a:p>
          <a:p>
            <a:pPr/>
            <a:r>
              <a:rPr sz="1800">
                <a:latin typeface="Times New Roman"/>
              </a:rPr>
              <a:t>Keep the screening decision separate from a mechanistic or clinical safety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FT09 indazole screening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Open points before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Confirm the censoring footnote wording</a:t>
            </a:r>
          </a:p>
          <a:p>
            <a:pPr/>
            <a:r>
              <a:rPr sz="2000">
                <a:latin typeface="Times New Roman"/>
              </a:rPr>
              <a:t>Align the control table with the released version</a:t>
            </a:r>
          </a:p>
          <a:p>
            <a:pPr/>
            <a:r>
              <a:rPr sz="2000">
                <a:latin typeface="Times New Roman"/>
              </a:rPr>
              <a:t>Add the series identifier SER09 to the title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Brindlewythe Biosciences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FT09 indazole cardiac counterscreen (readout v3)</dc:title>
  <dc:subject>hERG counterscreen readout for Feldorune Therapeutics BV, BW18_0225</dc:subject>
  <dc:creator>Martin Ellerscombe</dc:creator>
  <cp:keywords>hERG; counterscreen; E-4031; FT09; Feldorune</cp:keywords>
  <dc:description>generated using python-pptx</dc:description>
  <cp:lastModifiedBy>Martin Ellerscombe</cp:lastModifiedBy>
  <cp:revision>13</cp:revision>
  <dcterms:created xsi:type="dcterms:W3CDTF">2018-07-23T10:41:00Z</dcterms:created>
  <dcterms:modified xsi:type="dcterms:W3CDTF">2018-07-23T13:53:00Z</dcterms:modified>
  <cp:category/>
</cp:coreProperties>
</file>