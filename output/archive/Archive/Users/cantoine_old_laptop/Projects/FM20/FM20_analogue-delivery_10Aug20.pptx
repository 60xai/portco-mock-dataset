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C. Antoine: keep this with the FM20 compound cards; it is the version used for the delivery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reminder: do not leave the impurity reference behind when splitting the analogue set for dispatch. Check the compound-card link first. — C. Antoine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C. Antoine: final delivery copy, 10 Aug 2020. Leave the chemistry notes with this file so the route can be picked up without reconstructing the laptop folders.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FM20: analogue delivery and alkylation 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Farnovessa Medicines | VD-20-028 | 10 Aug 2020
C. Antoine | Personal working copy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Delivery accepted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18 imidazolidinones delivered.</a:t>
            </a:r>
          </a:p>
          <a:p>
            <a:pPr/>
            <a:r>
              <a:rPr sz="2000">
                <a:latin typeface="Arial"/>
              </a:rPr>
              <a:t>The alkylation route favoured the desired substitution site.</a:t>
            </a:r>
          </a:p>
          <a:p>
            <a:pPr/>
            <a:r>
              <a:rPr sz="2000">
                <a:latin typeface="Arial"/>
              </a:rPr>
              <a:t>Farnovessa Medicines accepted the analogue set with an impurity reference.</a:t>
            </a:r>
          </a:p>
          <a:p>
            <a:pPr/>
            <a:r>
              <a:rPr sz="2000">
                <a:latin typeface="Arial"/>
              </a:rPr>
              <a:t>This copy keeps my handover notes alongside the client readout.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Programme and delivery basis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324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>
                    <a:solidFill>
                      <a:srgbClr val="324C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VD-20-028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Farnovessa Medicines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Compounds 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18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Series / chemotype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Farnovessa imidazolidinone series 20 (Imidazolidinone)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Assays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Custom synthesis and analogue preparation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Turnaround (calendar 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133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GBP 43,500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Delivered material and release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Compound</a:t>
                      </a:r>
                    </a:p>
                  </a:txBody>
                  <a:tcPr>
                    <a:solidFill>
                      <a:srgbClr val="324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Yield (%)</a:t>
                      </a:r>
                    </a:p>
                  </a:txBody>
                  <a:tcPr>
                    <a:solidFill>
                      <a:srgbClr val="324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HPLC purity (UV area %, 254 nm)</a:t>
                      </a:r>
                    </a:p>
                  </a:txBody>
                  <a:tcPr>
                    <a:solidFill>
                      <a:srgbClr val="324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Amount (mg)</a:t>
                      </a:r>
                    </a:p>
                  </a:txBody>
                  <a:tcPr>
                    <a:solidFill>
                      <a:srgbClr val="324C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FM20-02000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FM20-02010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FM20-02018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FM20-02022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FM20-02046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FM20-02048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FM20-02052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FM20-02096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FM20-02106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FM20-02114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FM20-02120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FM20-02124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Isolated members of the FM20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4337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Alkylation-site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The route question was where the alkyl group would be installed.</a:t>
            </a:r>
          </a:p>
          <a:p>
            <a:pPr/>
            <a:r>
              <a:rPr sz="1800">
                <a:latin typeface="Arial"/>
              </a:rPr>
              <a:t>Desired substitution was favoured in the selected sequence.</a:t>
            </a:r>
          </a:p>
          <a:p>
            <a:pPr/>
            <a:r>
              <a:rPr sz="1800">
                <a:latin typeface="Arial"/>
              </a:rPr>
              <a:t>Keep site assignment separate from the appearance of a clean chromatogram.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The delivered structures are isolated compounds.</a:t>
            </a:r>
          </a:p>
          <a:p>
            <a:pPr/>
            <a:r>
              <a:rPr sz="1800">
                <a:latin typeface="Arial"/>
              </a:rPr>
              <a:t>The impurity reference supports recognition of the competing material.</a:t>
            </a:r>
          </a:p>
          <a:p>
            <a:pPr/>
            <a:r>
              <a:rPr sz="1800">
                <a:latin typeface="Arial"/>
              </a:rPr>
              <a:t>No site-selectivity ratio is quoted in this readout.</a:t>
            </a:r>
          </a:p>
          <a:p>
            <a:pPr/>
            <a:r>
              <a:rPr sz="1800">
                <a:latin typeface="Arial"/>
              </a:rPr>
              <a:t>Do not turn the route observation into a protease-inhibition claim.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Recovery through late-stage diversification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Released material: UV purity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Impurity reference travels with the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Retain the reference identity with the delivery paperwork.</a:t>
            </a:r>
          </a:p>
          <a:p>
            <a:pPr/>
            <a:r>
              <a:rPr sz="2000">
                <a:latin typeface="Arial"/>
              </a:rPr>
              <a:t>Use the reference when comparing subsequent alkylation preparations.</a:t>
            </a:r>
          </a:p>
          <a:p>
            <a:pPr/>
            <a:r>
              <a:rPr sz="2000">
                <a:latin typeface="Arial"/>
              </a:rPr>
              <a:t>The reference is supporting material, not a desired analogue.</a:t>
            </a:r>
          </a:p>
          <a:p>
            <a:pPr/>
            <a:r>
              <a:rPr sz="2000">
                <a:latin typeface="Arial"/>
              </a:rPr>
              <a:t>Acceptance of the set does not remove the need to recognise the competing product.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Handover before archiving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Christiane Antoine: working route notes and analogue context.</a:t>
            </a:r>
          </a:p>
          <a:p>
            <a:pPr/>
            <a:r>
              <a:rPr sz="1800">
                <a:latin typeface="Arial"/>
              </a:rPr>
              <a:t>Hassan Darwish: follow-on synthetic route questions.</a:t>
            </a:r>
          </a:p>
          <a:p>
            <a:pPr/>
            <a:r>
              <a:rPr sz="1800">
                <a:latin typeface="Arial"/>
              </a:rPr>
              <a:t>Clara Fenwick: released material and reference linkage.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Ruth Calderwood: next analogue priorities.</a:t>
            </a:r>
          </a:p>
          <a:p>
            <a:pPr/>
            <a:r>
              <a:rPr sz="1800">
                <a:latin typeface="Arial"/>
              </a:rPr>
              <a:t>Preserve the distinction between desired-site product and impurity reference.</a:t>
            </a:r>
          </a:p>
          <a:p>
            <a:pPr/>
            <a:r>
              <a:rPr sz="1800">
                <a:latin typeface="Arial"/>
              </a:rPr>
              <a:t>Use mg from the delivery register for allocation; do not assume equal stock.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Next analogue: retain the successful site preference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Use the accepted alkylation sequence as the initial route scout.</a:t>
            </a:r>
          </a:p>
          <a:p>
            <a:pPr/>
            <a:r>
              <a:rPr sz="2000">
                <a:latin typeface="Arial"/>
              </a:rPr>
              <a:t>Check site assignment again when the substituent changes.</a:t>
            </a:r>
          </a:p>
          <a:p>
            <a:pPr/>
            <a:r>
              <a:rPr sz="2000">
                <a:latin typeface="Arial"/>
              </a:rPr>
              <a:t>Keep the impurity reference available for comparison.</a:t>
            </a:r>
          </a:p>
          <a:p>
            <a:pPr/>
            <a:r>
              <a:rPr sz="2000">
                <a:latin typeface="Arial"/>
              </a:rPr>
              <a:t>Close VD-20-028 with the accepted delivery; future structures remain proposals.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Vellacombe Discovery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FM20: analogue delivery and alkylation site</dc:title>
  <dc:subject>PRJ0023 | Route scout and delivery</dc:subject>
  <dc:creator>Christiane Antoine</dc:creator>
  <cp:keywords>medicinal chemistry; route gate; isolated material</cp:keywords>
  <dc:description>generated using python-pptx</dc:description>
  <cp:lastModifiedBy>Christiane Antoine</cp:lastModifiedBy>
  <cp:revision>3</cp:revision>
  <dcterms:created xsi:type="dcterms:W3CDTF">2020-08-10T10:23:00Z</dcterms:created>
  <dcterms:modified xsi:type="dcterms:W3CDTF">2020-08-10T16:42:00Z</dcterms:modified>
  <cp:category/>
</cp:coreProperties>
</file>