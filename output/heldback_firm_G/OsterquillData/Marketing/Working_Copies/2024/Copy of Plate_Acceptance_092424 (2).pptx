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NK: Lucia asked for the failed-plate route to be first, not last. Move it before the walk-through if there 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KM: The vehicle range wording is from the old SOP. Confirm with Lucia before this version is reused.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Plate acceptance and control validity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In vitro assay-control training | Working copy 09/24/2024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Purpose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Who signs off a plate before its data are used</a:t>
            </a:r>
          </a:p>
          <a:p>
            <a:pPr/>
            <a:r>
              <a:rPr sz="2000">
                <a:latin typeface="Times New Roman"/>
              </a:rPr>
              <a:t>What makes a control valid for each in vitro package</a:t>
            </a:r>
          </a:p>
          <a:p>
            <a:pPr/>
            <a:r>
              <a:rPr sz="2000">
                <a:latin typeface="Times New Roman"/>
              </a:rPr>
              <a:t>What to do when a plate fails, and who has to be told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Control validity: the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Every plate carries its own positive and negative controls</a:t>
            </a:r>
          </a:p>
          <a:p>
            <a:pPr/>
            <a:r>
              <a:rPr sz="2000">
                <a:latin typeface="Times New Roman"/>
              </a:rPr>
              <a:t>Control validity is judged against the criteria in the study plan, not on the day</a:t>
            </a:r>
          </a:p>
          <a:p>
            <a:pPr lvl="1"/>
            <a:r>
              <a:rPr sz="1700">
                <a:latin typeface="Times New Roman"/>
              </a:rPr>
              <a:t>Criteria are fixed before the first plate is read</a:t>
            </a:r>
          </a:p>
          <a:p>
            <a:pPr/>
            <a:r>
              <a:rPr sz="2000">
                <a:latin typeface="Times New Roman"/>
              </a:rPr>
              <a:t>A plate with an invalid control is not used for a potency or safety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Packages and their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Cytotoxicity screen</a:t>
            </a:r>
          </a:p>
          <a:p>
            <a:pPr lvl="1"/>
            <a:r>
              <a:rPr sz="1500">
                <a:latin typeface="Times New Roman"/>
              </a:rPr>
              <a:t>Vehicle and cell-free wells on every plate</a:t>
            </a:r>
          </a:p>
          <a:p>
            <a:pPr lvl="1"/>
            <a:r>
              <a:rPr sz="1500">
                <a:latin typeface="Times New Roman"/>
              </a:rPr>
              <a:t>Reference cytotoxic agent per run</a:t>
            </a:r>
          </a:p>
          <a:p>
            <a:pPr/>
            <a:r>
              <a:rPr sz="1800">
                <a:latin typeface="Times New Roman"/>
              </a:rPr>
              <a:t>Mutation assay</a:t>
            </a:r>
          </a:p>
          <a:p>
            <a:pPr lvl="1"/>
            <a:r>
              <a:rPr sz="1500">
                <a:latin typeface="Times New Roman"/>
              </a:rPr>
              <a:t>Strain-specific positive controls with and without S9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Micronucleus assessment</a:t>
            </a:r>
          </a:p>
          <a:p>
            <a:pPr lvl="1"/>
            <a:r>
              <a:rPr sz="1500">
                <a:latin typeface="Times New Roman"/>
              </a:rPr>
              <a:t>Vehicle and reference clastogen per culture</a:t>
            </a:r>
          </a:p>
          <a:p>
            <a:pPr lvl="1"/>
            <a:r>
              <a:rPr sz="1500">
                <a:latin typeface="Times New Roman"/>
              </a:rPr>
              <a:t>Scoring only on valid cultures</a:t>
            </a:r>
          </a:p>
          <a:p>
            <a:pPr/>
            <a:r>
              <a:rPr sz="1800">
                <a:latin typeface="Times New Roman"/>
              </a:rPr>
              <a:t>hERG and CYP panels</a:t>
            </a:r>
          </a:p>
          <a:p>
            <a:pPr lvl="1"/>
            <a:r>
              <a:rPr sz="1500">
                <a:latin typeface="Times New Roman"/>
              </a:rPr>
              <a:t>Reference inhibitor on every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Plate acceptance on the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Check the vehicle wells against the range in the study plan before reading the test wells</a:t>
            </a:r>
          </a:p>
          <a:p>
            <a:pPr/>
            <a:r>
              <a:rPr sz="2000">
                <a:latin typeface="Times New Roman"/>
              </a:rPr>
              <a:t>Check the reference compound response against its own range</a:t>
            </a:r>
          </a:p>
          <a:p>
            <a:pPr/>
            <a:r>
              <a:rPr sz="2000">
                <a:latin typeface="Times New Roman"/>
              </a:rPr>
              <a:t>Record the plate ID and the reader settings on the observation sheet</a:t>
            </a:r>
          </a:p>
          <a:p>
            <a:pPr lvl="1"/>
            <a:r>
              <a:rPr sz="1700">
                <a:latin typeface="Times New Roman"/>
              </a:rPr>
              <a:t>Initials and date on every printed plate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Failed plate route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647" y="1280160"/>
            <a:ext cx="16764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What goes in the study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Plate acceptance decision and who made it</a:t>
            </a:r>
          </a:p>
          <a:p>
            <a:pPr/>
            <a:r>
              <a:rPr sz="2000">
                <a:latin typeface="Times New Roman"/>
              </a:rPr>
              <a:t>Any repeat plate, with the reason</a:t>
            </a:r>
          </a:p>
          <a:p>
            <a:pPr/>
            <a:r>
              <a:rPr sz="2000">
                <a:latin typeface="Times New Roman"/>
              </a:rPr>
              <a:t>Study amendment reference if the criteria changed during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542F39"/>
                </a:solidFill>
                <a:latin typeface="Arial"/>
              </a:rP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Kenji Morita, Scientist (mutagenicity)</a:t>
            </a:r>
          </a:p>
          <a:p>
            <a:pPr/>
            <a:r>
              <a:rPr sz="2000">
                <a:latin typeface="Times New Roman"/>
              </a:rPr>
              <a:t>Rachel Okafor, Toxicology Study Director</a:t>
            </a:r>
          </a:p>
          <a:p>
            <a:pPr/>
            <a:r>
              <a:rPr sz="2000">
                <a:latin typeface="Times New Roman"/>
              </a:rPr>
              <a:t>Lucia Moretti, GLP Quality Assurance and Archive Lead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4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Osterquill Toxicology Inc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Osterquill Toxicology Inc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acceptance and control validity (working copy)</dc:title>
  <dc:subject>Assay-control training</dc:subject>
  <dc:creator>Kenji Morita</dc:creator>
  <cp:keywords>control validity; plate acceptance; in vitro; training</cp:keywords>
  <dc:description>generated using python-pptx</dc:description>
  <cp:lastModifiedBy>Kenji Morita</cp:lastModifiedBy>
  <cp:revision>7</cp:revision>
  <dcterms:created xsi:type="dcterms:W3CDTF">2024-09-24T10:23:00Z</dcterms:created>
  <dcterms:modified xsi:type="dcterms:W3CDTF">2024-09-24T15:41:00Z</dcterms:modified>
  <cp:category/>
</cp:coreProperties>
</file>