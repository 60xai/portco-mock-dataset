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KM: Brindlewythe plate acceptance wording retained for discussion. Lucia: map acceptance decisions to Osterquill control validity and the investigation plan before local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KM: The vehicle range wording is from the old SOP. Confirm with Lucia before this version is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Plate acceptance and control validity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Copy of Brindlewythe assay-control training | Working copy 09/24/2024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Purpose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Who signs off a plate before its data are used</a:t>
            </a:r>
          </a:p>
          <a:p>
            <a:pPr/>
            <a:r>
              <a:rPr sz="2000">
                <a:latin typeface="Times New Roman"/>
              </a:rPr>
              <a:t>What makes a control valid for each in vitro package</a:t>
            </a:r>
          </a:p>
          <a:p>
            <a:pPr/>
            <a:r>
              <a:rPr sz="2000">
                <a:latin typeface="Times New Roman"/>
              </a:rPr>
              <a:t>What to do when a plate fails, and who has to be told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Control validity: 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Each assay run includes the controls required by its approved investigation plan or SOP</a:t>
            </a:r>
          </a:p>
          <a:p>
            <a:pPr/>
            <a:r>
              <a:rPr sz="2000">
                <a:latin typeface="Times New Roman"/>
              </a:rPr>
              <a:t>Control validity is judged against criteria fixed before results are reviewed</a:t>
            </a:r>
          </a:p>
          <a:p>
            <a:pPr lvl="1"/>
            <a:r>
              <a:rPr sz="1700">
                <a:latin typeface="Times New Roman"/>
              </a:rPr>
              <a:t>Plate acceptance applies to plate assays; culture and electrophysiology records have their own acceptance checks</a:t>
            </a:r>
          </a:p>
          <a:p>
            <a:pPr/>
            <a:r>
              <a:rPr sz="2000">
                <a:latin typeface="Times New Roman"/>
              </a:rPr>
              <a:t>Data from a run with invalid controls are not used for a safety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Packages and their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Cytotoxicity screen</a:t>
            </a:r>
          </a:p>
          <a:p>
            <a:pPr lvl="1"/>
            <a:r>
              <a:rPr sz="1500">
                <a:latin typeface="Times New Roman"/>
              </a:rPr>
              <a:t>Vehicle and cell-free wells on every plate</a:t>
            </a:r>
          </a:p>
          <a:p>
            <a:pPr lvl="1"/>
            <a:r>
              <a:rPr sz="1500">
                <a:latin typeface="Times New Roman"/>
              </a:rPr>
              <a:t>Reference cytotoxic agent per run</a:t>
            </a:r>
          </a:p>
          <a:p>
            <a:pPr/>
            <a:r>
              <a:rPr sz="1800">
                <a:latin typeface="Times New Roman"/>
              </a:rPr>
              <a:t>Mutation assay</a:t>
            </a:r>
          </a:p>
          <a:p>
            <a:pPr lvl="1"/>
            <a:r>
              <a:rPr sz="1500">
                <a:latin typeface="Times New Roman"/>
              </a:rPr>
              <a:t>Strain-specific positive controls with and without S9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Micronucleus assessment</a:t>
            </a:r>
          </a:p>
          <a:p>
            <a:pPr lvl="1"/>
            <a:r>
              <a:rPr sz="1500">
                <a:latin typeface="Times New Roman"/>
              </a:rPr>
              <a:t>Concurrent vehicle and appropriate positive controls; assess cytotoxicity and scoring eligibility</a:t>
            </a:r>
          </a:p>
          <a:p>
            <a:pPr/>
            <a:r>
              <a:rPr sz="1800">
                <a:latin typeface="Times New Roman"/>
              </a:rPr>
              <a:t>hERG and CYP panels</a:t>
            </a:r>
          </a:p>
          <a:p>
            <a:pPr lvl="1"/>
            <a:r>
              <a:rPr sz="1500">
                <a:latin typeface="Times New Roman"/>
              </a:rPr>
              <a:t>Reference response and assay-specific suitability checks; hERG patch-clamp records are not plate-reader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Plate acceptance on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Check the vehicle wells against the range in the study plan before reading the test wells</a:t>
            </a:r>
          </a:p>
          <a:p>
            <a:pPr/>
            <a:r>
              <a:rPr sz="2000">
                <a:latin typeface="Times New Roman"/>
              </a:rPr>
              <a:t>Check the reference compound response against its own range</a:t>
            </a:r>
          </a:p>
          <a:p>
            <a:pPr/>
            <a:r>
              <a:rPr sz="2000">
                <a:latin typeface="Times New Roman"/>
              </a:rPr>
              <a:t>Record the plate ID and the reader settings on the observation sheet</a:t>
            </a:r>
          </a:p>
          <a:p>
            <a:pPr lvl="1"/>
            <a:r>
              <a:rPr sz="1700">
                <a:latin typeface="Times New Roman"/>
              </a:rPr>
              <a:t>Initials and date on every printed plate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Failed plate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314" y="1280160"/>
            <a:ext cx="1671066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What goes in the study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Plate acceptance / control-validity decision and responsible scientist</a:t>
            </a:r>
          </a:p>
          <a:p>
            <a:pPr/>
            <a:r>
              <a:rPr sz="2000">
                <a:latin typeface="Times New Roman"/>
              </a:rPr>
              <a:t>Failed run and any repeat, with the reason; retain all original observations</a:t>
            </a:r>
          </a:p>
          <a:p>
            <a:pPr/>
            <a:r>
              <a:rPr sz="2000">
                <a:latin typeface="Times New Roman"/>
              </a:rPr>
              <a:t>Record departures as deviations; prospective plan changes require an authorised amendment, never retrospective relaxation of acceptance criteria</a:t>
            </a:r>
          </a:p>
          <a:p>
            <a:pPr/>
            <a:r>
              <a:rPr sz="2000">
                <a:latin typeface="Times New Roman"/>
              </a:rPr>
              <a:t>Exploratory in vitro results carry their actual quality status; GLP conclusions require the applicable approved plan and QA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542F39"/>
                </a:solidFill>
                <a:latin typeface="Arial"/>
              </a:rPr>
              <a:t>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Kenji Morita, genetic toxicology scientist</a:t>
            </a:r>
          </a:p>
          <a:p>
            <a:pPr/>
            <a:r>
              <a:rPr sz="2000">
                <a:latin typeface="Times New Roman"/>
              </a:rPr>
              <a:t>Rachel Okafor, Toxicology Study Director</a:t>
            </a:r>
          </a:p>
          <a:p>
            <a:pPr/>
            <a:r>
              <a:rPr sz="2000">
                <a:latin typeface="Times New Roman"/>
              </a:rPr>
              <a:t>Lucia Moretti, GLP Quality Assurance and Archive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Osterquill Toxicology Inc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Osterquill Toxicology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 acceptance and control validity (working copy)</dc:title>
  <dc:subject>Assay-control training</dc:subject>
  <dc:creator>Kenji Morita</dc:creator>
  <cp:keywords>control validity; plate acceptance; in vitro; training</cp:keywords>
  <dc:description>generated using python-pptx</dc:description>
  <cp:lastModifiedBy>Kenji Morita</cp:lastModifiedBy>
  <cp:revision>7</cp:revision>
  <dcterms:created xsi:type="dcterms:W3CDTF">2024-09-24T10:23:00Z</dcterms:created>
  <dcterms:modified xsi:type="dcterms:W3CDTF">2024-09-24T15:41:00Z</dcterms:modified>
  <cp:category/>
</cp:coreProperties>
</file>