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542F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31520" y="2057400"/>
            <a:ext cx="10728655" cy="1463040"/>
          </a:xfrm>
        </p:spPr>
        <p:txBody>
          <a:bodyPr/>
          <a:lstStyle/>
          <a:p>
            <a:r>
              <a:rPr sz="4000" b="1">
                <a:solidFill>
                  <a:srgbClr val="FFFFFF"/>
                </a:solidFill>
                <a:latin typeface="Arial"/>
              </a:rPr>
              <a:t>Safety portfolio and investigation pathways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31520" y="3611880"/>
            <a:ext cx="10728655" cy="1097280"/>
          </a:xfrm>
        </p:spPr>
        <p:txBody>
          <a:bodyPr/>
          <a:lstStyle/>
          <a:p>
            <a:r>
              <a:rPr sz="2000">
                <a:solidFill>
                  <a:srgbClr val="EBEBEB"/>
                </a:solidFill>
                <a:latin typeface="Times New Roman"/>
              </a:rPr>
              <a:t>Osterquill Toxicology Inc | Portland | 05/19/2025
Dr N. Takamori, Head of Toxicology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542F39"/>
                </a:solidFill>
                <a:latin typeface="Arial"/>
              </a:rPr>
              <a:t>Start with the decision the package must support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Times New Roman"/>
              </a:rPr>
              <a:t>Early chemistry triage, dose selection and regulated safety conclusions require different investigation designs.</a:t>
            </a:r>
          </a:p>
          <a:p>
            <a:pPr/>
            <a:r>
              <a:rPr sz="2000">
                <a:latin typeface="Times New Roman"/>
              </a:rPr>
              <a:t>Define the compliance scope before accepting test articles.</a:t>
            </a:r>
          </a:p>
          <a:p>
            <a:pPr/>
            <a:r>
              <a:rPr sz="2000">
                <a:latin typeface="Times New Roman"/>
              </a:rPr>
              <a:t>Control validity, animal welfare oversight and traceability apply throughout; a non-GLP screen does not become GLP through report formatting.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542F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Times New Roman"/>
              </a:rPr>
              <a:t>Osterquill Toxicology Inc | Confidential  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542F39"/>
                </a:solidFill>
                <a:latin typeface="Arial"/>
              </a:rPr>
              <a:t>Exploratory versus regulated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457200" y="1280160"/>
            <a:ext cx="5547207" cy="4937760"/>
          </a:xfrm>
        </p:spPr>
        <p:txBody>
          <a:bodyPr wrap="square">
            <a:noAutofit/>
          </a:bodyPr>
          <a:lstStyle/>
          <a:p>
            <a:pPr/>
            <a:r>
              <a:rPr sz="1800">
                <a:latin typeface="Times New Roman"/>
              </a:rPr>
              <a:t>Non-GLP in vitro screens rank a test article cohort.</a:t>
            </a:r>
          </a:p>
          <a:p>
            <a:pPr/>
            <a:r>
              <a:rPr sz="1800">
                <a:latin typeface="Times New Roman"/>
              </a:rPr>
              <a:t>Exploratory rat range finding informs dose selection and tolerability.</a:t>
            </a:r>
          </a:p>
          <a:p>
            <a:pPr/>
            <a:r>
              <a:rPr sz="1800">
                <a:latin typeface="Times New Roman"/>
              </a:rPr>
              <a:t>Limit conclusions to the tested conditions and available exposure.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6187287" y="1280160"/>
            <a:ext cx="5547207" cy="4937760"/>
          </a:xfrm>
        </p:spPr>
        <p:txBody>
          <a:bodyPr wrap="square">
            <a:noAutofit/>
          </a:bodyPr>
          <a:lstStyle/>
          <a:p>
            <a:pPr/>
            <a:r>
              <a:rPr sz="1800">
                <a:latin typeface="Times New Roman"/>
              </a:rPr>
              <a:t>GLP investigations follow an approved plan and controlled amendments.</a:t>
            </a:r>
          </a:p>
          <a:p>
            <a:pPr/>
            <a:r>
              <a:rPr sz="1800">
                <a:latin typeface="Times New Roman"/>
              </a:rPr>
              <a:t>Independent QA examines conduct and reporting.</a:t>
            </a:r>
          </a:p>
          <a:p>
            <a:pPr/>
            <a:r>
              <a:rPr sz="1800">
                <a:latin typeface="Times New Roman"/>
              </a:rPr>
              <a:t>The signed report identifies compliance scope and departures.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542F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Times New Roman"/>
              </a:rPr>
              <a:t>Osterquill Toxicology Inc | Confidential  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542F39"/>
                </a:solidFill>
                <a:latin typeface="Arial"/>
              </a:rPr>
              <a:t>hERG (IKr) safety pharmacology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Times New Roman"/>
              </a:rPr>
              <a:t>Whole-cell patch clamp measures concentration-dependent current inhibition.</a:t>
            </a:r>
          </a:p>
          <a:p>
            <a:pPr/>
            <a:r>
              <a:rPr sz="2000">
                <a:latin typeface="Times New Roman"/>
              </a:rPr>
              <a:t>Report potency in µM with evaluable concentration limits and cell-level qualifications.</a:t>
            </a:r>
          </a:p>
          <a:p>
            <a:pPr/>
            <a:r>
              <a:rPr sz="2000">
                <a:latin typeface="Times New Roman"/>
              </a:rPr>
              <a:t>Reference-control acceptance precedes test article ranking.</a:t>
            </a:r>
          </a:p>
          <a:p>
            <a:pPr/>
            <a:r>
              <a:rPr sz="2000">
                <a:latin typeface="Times New Roman"/>
              </a:rPr>
              <a:t>Interpret in relation to unbound exposure; screening alone cannot establish a clinical safety margin.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542F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Times New Roman"/>
              </a:rPr>
              <a:t>Osterquill Toxicology Inc | Confidential  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542F39"/>
                </a:solidFill>
                <a:latin typeface="Arial"/>
              </a:rPr>
              <a:t>CYP safety interaction panel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Times New Roman"/>
              </a:rPr>
              <a:t>Evaluate inhibition across CYP1A2, CYP2C9, CYP2C19, CYP2D6 and CYP3A4.</a:t>
            </a:r>
          </a:p>
          <a:p>
            <a:pPr/>
            <a:r>
              <a:rPr sz="2000">
                <a:latin typeface="Times New Roman"/>
              </a:rPr>
              <a:t>A fixed-concentration result identifies follow-up needs.</a:t>
            </a:r>
          </a:p>
          <a:p>
            <a:pPr/>
            <a:r>
              <a:rPr sz="2000">
                <a:latin typeface="Times New Roman"/>
              </a:rPr>
              <a:t>CYP3A4 follow-up IC50 resolves concentration dependence for selected test articles.</a:t>
            </a:r>
          </a:p>
          <a:p>
            <a:pPr/>
            <a:r>
              <a:rPr sz="2000">
                <a:latin typeface="Times New Roman"/>
              </a:rPr>
              <a:t>Record probe, reference control and historical comparison; do not infer mechanism from the initial panel.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542F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Times New Roman"/>
              </a:rPr>
              <a:t>Osterquill Toxicology Inc | Confidential  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542F39"/>
                </a:solidFill>
                <a:latin typeface="Arial"/>
              </a:rPr>
              <a:t>HepG2 viability screen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Times New Roman"/>
              </a:rPr>
              <a:t>ATP-content response provides a cellular viability endpoint.</a:t>
            </a:r>
          </a:p>
          <a:p>
            <a:pPr/>
            <a:r>
              <a:rPr sz="2000">
                <a:latin typeface="Times New Roman"/>
              </a:rPr>
              <a:t>Exposure duration, solvent and concentration coverage accompany each result.</a:t>
            </a:r>
          </a:p>
          <a:p>
            <a:pPr/>
            <a:r>
              <a:rPr sz="2000">
                <a:latin typeface="Times New Roman"/>
              </a:rPr>
              <a:t>Check assay interference before interpreting reduced signal as toxicity.</a:t>
            </a:r>
          </a:p>
          <a:p>
            <a:pPr/>
            <a:r>
              <a:rPr sz="2000">
                <a:latin typeface="Times New Roman"/>
              </a:rPr>
              <a:t>Use the screen to qualify later decisions, rather than extrapolating directly to whole-animal tolerability.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542F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Times New Roman"/>
              </a:rPr>
              <a:t>Osterquill Toxicology Inc | Confidential  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542F39"/>
                </a:solidFill>
                <a:latin typeface="Arial"/>
              </a:rPr>
              <a:t>Genetic toxicology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Times New Roman"/>
              </a:rPr>
              <a:t>Bacterial mutation assay with and without S9 addresses activation-dependent responses.</a:t>
            </a:r>
          </a:p>
          <a:p>
            <a:pPr/>
            <a:r>
              <a:rPr sz="2000">
                <a:latin typeface="Times New Roman"/>
              </a:rPr>
              <a:t>Mammalian-cell micronucleus assessment retains proliferation and cytotoxicity context.</a:t>
            </a:r>
          </a:p>
          <a:p>
            <a:pPr/>
            <a:r>
              <a:rPr sz="2000">
                <a:latin typeface="Times New Roman"/>
              </a:rPr>
              <a:t>Vehicle and positive controls must support each treatment condition.</a:t>
            </a:r>
          </a:p>
          <a:p>
            <a:pPr/>
            <a:r>
              <a:rPr sz="2000">
                <a:latin typeface="Times New Roman"/>
              </a:rPr>
              <a:t>Kenji Morita provides scientific interpretation; uncertain exposure-related findings require a defined repeat.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542F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Times New Roman"/>
              </a:rPr>
              <a:t>Osterquill Toxicology Inc | Confidential  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542F39"/>
                </a:solidFill>
                <a:latin typeface="Arial"/>
              </a:rPr>
              <a:t>Exploratory rat range finding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Times New Roman"/>
              </a:rPr>
              <a:t>Rat DRF and recovery supports selection of doses and observation schedules.</a:t>
            </a:r>
          </a:p>
          <a:p>
            <a:pPr/>
            <a:r>
              <a:rPr sz="2000">
                <a:latin typeface="Times New Roman"/>
              </a:rPr>
              <a:t>Express dose in mg/kg/day and retain dose-lot traceability.</a:t>
            </a:r>
          </a:p>
          <a:p>
            <a:pPr/>
            <a:r>
              <a:rPr sz="2000">
                <a:latin typeface="Times New Roman"/>
              </a:rPr>
              <a:t>Individual-animal identifiers remain visible in observations, weight changes and pathology links.</a:t>
            </a:r>
          </a:p>
          <a:p>
            <a:pPr/>
            <a:r>
              <a:rPr sz="2000">
                <a:latin typeface="Times New Roman"/>
              </a:rPr>
              <a:t>Exploratory findings guide design; they do not constitute a regulated GLP conclusion.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542F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Times New Roman"/>
              </a:rPr>
              <a:t>Osterquill Toxicology Inc | Confidential  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542F39"/>
                </a:solidFill>
                <a:latin typeface="Arial"/>
              </a:rPr>
              <a:t>Animal welfare before and during exposure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Times New Roman"/>
              </a:rPr>
              <a:t>Define welfare observations, intervention criteria and escalation responsibilities before dosing.</a:t>
            </a:r>
          </a:p>
          <a:p>
            <a:pPr/>
            <a:r>
              <a:rPr sz="2000">
                <a:latin typeface="Times New Roman"/>
              </a:rPr>
              <a:t>Promptly communicate a concerning observation to the responsible Study Director and designated welfare personnel.</a:t>
            </a:r>
          </a:p>
          <a:p>
            <a:pPr/>
            <a:r>
              <a:rPr sz="2000">
                <a:latin typeface="Times New Roman"/>
              </a:rPr>
              <a:t>Document the observation time, intervention and subsequent condition on the animal card.</a:t>
            </a:r>
          </a:p>
          <a:p>
            <a:pPr/>
            <a:r>
              <a:rPr sz="2000">
                <a:latin typeface="Times New Roman"/>
              </a:rPr>
              <a:t>Welfare action must not await the next scheduled QA gate.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542F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Times New Roman"/>
              </a:rPr>
              <a:t>Osterquill Toxicology Inc | Confidential  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542F39"/>
                </a:solidFill>
                <a:latin typeface="Arial"/>
              </a:rPr>
              <a:t>Control validity: a scientific release condition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Times New Roman"/>
              </a:rPr>
              <a:t>Define acceptance criteria before acquiring the test article measurements.</a:t>
            </a:r>
          </a:p>
          <a:p>
            <a:pPr/>
            <a:r>
              <a:rPr sz="2000">
                <a:latin typeface="Times New Roman"/>
              </a:rPr>
              <a:t>Retain rejected runs and explain repetition; present only accepted measurements as interpretable results.</a:t>
            </a:r>
          </a:p>
          <a:p>
            <a:pPr/>
            <a:r>
              <a:rPr sz="2000">
                <a:latin typeface="Times New Roman"/>
              </a:rPr>
              <a:t>Flag concentration limitations and interference alongside the result.</a:t>
            </a:r>
          </a:p>
          <a:p>
            <a:pPr/>
            <a:r>
              <a:rPr sz="2000">
                <a:latin typeface="Times New Roman"/>
              </a:rPr>
              <a:t>Do not suppress a qualification because a client needs a rapid decision.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542F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Times New Roman"/>
              </a:rPr>
              <a:t>Osterquill Toxicology Inc | Confidential  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542F39"/>
                </a:solidFill>
                <a:latin typeface="Arial"/>
              </a:rPr>
              <a:t>QA gates follow the investigation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542F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4963" y="1280160"/>
            <a:ext cx="1681768" cy="5029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Times New Roman"/>
              </a:rPr>
              <a:t>Osterquill Toxicology Inc | Confidential  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542F39"/>
                </a:solidFill>
                <a:latin typeface="Arial"/>
              </a:rPr>
              <a:t>Roles and independence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Times New Roman"/>
              </a:rPr>
              <a:t>Dr N. Takamori: portfolio oversight and scientific escalation.</a:t>
            </a:r>
          </a:p>
          <a:p>
            <a:pPr/>
            <a:r>
              <a:rPr sz="2000">
                <a:latin typeface="Times New Roman"/>
              </a:rPr>
              <a:t>Rachel Okafor: Toxicology Study Director; investigation conduct and conclusions.</a:t>
            </a:r>
          </a:p>
          <a:p>
            <a:pPr/>
            <a:r>
              <a:rPr sz="2000">
                <a:latin typeface="Times New Roman"/>
              </a:rPr>
              <a:t>Lucia Moretti: independent GLP Quality Assurance and archive control.</a:t>
            </a:r>
          </a:p>
          <a:p>
            <a:pPr/>
            <a:r>
              <a:rPr sz="2000">
                <a:latin typeface="Times New Roman"/>
              </a:rPr>
              <a:t>Kirsty Greenwood: sample management; Nathan Wade: pathology coordination.</a:t>
            </a:r>
          </a:p>
          <a:p>
            <a:pPr/>
            <a:r>
              <a:rPr sz="2000">
                <a:latin typeface="Times New Roman"/>
              </a:rPr>
              <a:t>Scientific authors resolve findings; QA retains independent reporting of its observations.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542F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Times New Roman"/>
              </a:rPr>
              <a:t>Osterquill Toxicology Inc | Confidential   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542F39"/>
                </a:solidFill>
                <a:latin typeface="Arial"/>
              </a:rPr>
              <a:t>Report and archive handover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Times New Roman"/>
              </a:rPr>
              <a:t>State the tested cohort, conditions, compliance scope and limitations early.</a:t>
            </a:r>
          </a:p>
          <a:p>
            <a:pPr/>
            <a:r>
              <a:rPr sz="2000">
                <a:latin typeface="Times New Roman"/>
              </a:rPr>
              <a:t>Link summary findings to observation sheets, animal cards and dose lots.</a:t>
            </a:r>
          </a:p>
          <a:p>
            <a:pPr/>
            <a:r>
              <a:rPr sz="2000">
                <a:latin typeface="Times New Roman"/>
              </a:rPr>
              <a:t>Retain original entries, amendments, control-validity evidence and report approval history.</a:t>
            </a:r>
          </a:p>
          <a:p>
            <a:pPr/>
            <a:r>
              <a:rPr sz="2000">
                <a:latin typeface="Times New Roman"/>
              </a:rPr>
              <a:t>Separate exploratory recommendations from signed regulated conclusions.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542F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Times New Roman"/>
              </a:rPr>
              <a:t>Osterquill Toxicology Inc | Confidential   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542F39"/>
                </a:solidFill>
                <a:latin typeface="Arial"/>
              </a:rPr>
              <a:t>Scope discussion with Osterquill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Times New Roman"/>
              </a:rPr>
              <a:t>Provide the intended decision, test article identity, available exposure information and material constraints.</a:t>
            </a:r>
          </a:p>
          <a:p>
            <a:pPr/>
            <a:r>
              <a:rPr sz="2000">
                <a:latin typeface="Times New Roman"/>
              </a:rPr>
              <a:t>Agree assay endpoints and the requested compliance scope before scheduling.</a:t>
            </a:r>
          </a:p>
          <a:p>
            <a:pPr/>
            <a:r>
              <a:rPr sz="2000">
                <a:latin typeface="Times New Roman"/>
              </a:rPr>
              <a:t>For in vivo work, establish dose rationale, welfare provisions and recovery objectives.</a:t>
            </a:r>
          </a:p>
          <a:p>
            <a:pPr/>
            <a:r>
              <a:rPr sz="2000">
                <a:latin typeface="Times New Roman"/>
              </a:rPr>
              <a:t>Dr N. Takamori and the responsible Study Director will define the investigation and QA gates.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542F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Times New Roman"/>
              </a:rPr>
              <a:t>Osterquill Toxicology Inc | Confidential    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LinksUpToDate>false</LinksUpToDate>
  <SharedDoc>false</SharedDoc>
  <HyperlinkBase/>
  <HyperlinksChanged>false</HyperlinksChanged>
  <Company>Osterquill Toxicology Inc</Company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Osterquill safety portfolio</dc:title>
  <dc:subject>Osterquill safety portfolio</dc:subject>
  <dc:creator>Naomi Takamori</dc:creator>
  <cp:keywords>Osterquill; control validity; safety</cp:keywords>
  <dc:description>generated using python-pptx</dc:description>
  <cp:lastModifiedBy>Naomi Takamori</cp:lastModifiedBy>
  <cp:revision>4</cp:revision>
  <dcterms:created xsi:type="dcterms:W3CDTF">2025-05-19T10:23:00Z</dcterms:created>
  <dcterms:modified xsi:type="dcterms:W3CDTF">2025-05-19T15:41:00Z</dcterms:modified>
  <cp:category/>
</cp:coreProperties>
</file>