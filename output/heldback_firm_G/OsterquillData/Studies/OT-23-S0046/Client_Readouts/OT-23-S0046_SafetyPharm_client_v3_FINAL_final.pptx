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v3 client copy: alternatives selected replaces earlier recommendation to consider alternatives; results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Dr N. Takamori presents the interpretation. v3 retains the panel extract for discussion; the condensed meeting copy may omit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42F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1520" y="2057400"/>
            <a:ext cx="10728655" cy="1463040"/>
          </a:xfrm>
        </p:spPr>
        <p:txBody>
          <a:bodyPr/>
          <a:lstStyle/>
          <a:p>
            <a:r>
              <a:rPr sz="4000" b="1">
                <a:solidFill>
                  <a:srgbClr val="FFFFFF"/>
                </a:solidFill>
                <a:latin typeface="Arial"/>
              </a:rPr>
              <a:t>AP02 aminopyrimidine regioisomer: integrated safety screen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1520" y="3611880"/>
            <a:ext cx="10728655" cy="1097280"/>
          </a:xfrm>
        </p:spPr>
        <p:txBody>
          <a:bodyPr/>
          <a:lstStyle/>
          <a:p>
            <a:r>
              <a:rPr sz="2000">
                <a:solidFill>
                  <a:srgbClr val="EBEBEB"/>
                </a:solidFill>
                <a:latin typeface="Times New Roman"/>
              </a:rPr>
              <a:t>OT-23-S0046 | Avernelwick Pharmaceuticals Ltd | 03/23/2023
Dr N. Takamori | Osterquill Toxicology Inc | v3 FINAL_final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542F39"/>
                </a:solidFill>
                <a:latin typeface="Arial"/>
              </a:rPr>
              <a:t>Client decision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Times New Roman"/>
              </a:rPr>
              <a:t>44 test articles evaluated in the non-GLP in vitro investigation.</a:t>
            </a:r>
          </a:p>
          <a:p>
            <a:pPr/>
            <a:r>
              <a:rPr sz="2000">
                <a:latin typeface="Times New Roman"/>
              </a:rPr>
              <a:t>Favourable cardiac profile retained, with a CYP-sensitive subseries; alternatives selected for follow-up.</a:t>
            </a:r>
          </a:p>
          <a:p>
            <a:pPr/>
            <a:r>
              <a:rPr sz="2000">
                <a:latin typeface="Times New Roman"/>
              </a:rPr>
              <a:t>Screening ranks test articles; it does not establish clinical safety or a GLP conclusion.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542F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Osterquill Toxicology Inc | Confidential 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542F39"/>
                </a:solidFill>
                <a:latin typeface="Arial"/>
              </a:rPr>
              <a:t>Scope and control validity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Times New Roman"/>
              </a:rPr>
              <a:t>Testing interval: 03/08/2023–03/23/2023; LIMS OQ/2023/000755.</a:t>
            </a:r>
          </a:p>
          <a:p>
            <a:pPr/>
            <a:r>
              <a:rPr sz="2000">
                <a:latin typeface="Times New Roman"/>
              </a:rPr>
              <a:t>E-4031 IC50 15 nM; acceptance interval 5–50 nM.</a:t>
            </a:r>
          </a:p>
          <a:p>
            <a:pPr/>
            <a:r>
              <a:rPr sz="2000">
                <a:latin typeface="Times New Roman"/>
              </a:rPr>
              <a:t>CYP control IC50s assessed against 0.5–2 times historical means.</a:t>
            </a:r>
          </a:p>
          <a:p>
            <a:pPr/>
            <a:r>
              <a:rPr sz="2000">
                <a:latin typeface="Times New Roman"/>
              </a:rPr>
              <a:t>No live-animal procedures were included; animal welfare oversight of the regulated portfolio is separate.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542F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Osterquill Toxicology Inc | Confidential 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542F39"/>
                </a:solidFill>
                <a:latin typeface="Arial"/>
              </a:rPr>
              <a:t>hERG (IKr) safety pharmacology: IC50 (µM)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542F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0732" y="1280160"/>
            <a:ext cx="8470231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Osterquill Toxicology Inc | Confidential 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542F39"/>
                </a:solidFill>
                <a:latin typeface="Arial"/>
              </a:rPr>
              <a:t>Cardiac distribution and qualifications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Times New Roman"/>
              </a:rPr>
              <a:t>0 below 1 µM; 19 between 1 and 10 µM; 25 at or above 10 µM.</a:t>
            </a:r>
          </a:p>
          <a:p>
            <a:pPr/>
            <a:r>
              <a:rPr sz="2000">
                <a:latin typeface="Times New Roman"/>
              </a:rPr>
              <a:t>Median IC50 12 µM; top concentration 30 µM.</a:t>
            </a:r>
          </a:p>
          <a:p>
            <a:pPr/>
            <a:r>
              <a:rPr sz="2000">
                <a:latin typeface="Times New Roman"/>
              </a:rPr>
              <a:t>4 censored estimates and 2 flagged entries require their observation-sheet qualifications.</a:t>
            </a:r>
          </a:p>
          <a:p>
            <a:pPr/>
            <a:r>
              <a:rPr sz="2000">
                <a:latin typeface="Times New Roman"/>
              </a:rPr>
              <a:t>Censored estimates are bounds, not fitted potencies; finite estimates require an exposure comparison.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542F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Osterquill Toxicology Inc | Confidential  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542F39"/>
                </a:solidFill>
                <a:latin typeface="Arial"/>
              </a:rPr>
              <a:t>CYP safety interaction panel: CYP3A4 inhibition at 10 µM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542F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0732" y="1280160"/>
            <a:ext cx="8470231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Osterquill Toxicology Inc | Confidential  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542F39"/>
                </a:solidFill>
                <a:latin typeface="Arial"/>
              </a:rPr>
              <a:t>CYP-sensitive test articles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Times New Roman"/>
              </a:rPr>
              <a:t>19 test articles exceeded 50% inhibition on at least one isoform.</a:t>
            </a:r>
          </a:p>
          <a:p>
            <a:pPr/>
            <a:r>
              <a:rPr sz="2000">
                <a:latin typeface="Times New Roman"/>
              </a:rPr>
              <a:t>CYP1A2 2; CYP2C9 3; CYP2C19 11; CYP2D6 8; CYP3A4 13.</a:t>
            </a:r>
          </a:p>
          <a:p>
            <a:pPr/>
            <a:r>
              <a:rPr sz="2000">
                <a:latin typeface="Times New Roman"/>
              </a:rPr>
              <a:t>CYP3A4 was most frequently flagged. Counts overlap and must not be summed.</a:t>
            </a:r>
          </a:p>
          <a:p>
            <a:pPr/>
            <a:r>
              <a:rPr sz="2000">
                <a:latin typeface="Times New Roman"/>
              </a:rPr>
              <a:t>The single-concentration panel does not establish inhibition mechanism.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542F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Osterquill Toxicology Inc | Confidential  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542F39"/>
                </a:solidFill>
                <a:latin typeface="Arial"/>
              </a:rPr>
              <a:t>Representative test article structures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542F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11277295" cy="433742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Osterquill Toxicology Inc | Confidential  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542F39"/>
                </a:solidFill>
                <a:latin typeface="Arial"/>
              </a:rPr>
              <a:t>CYP panel extract: compare the full fingerprint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542F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11277295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9549"/>
                <a:gridCol w="1879549"/>
                <a:gridCol w="1879549"/>
                <a:gridCol w="1879549"/>
                <a:gridCol w="1879549"/>
                <a:gridCol w="1879550"/>
              </a:tblGrid>
              <a:tr h="27432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Times New Roman"/>
                        </a:rPr>
                        <a:t>Compound</a:t>
                      </a:r>
                    </a:p>
                  </a:txBody>
                  <a:tcPr>
                    <a:solidFill>
                      <a:srgbClr val="542F3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Times New Roman"/>
                        </a:rPr>
                        <a:t>CYP1A2 (%)</a:t>
                      </a:r>
                    </a:p>
                  </a:txBody>
                  <a:tcPr>
                    <a:solidFill>
                      <a:srgbClr val="542F3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Times New Roman"/>
                        </a:rPr>
                        <a:t>CYP2C9 (%)</a:t>
                      </a:r>
                    </a:p>
                  </a:txBody>
                  <a:tcPr>
                    <a:solidFill>
                      <a:srgbClr val="542F3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Times New Roman"/>
                        </a:rPr>
                        <a:t>CYP2C19 (%)</a:t>
                      </a:r>
                    </a:p>
                  </a:txBody>
                  <a:tcPr>
                    <a:solidFill>
                      <a:srgbClr val="542F3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Times New Roman"/>
                        </a:rPr>
                        <a:t>CYP2D6 (%)</a:t>
                      </a:r>
                    </a:p>
                  </a:txBody>
                  <a:tcPr>
                    <a:solidFill>
                      <a:srgbClr val="542F3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Times New Roman"/>
                        </a:rPr>
                        <a:t>CYP3A4 (%)</a:t>
                      </a:r>
                    </a:p>
                  </a:txBody>
                  <a:tcPr>
                    <a:solidFill>
                      <a:srgbClr val="542F3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AP02-01400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58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AP02-01404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16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AP02-01406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-3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AP02-01412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98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AP02-01416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-6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7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AP02-01422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-0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AP02-01424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-4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-2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AP02-01428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36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Osterquill Toxicology Inc | Confidential  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542F39"/>
                </a:solidFill>
                <a:latin typeface="Arial"/>
              </a:rPr>
              <a:t>Handover and next decision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Times New Roman"/>
              </a:rPr>
              <a:t>Prioritize the selected branch or alternatives using both cardiac potency and CYP fingerprints.</a:t>
            </a:r>
          </a:p>
          <a:p>
            <a:pPr/>
            <a:r>
              <a:rPr sz="2000">
                <a:latin typeface="Times New Roman"/>
              </a:rPr>
              <a:t>Resolve flagged hERG entries before relying on rank; obtain concentration responses for CYP liabilities in proposed leads.</a:t>
            </a:r>
          </a:p>
          <a:p>
            <a:pPr/>
            <a:r>
              <a:rPr sz="2000">
                <a:latin typeface="Times New Roman"/>
              </a:rPr>
              <a:t>Compare assay potency with projected unbound exposure before progression.</a:t>
            </a:r>
          </a:p>
          <a:p>
            <a:pPr/>
            <a:r>
              <a:rPr sz="2000">
                <a:latin typeface="Times New Roman"/>
              </a:rPr>
              <a:t>Full tables and control documentation: OT-23-S0046_RPT_A_signed.pdf.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542F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Osterquill Toxicology Inc | Confidential   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LinksUpToDate>false</LinksUpToDate>
  <SharedDoc>false</SharedDoc>
  <HyperlinkBase/>
  <HyperlinksChanged>false</HyperlinksChanged>
  <Company>Osterquill Toxicology Inc</Company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OT-23-S0046 client readout v3 FINAL_final</dc:title>
  <dc:subject>OT-23-S0046 client readout v3 FINAL_final</dc:subject>
  <dc:creator>Naomi Takamori</dc:creator>
  <cp:keywords>Osterquill; control validity; safety</cp:keywords>
  <dc:description>generated using python-pptx</dc:description>
  <cp:lastModifiedBy>Naomi Takamori</cp:lastModifiedBy>
  <cp:revision>6</cp:revision>
  <dcterms:created xsi:type="dcterms:W3CDTF">2023-03-23T10:23:00Z</dcterms:created>
  <dcterms:modified xsi:type="dcterms:W3CDTF">2023-03-23T15:41:00Z</dcterms:modified>
  <cp:category/>
</cp:coreProperties>
</file>