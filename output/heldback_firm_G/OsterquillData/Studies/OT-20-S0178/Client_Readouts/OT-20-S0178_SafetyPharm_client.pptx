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low-liability branch to guide the next synthesis request; compare with projected unbound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N. Takamori presents the interpretation. Corvenlea (US) will use the low-liability branch to guide the next synthesis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CVL aminopyrimidine: integrated safety screen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OT-20-S0178 | Corvenlea (US) | 10/20/2020
Dr N. Takamori | Osterquill Toxicology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Client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40 test articles evaluated in the non-GLP in vitro investigation.</a:t>
            </a:r>
          </a:p>
          <a:p>
            <a:pPr/>
            <a:r>
              <a:rPr sz="2000">
                <a:latin typeface="Times New Roman"/>
              </a:rPr>
              <a:t>Low-liability progression branch identified alongside a basic-substituent hERG signal.</a:t>
            </a:r>
          </a:p>
          <a:p>
            <a:pPr/>
            <a:r>
              <a:rPr sz="2000">
                <a:latin typeface="Times New Roman"/>
              </a:rPr>
              <a:t>Screening ranks test articles; it does not establish clinical safety or a GLP conclusion.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Scope and control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Testing interval: 10/06/2020–10/20/2020; LIMS OQ/2020/002872.</a:t>
            </a:r>
          </a:p>
          <a:p>
            <a:pPr/>
            <a:r>
              <a:rPr sz="2000">
                <a:latin typeface="Times New Roman"/>
              </a:rPr>
              <a:t>E-4031 IC50 13 nM; acceptance interval 5–50 nM.</a:t>
            </a:r>
          </a:p>
          <a:p>
            <a:pPr/>
            <a:r>
              <a:rPr sz="2000">
                <a:latin typeface="Times New Roman"/>
              </a:rPr>
              <a:t>CYP control IC50s assessed against 0.5–2 times historical means.</a:t>
            </a:r>
          </a:p>
          <a:p>
            <a:pPr/>
            <a:r>
              <a:rPr sz="2000">
                <a:latin typeface="Times New Roman"/>
              </a:rPr>
              <a:t>No live-animal procedures were included; animal welfare oversight of the regulated portfolio is separate.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hERG (IKr) safety pharmacology: IC50 (µM)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Cardiac distribution and qualifications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0 below 1 µM; 25 between 1 and 10 µM; 15 at or above 10 µM.</a:t>
            </a:r>
          </a:p>
          <a:p>
            <a:pPr/>
            <a:r>
              <a:rPr sz="2000">
                <a:latin typeface="Times New Roman"/>
              </a:rPr>
              <a:t>Median IC50 8.8 µM; top concentration 30 µM.</a:t>
            </a:r>
          </a:p>
          <a:p>
            <a:pPr/>
            <a:r>
              <a:rPr sz="2000">
                <a:latin typeface="Times New Roman"/>
              </a:rPr>
              <a:t>4 censored estimates and 2 flagged entries require their observation-sheet qualifications.</a:t>
            </a:r>
          </a:p>
          <a:p>
            <a:pPr/>
            <a:r>
              <a:rPr sz="2000">
                <a:latin typeface="Times New Roman"/>
              </a:rPr>
              <a:t>Censored estimates are bounds, not fitted potencies; finite estimates require an exposure comparison.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CYP safety interaction panel: CYP2C9 inhibition at 10 µM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CYP-sensitive test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18 test articles exceeded 50% inhibition on at least one isoform.</a:t>
            </a:r>
          </a:p>
          <a:p>
            <a:pPr/>
            <a:r>
              <a:rPr sz="2000">
                <a:latin typeface="Times New Roman"/>
              </a:rPr>
              <a:t>CYP1A2 7; CYP2C9 13; CYP2C19 9; CYP2D6 3; CYP3A4 11.</a:t>
            </a:r>
          </a:p>
          <a:p>
            <a:pPr/>
            <a:r>
              <a:rPr sz="2000">
                <a:latin typeface="Times New Roman"/>
              </a:rPr>
              <a:t>CYP2C9 was most frequently flagged. Counts overlap and must not be summed.</a:t>
            </a:r>
          </a:p>
          <a:p>
            <a:pPr/>
            <a:r>
              <a:rPr sz="2000">
                <a:latin typeface="Times New Roman"/>
              </a:rPr>
              <a:t>The single-concentration panel does not establish inhibition mechanism.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Representative test article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CYP panel extract: compare the full fingerprint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CYP1A2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CYP2C9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CYP2C19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CYP2D6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CYP3A4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CVL-08810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CVL-08818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CVL-08824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CVL-08828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CVL-08834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CVL-08836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CVL-08840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CVL-08846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Handover and next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Prioritize the selected branch or alternatives using both cardiac potency and CYP fingerprints.</a:t>
            </a:r>
          </a:p>
          <a:p>
            <a:pPr/>
            <a:r>
              <a:rPr sz="2000">
                <a:latin typeface="Times New Roman"/>
              </a:rPr>
              <a:t>Resolve flagged hERG entries before relying on rank; obtain concentration responses for CYP liabilities in proposed leads.</a:t>
            </a:r>
          </a:p>
          <a:p>
            <a:pPr/>
            <a:r>
              <a:rPr sz="2000">
                <a:latin typeface="Times New Roman"/>
              </a:rPr>
              <a:t>Compare assay potency with projected unbound exposure before progression.</a:t>
            </a:r>
          </a:p>
          <a:p>
            <a:pPr/>
            <a:r>
              <a:rPr sz="2000">
                <a:latin typeface="Times New Roman"/>
              </a:rPr>
              <a:t>Full tables and control documentation: OT-20-S0178_RPT_A_signed.pdf.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Osterquill Toxicology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OT-20-S0178 client readout</dc:title>
  <dc:subject>OT-20-S0178 client readout</dc:subject>
  <dc:creator>Naomi Takamori</dc:creator>
  <cp:keywords>Osterquill; control validity; safety</cp:keywords>
  <dc:description>generated using python-pptx</dc:description>
  <cp:lastModifiedBy>Naomi Takamori</cp:lastModifiedBy>
  <cp:revision>7</cp:revision>
  <dcterms:created xsi:type="dcterms:W3CDTF">2020-10-20T10:23:00Z</dcterms:created>
  <dcterms:modified xsi:type="dcterms:W3CDTF">2020-10-20T15:41:00Z</dcterms:modified>
  <cp:category/>
</cp:coreProperties>
</file>